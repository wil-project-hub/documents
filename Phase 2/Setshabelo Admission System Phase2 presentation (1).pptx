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5" r:id="rId9"/>
    <p:sldId id="267" r:id="rId10"/>
    <p:sldId id="266" r:id="rId11"/>
    <p:sldId id="268" r:id="rId12"/>
    <p:sldId id="269" r:id="rId13"/>
    <p:sldId id="289" r:id="rId14"/>
    <p:sldId id="270" r:id="rId15"/>
    <p:sldId id="271" r:id="rId16"/>
    <p:sldId id="272" r:id="rId17"/>
    <p:sldId id="273" r:id="rId18"/>
    <p:sldId id="276" r:id="rId19"/>
    <p:sldId id="277" r:id="rId20"/>
    <p:sldId id="278" r:id="rId21"/>
    <p:sldId id="279" r:id="rId22"/>
    <p:sldId id="282" r:id="rId23"/>
    <p:sldId id="283" r:id="rId24"/>
    <p:sldId id="285" r:id="rId25"/>
    <p:sldId id="290" r:id="rId26"/>
    <p:sldId id="286" r:id="rId27"/>
    <p:sldId id="287" r:id="rId28"/>
    <p:sldId id="28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snapToObjects="1">
      <p:cViewPr varScale="1">
        <p:scale>
          <a:sx n="78" d="100"/>
          <a:sy n="78" d="100"/>
        </p:scale>
        <p:origin x="787"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9273A-D054-4741-9B3B-2191B7ED50D1}"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9C6B70-BBE7-454D-9FA4-52174809A7D5}" type="slidenum">
              <a:rPr lang="en-US" smtClean="0"/>
              <a:t>‹#›</a:t>
            </a:fld>
            <a:endParaRPr lang="en-US"/>
          </a:p>
        </p:txBody>
      </p:sp>
    </p:spTree>
    <p:extLst>
      <p:ext uri="{BB962C8B-B14F-4D97-AF65-F5344CB8AC3E}">
        <p14:creationId xmlns:p14="http://schemas.microsoft.com/office/powerpoint/2010/main" val="147411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Setshabelo Primary School currently uses onsite registrations. This affects parents (long queues) and admin staff (bulk paper processing). The school needs a more streamlined, </a:t>
            </a:r>
            <a:r>
              <a:rPr dirty="0" err="1"/>
              <a:t>organised</a:t>
            </a:r>
            <a:r>
              <a:rPr dirty="0"/>
              <a:t> method of receiving applications, and a communication channel that doesn't exclude parents without social media access.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purpose of the prototype is to simplify the application process for new learners, the updates sent to parents/learners, and publishing achievements as advertising. Simplification includes digitalising the application process and making updates easily accessible.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Project title: Setshabelo Connect. Aim: develop an integrated prototype for creating and managing learner applications and school updates.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Product Perspective: the prototype operates as one integrated system. Supabase is the shared backend for both ASP.NET and Flutter, handling logic, data storage, accounts and security. Flutter (MVVM) builds the mobile app, ASP.NET (MVC) builds the web app. A parent's account and application data created on one platform is immediately visible on the other. Admins log in on the web app, review applications, and can accept them, place them under review, or leave a comment visible to the parent.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US" dirty="0"/>
              <a:t> Include means the included behaviour always happens as part of the base use case. Extend means the extra behaviour only happens under a condition.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C870-63C7-E937-5BCE-BAEAE44BF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FCDAD-485C-3D80-3336-B3E217A5CBA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F517FBD4-0CE0-E145-7881-74624FE76E2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109462F-DEB8-B1FB-E30D-BA8B92879845}"/>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43905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D4F3E-7303-4874-7BDE-04EEEBF4A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5AED3-EDFD-0EFD-9D12-4C6677D74BAF}"/>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A5EE0284-96D4-13F6-363B-EE088E68B7C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ADA769D-498A-55CF-B808-0D051A7C724B}"/>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21300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1B17-BC8C-B514-2851-5137970EE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78595-85A4-FE82-331B-CFABF641E11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8D51B3F6-6303-95A2-43F4-E2E45C384A0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ECF5BE7-A3FB-31A3-A6AF-D3EAD29E9B43}"/>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55757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802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www.figma.com/proto/DtQKcA5cbFv7hiG46obRGQ/Setshabelo-Admission-System?node-id=2-3&amp;p=f&amp;t=Gs5yKR4SaZWXt9bd-0&amp;scaling=scale-down&amp;content-scaling=fixed&amp;page-id=0%3A1&amp;starting-point-node-id=2%3A3"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https://www.figma.com/proto/DtQKcA5cbFv7hiG46obRGQ/Setshabelo-Admission-System?node-id=307-1244&amp;p=f&amp;t=u551uaPYP606NPV4-0&amp;scaling=scale-down&amp;content-scaling=fixed&amp;page-id=22%3A319&amp;starting-point-node-id=307%3A1244"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hyperlink" Target="https://www.figma.com/proto/DtQKcA5cbFv7hiG46obRGQ/Setshabelo-Admission-System?node-id=101-1243&amp;p=f&amp;t=P6thFviGmJ0minRB-0&amp;scaling=min-zoom&amp;content-scaling=fixed&amp;page-id=101%3A1242&amp;starting-point-node-id=101%3A1243"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supabase.com/dashboard/project/hrkzdekzmqjiejjuwybh" TargetMode="External"/><Relationship Id="rId2" Type="http://schemas.openxmlformats.org/officeDocument/2006/relationships/hyperlink" Target="https://github.com/WIL-Project-Hub"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6053328"/>
            <a:ext cx="12191695" cy="18288"/>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1965960"/>
            <a:ext cx="1005840" cy="635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194560"/>
            <a:ext cx="10881360" cy="630942"/>
          </a:xfrm>
          <a:prstGeom prst="rect">
            <a:avLst/>
          </a:prstGeom>
          <a:noFill/>
        </p:spPr>
        <p:txBody>
          <a:bodyPr wrap="square" lIns="0" tIns="0" rIns="0" bIns="0">
            <a:spAutoFit/>
          </a:bodyPr>
          <a:lstStyle/>
          <a:p>
            <a:pPr algn="l">
              <a:lnSpc>
                <a:spcPct val="105000"/>
              </a:lnSpc>
              <a:spcBef>
                <a:spcPts val="0"/>
              </a:spcBef>
              <a:spcAft>
                <a:spcPts val="400"/>
              </a:spcAft>
            </a:pPr>
            <a:r>
              <a:rPr sz="4200" b="1" i="0" dirty="0">
                <a:solidFill>
                  <a:srgbClr val="FFFFFF"/>
                </a:solidFill>
                <a:latin typeface="Segoe UI Semibold"/>
              </a:rPr>
              <a:t>Setshabelo </a:t>
            </a:r>
            <a:r>
              <a:rPr lang="en-GB" sz="4200" b="1" dirty="0">
                <a:solidFill>
                  <a:srgbClr val="FFFFFF"/>
                </a:solidFill>
                <a:latin typeface="Segoe UI Semibold"/>
              </a:rPr>
              <a:t>Admission System</a:t>
            </a:r>
            <a:endParaRPr sz="4200" b="1" i="0" dirty="0">
              <a:solidFill>
                <a:srgbClr val="FFFFFF"/>
              </a:solidFill>
              <a:latin typeface="Segoe UI Semibold"/>
            </a:endParaRPr>
          </a:p>
        </p:txBody>
      </p:sp>
      <p:sp>
        <p:nvSpPr>
          <p:cNvPr id="5" name="TextBox 4"/>
          <p:cNvSpPr txBox="1"/>
          <p:nvPr/>
        </p:nvSpPr>
        <p:spPr>
          <a:xfrm>
            <a:off x="640080" y="3429000"/>
            <a:ext cx="10424160" cy="292388"/>
          </a:xfrm>
          <a:prstGeom prst="rect">
            <a:avLst/>
          </a:prstGeom>
          <a:noFill/>
        </p:spPr>
        <p:txBody>
          <a:bodyPr wrap="square" lIns="0" tIns="0" rIns="0" bIns="0">
            <a:spAutoFit/>
          </a:bodyPr>
          <a:lstStyle/>
          <a:p>
            <a:pPr algn="l">
              <a:spcBef>
                <a:spcPts val="0"/>
              </a:spcBef>
              <a:spcAft>
                <a:spcPts val="400"/>
              </a:spcAft>
            </a:pPr>
            <a:r>
              <a:rPr lang="en-GB" sz="1900" dirty="0">
                <a:solidFill>
                  <a:srgbClr val="C9D6E4"/>
                </a:solidFill>
                <a:latin typeface="Segoe UI"/>
              </a:rPr>
              <a:t>System Architecture and Design</a:t>
            </a:r>
            <a:r>
              <a:rPr sz="1900" b="0" i="0" dirty="0">
                <a:solidFill>
                  <a:srgbClr val="C9D6E4"/>
                </a:solidFill>
                <a:latin typeface="Segoe UI"/>
              </a:rPr>
              <a:t> </a:t>
            </a:r>
            <a:r>
              <a:rPr lang="en-GB" sz="1900" b="0" i="0" dirty="0">
                <a:solidFill>
                  <a:srgbClr val="C9D6E4"/>
                </a:solidFill>
                <a:latin typeface="Segoe UI"/>
              </a:rPr>
              <a:t>-</a:t>
            </a:r>
            <a:r>
              <a:rPr sz="1900" b="0" i="0" dirty="0">
                <a:solidFill>
                  <a:srgbClr val="C9D6E4"/>
                </a:solidFill>
                <a:latin typeface="Segoe UI"/>
              </a:rPr>
              <a:t> Presentation</a:t>
            </a:r>
          </a:p>
        </p:txBody>
      </p:sp>
      <p:sp>
        <p:nvSpPr>
          <p:cNvPr id="6" name="TextBox 5"/>
          <p:cNvSpPr txBox="1"/>
          <p:nvPr/>
        </p:nvSpPr>
        <p:spPr>
          <a:xfrm>
            <a:off x="640080" y="6172200"/>
            <a:ext cx="10515600" cy="192360"/>
          </a:xfrm>
          <a:prstGeom prst="rect">
            <a:avLst/>
          </a:prstGeom>
          <a:noFill/>
        </p:spPr>
        <p:txBody>
          <a:bodyPr wrap="square" lIns="0" tIns="0" rIns="0" bIns="0">
            <a:spAutoFit/>
          </a:bodyPr>
          <a:lstStyle/>
          <a:p>
            <a:pPr algn="l">
              <a:spcBef>
                <a:spcPts val="0"/>
              </a:spcBef>
              <a:spcAft>
                <a:spcPts val="400"/>
              </a:spcAft>
            </a:pPr>
            <a:r>
              <a:rPr sz="1250" b="0" i="0" dirty="0">
                <a:solidFill>
                  <a:srgbClr val="9CADC2"/>
                </a:solidFill>
                <a:latin typeface="Segoe UI"/>
              </a:rPr>
              <a:t>Group 0: Secret Design   |   </a:t>
            </a:r>
            <a:r>
              <a:rPr lang="en-GB" sz="1250" dirty="0">
                <a:solidFill>
                  <a:srgbClr val="9CADC2"/>
                </a:solidFill>
                <a:latin typeface="Segoe UI"/>
              </a:rPr>
              <a:t>Phase</a:t>
            </a:r>
            <a:r>
              <a:rPr sz="1250" b="0" i="0" dirty="0">
                <a:solidFill>
                  <a:srgbClr val="9CADC2"/>
                </a:solidFill>
                <a:latin typeface="Segoe UI"/>
              </a:rPr>
              <a:t> 2.0   |   </a:t>
            </a:r>
            <a:r>
              <a:rPr lang="en-GB" sz="1250" dirty="0">
                <a:solidFill>
                  <a:srgbClr val="9CADC2"/>
                </a:solidFill>
                <a:latin typeface="Segoe UI"/>
              </a:rPr>
              <a:t>02 October</a:t>
            </a:r>
            <a:r>
              <a:rPr sz="1250" b="0" i="0" dirty="0">
                <a:solidFill>
                  <a:srgbClr val="9CADC2"/>
                </a:solidFill>
                <a:latin typeface="Segoe U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What We'll Cover</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OVERVIEW</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58191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01</a:t>
            </a:r>
          </a:p>
        </p:txBody>
      </p:sp>
      <p:sp>
        <p:nvSpPr>
          <p:cNvPr id="8" name="TextBox 7"/>
          <p:cNvSpPr txBox="1"/>
          <p:nvPr/>
        </p:nvSpPr>
        <p:spPr>
          <a:xfrm>
            <a:off x="1508760" y="1581912"/>
            <a:ext cx="4114800" cy="1261872"/>
          </a:xfrm>
          <a:prstGeom prst="rect">
            <a:avLst/>
          </a:prstGeom>
          <a:noFill/>
        </p:spPr>
        <p:txBody>
          <a:bodyPr wrap="square" lIns="0" tIns="0" rIns="0" bIns="0">
            <a:spAutoFit/>
          </a:bodyPr>
          <a:lstStyle/>
          <a:p>
            <a:pPr algn="l">
              <a:spcBef>
                <a:spcPts val="0"/>
              </a:spcBef>
              <a:spcAft>
                <a:spcPts val="300"/>
              </a:spcAft>
            </a:pPr>
            <a:r>
              <a:rPr sz="1550" b="1" i="0">
                <a:solidFill>
                  <a:srgbClr val="202A3A"/>
                </a:solidFill>
                <a:latin typeface="Segoe UI Semibold"/>
              </a:rPr>
              <a:t>Project Overview</a:t>
            </a:r>
          </a:p>
          <a:p>
            <a:pPr algn="l">
              <a:spcBef>
                <a:spcPts val="0"/>
              </a:spcBef>
              <a:spcAft>
                <a:spcPts val="400"/>
              </a:spcAft>
            </a:pPr>
            <a:r>
              <a:rPr sz="1150" b="0" i="0">
                <a:solidFill>
                  <a:srgbClr val="637182"/>
                </a:solidFill>
                <a:latin typeface="Segoe UI"/>
              </a:rPr>
              <a:t>Problem statement, purpose, aim, objectives and scope boundaries.</a:t>
            </a:r>
          </a:p>
        </p:txBody>
      </p:sp>
      <p:sp>
        <p:nvSpPr>
          <p:cNvPr id="9" name="Rounded Rectangle 8"/>
          <p:cNvSpPr/>
          <p:nvPr/>
        </p:nvSpPr>
        <p:spPr>
          <a:xfrm>
            <a:off x="6126480" y="141732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8" y="158191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02</a:t>
            </a:r>
          </a:p>
        </p:txBody>
      </p:sp>
      <p:sp>
        <p:nvSpPr>
          <p:cNvPr id="11" name="TextBox 10"/>
          <p:cNvSpPr txBox="1"/>
          <p:nvPr/>
        </p:nvSpPr>
        <p:spPr>
          <a:xfrm>
            <a:off x="6995160" y="1581912"/>
            <a:ext cx="4114800" cy="453970"/>
          </a:xfrm>
          <a:prstGeom prst="rect">
            <a:avLst/>
          </a:prstGeom>
          <a:noFill/>
        </p:spPr>
        <p:txBody>
          <a:bodyPr wrap="square" lIns="0" tIns="0" rIns="0" bIns="0">
            <a:spAutoFit/>
          </a:bodyPr>
          <a:lstStyle/>
          <a:p>
            <a:pPr algn="l">
              <a:spcBef>
                <a:spcPts val="0"/>
              </a:spcBef>
              <a:spcAft>
                <a:spcPts val="300"/>
              </a:spcAft>
            </a:pPr>
            <a:r>
              <a:rPr sz="1550" b="1" i="0" dirty="0">
                <a:solidFill>
                  <a:srgbClr val="202A3A"/>
                </a:solidFill>
                <a:latin typeface="Segoe UI Semibold"/>
              </a:rPr>
              <a:t>S</a:t>
            </a:r>
            <a:r>
              <a:rPr lang="en-GB" sz="1550" b="1" i="0" dirty="0">
                <a:solidFill>
                  <a:srgbClr val="202A3A"/>
                </a:solidFill>
                <a:latin typeface="Segoe UI Semibold"/>
              </a:rPr>
              <a:t>ystem Architecture</a:t>
            </a:r>
            <a:endParaRPr sz="1550" b="1" i="0" dirty="0">
              <a:solidFill>
                <a:srgbClr val="202A3A"/>
              </a:solidFill>
              <a:latin typeface="Segoe UI Semibold"/>
            </a:endParaRPr>
          </a:p>
          <a:p>
            <a:pPr algn="l">
              <a:spcBef>
                <a:spcPts val="0"/>
              </a:spcBef>
              <a:spcAft>
                <a:spcPts val="400"/>
              </a:spcAft>
            </a:pPr>
            <a:endParaRPr sz="1150" b="0" i="0" dirty="0">
              <a:solidFill>
                <a:srgbClr val="637182"/>
              </a:solidFill>
              <a:latin typeface="Segoe UI"/>
            </a:endParaRPr>
          </a:p>
        </p:txBody>
      </p:sp>
      <p:sp>
        <p:nvSpPr>
          <p:cNvPr id="12" name="Rounded Rectangle 11"/>
          <p:cNvSpPr/>
          <p:nvPr/>
        </p:nvSpPr>
        <p:spPr>
          <a:xfrm>
            <a:off x="640080" y="315468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331927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03</a:t>
            </a:r>
          </a:p>
        </p:txBody>
      </p:sp>
      <p:sp>
        <p:nvSpPr>
          <p:cNvPr id="14" name="TextBox 13"/>
          <p:cNvSpPr txBox="1"/>
          <p:nvPr/>
        </p:nvSpPr>
        <p:spPr>
          <a:xfrm>
            <a:off x="1508760" y="3319272"/>
            <a:ext cx="4114800" cy="453970"/>
          </a:xfrm>
          <a:prstGeom prst="rect">
            <a:avLst/>
          </a:prstGeom>
          <a:noFill/>
        </p:spPr>
        <p:txBody>
          <a:bodyPr wrap="square" lIns="0" tIns="0" rIns="0" bIns="0">
            <a:spAutoFit/>
          </a:bodyPr>
          <a:lstStyle/>
          <a:p>
            <a:pPr algn="l">
              <a:spcBef>
                <a:spcPts val="0"/>
              </a:spcBef>
              <a:spcAft>
                <a:spcPts val="300"/>
              </a:spcAft>
            </a:pPr>
            <a:r>
              <a:rPr lang="en-GB" sz="1550" b="1" dirty="0">
                <a:solidFill>
                  <a:srgbClr val="202A3A"/>
                </a:solidFill>
                <a:latin typeface="Segoe UI Semibold"/>
              </a:rPr>
              <a:t>UML Diagrams</a:t>
            </a:r>
            <a:endParaRPr sz="1550" b="1" i="0" dirty="0">
              <a:solidFill>
                <a:srgbClr val="202A3A"/>
              </a:solidFill>
              <a:latin typeface="Segoe UI Semibold"/>
            </a:endParaRPr>
          </a:p>
          <a:p>
            <a:pPr algn="l">
              <a:spcBef>
                <a:spcPts val="0"/>
              </a:spcBef>
              <a:spcAft>
                <a:spcPts val="400"/>
              </a:spcAft>
            </a:pPr>
            <a:endParaRPr sz="1150" b="0" i="0" dirty="0">
              <a:solidFill>
                <a:srgbClr val="637182"/>
              </a:solidFill>
              <a:latin typeface="Segoe UI"/>
            </a:endParaRPr>
          </a:p>
        </p:txBody>
      </p:sp>
      <p:sp>
        <p:nvSpPr>
          <p:cNvPr id="15" name="Rounded Rectangle 14"/>
          <p:cNvSpPr/>
          <p:nvPr/>
        </p:nvSpPr>
        <p:spPr>
          <a:xfrm>
            <a:off x="6126480" y="315468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27648" y="331927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04</a:t>
            </a:r>
          </a:p>
        </p:txBody>
      </p:sp>
      <p:sp>
        <p:nvSpPr>
          <p:cNvPr id="17" name="TextBox 16"/>
          <p:cNvSpPr txBox="1"/>
          <p:nvPr/>
        </p:nvSpPr>
        <p:spPr>
          <a:xfrm>
            <a:off x="6995160" y="3319272"/>
            <a:ext cx="4114800" cy="453970"/>
          </a:xfrm>
          <a:prstGeom prst="rect">
            <a:avLst/>
          </a:prstGeom>
          <a:noFill/>
        </p:spPr>
        <p:txBody>
          <a:bodyPr wrap="square" lIns="0" tIns="0" rIns="0" bIns="0">
            <a:spAutoFit/>
          </a:bodyPr>
          <a:lstStyle/>
          <a:p>
            <a:pPr algn="l">
              <a:spcBef>
                <a:spcPts val="0"/>
              </a:spcBef>
              <a:spcAft>
                <a:spcPts val="300"/>
              </a:spcAft>
            </a:pPr>
            <a:r>
              <a:rPr lang="en-GB" sz="1550" b="1" dirty="0">
                <a:solidFill>
                  <a:srgbClr val="202A3A"/>
                </a:solidFill>
                <a:latin typeface="Segoe UI Semibold"/>
              </a:rPr>
              <a:t>Entity Relational Diagrams</a:t>
            </a:r>
            <a:endParaRPr sz="1550" b="1" i="0" dirty="0">
              <a:solidFill>
                <a:srgbClr val="202A3A"/>
              </a:solidFill>
              <a:latin typeface="Segoe UI Semibold"/>
            </a:endParaRPr>
          </a:p>
          <a:p>
            <a:pPr algn="l">
              <a:spcBef>
                <a:spcPts val="0"/>
              </a:spcBef>
              <a:spcAft>
                <a:spcPts val="400"/>
              </a:spcAft>
            </a:pPr>
            <a:endParaRPr sz="1150" b="0" i="0" dirty="0">
              <a:solidFill>
                <a:srgbClr val="637182"/>
              </a:solidFill>
              <a:latin typeface="Segoe UI"/>
            </a:endParaRPr>
          </a:p>
        </p:txBody>
      </p:sp>
      <p:sp>
        <p:nvSpPr>
          <p:cNvPr id="18" name="Rounded Rectangle 17"/>
          <p:cNvSpPr/>
          <p:nvPr/>
        </p:nvSpPr>
        <p:spPr>
          <a:xfrm>
            <a:off x="640080" y="489204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505663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05</a:t>
            </a:r>
          </a:p>
        </p:txBody>
      </p:sp>
      <p:sp>
        <p:nvSpPr>
          <p:cNvPr id="20" name="TextBox 19"/>
          <p:cNvSpPr txBox="1"/>
          <p:nvPr/>
        </p:nvSpPr>
        <p:spPr>
          <a:xfrm>
            <a:off x="1508760" y="5056632"/>
            <a:ext cx="4114800" cy="453970"/>
          </a:xfrm>
          <a:prstGeom prst="rect">
            <a:avLst/>
          </a:prstGeom>
          <a:noFill/>
        </p:spPr>
        <p:txBody>
          <a:bodyPr wrap="square" lIns="0" tIns="0" rIns="0" bIns="0">
            <a:spAutoFit/>
          </a:bodyPr>
          <a:lstStyle/>
          <a:p>
            <a:pPr algn="l">
              <a:spcBef>
                <a:spcPts val="0"/>
              </a:spcBef>
              <a:spcAft>
                <a:spcPts val="300"/>
              </a:spcAft>
            </a:pPr>
            <a:r>
              <a:rPr lang="en-GB" sz="1550" b="1" dirty="0">
                <a:solidFill>
                  <a:srgbClr val="202A3A"/>
                </a:solidFill>
                <a:latin typeface="Segoe UI Semibold"/>
              </a:rPr>
              <a:t>UX/UI Design</a:t>
            </a:r>
            <a:endParaRPr sz="1550" b="1" i="0" dirty="0">
              <a:solidFill>
                <a:srgbClr val="202A3A"/>
              </a:solidFill>
              <a:latin typeface="Segoe UI Semibold"/>
            </a:endParaRPr>
          </a:p>
          <a:p>
            <a:pPr algn="l">
              <a:spcBef>
                <a:spcPts val="0"/>
              </a:spcBef>
              <a:spcAft>
                <a:spcPts val="400"/>
              </a:spcAft>
            </a:pPr>
            <a:endParaRPr sz="1150" b="0" i="0" dirty="0">
              <a:solidFill>
                <a:srgbClr val="637182"/>
              </a:solidFill>
              <a:latin typeface="Segoe UI"/>
            </a:endParaRPr>
          </a:p>
        </p:txBody>
      </p:sp>
      <p:sp>
        <p:nvSpPr>
          <p:cNvPr id="21" name="Rounded Rectangle 20"/>
          <p:cNvSpPr/>
          <p:nvPr/>
        </p:nvSpPr>
        <p:spPr>
          <a:xfrm>
            <a:off x="6126480" y="4892040"/>
            <a:ext cx="5166360" cy="1572768"/>
          </a:xfrm>
          <a:prstGeom prst="roundRect">
            <a:avLst>
              <a:gd name="adj" fmla="val 9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27648" y="5056632"/>
            <a:ext cx="731520" cy="548640"/>
          </a:xfrm>
          <a:prstGeom prst="rect">
            <a:avLst/>
          </a:prstGeom>
          <a:noFill/>
        </p:spPr>
        <p:txBody>
          <a:bodyPr wrap="square" lIns="0" tIns="0" rIns="0" bIns="0">
            <a:spAutoFit/>
          </a:bodyPr>
          <a:lstStyle/>
          <a:p>
            <a:pPr algn="l">
              <a:spcBef>
                <a:spcPts val="0"/>
              </a:spcBef>
              <a:spcAft>
                <a:spcPts val="400"/>
              </a:spcAft>
            </a:pPr>
            <a:r>
              <a:rPr sz="2200" b="1" i="0">
                <a:solidFill>
                  <a:srgbClr val="1E7A7E"/>
                </a:solidFill>
                <a:latin typeface="Segoe UI Semibold"/>
              </a:rPr>
              <a:t>06</a:t>
            </a:r>
          </a:p>
        </p:txBody>
      </p:sp>
      <p:sp>
        <p:nvSpPr>
          <p:cNvPr id="23" name="TextBox 22"/>
          <p:cNvSpPr txBox="1"/>
          <p:nvPr/>
        </p:nvSpPr>
        <p:spPr>
          <a:xfrm>
            <a:off x="6995160" y="5056632"/>
            <a:ext cx="4114800" cy="453970"/>
          </a:xfrm>
          <a:prstGeom prst="rect">
            <a:avLst/>
          </a:prstGeom>
          <a:noFill/>
        </p:spPr>
        <p:txBody>
          <a:bodyPr wrap="square" lIns="0" tIns="0" rIns="0" bIns="0">
            <a:spAutoFit/>
          </a:bodyPr>
          <a:lstStyle/>
          <a:p>
            <a:pPr algn="l">
              <a:spcBef>
                <a:spcPts val="0"/>
              </a:spcBef>
              <a:spcAft>
                <a:spcPts val="300"/>
              </a:spcAft>
            </a:pPr>
            <a:r>
              <a:rPr lang="en-GB" sz="1550" b="1" dirty="0">
                <a:solidFill>
                  <a:srgbClr val="202A3A"/>
                </a:solidFill>
                <a:latin typeface="Segoe UI Semibold"/>
              </a:rPr>
              <a:t>Evidence</a:t>
            </a:r>
            <a:endParaRPr sz="1550" b="1" i="0" dirty="0">
              <a:solidFill>
                <a:srgbClr val="202A3A"/>
              </a:solidFill>
              <a:latin typeface="Segoe UI Semibold"/>
            </a:endParaRPr>
          </a:p>
          <a:p>
            <a:pPr algn="l">
              <a:spcBef>
                <a:spcPts val="0"/>
              </a:spcBef>
              <a:spcAft>
                <a:spcPts val="400"/>
              </a:spcAft>
            </a:pPr>
            <a:endParaRPr sz="1150" b="0" i="0" dirty="0">
              <a:solidFill>
                <a:srgbClr val="637182"/>
              </a:solidFill>
              <a:latin typeface="Segoe UI"/>
            </a:endParaRPr>
          </a:p>
        </p:txBody>
      </p:sp>
      <p:sp>
        <p:nvSpPr>
          <p:cNvPr id="24" name="Rectangle 23"/>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6583680"/>
            <a:ext cx="7315200" cy="146194"/>
          </a:xfrm>
          <a:prstGeom prst="rect">
            <a:avLst/>
          </a:prstGeom>
          <a:noFill/>
        </p:spPr>
        <p:txBody>
          <a:bodyPr wrap="square" lIns="0" tIns="0" rIns="0" bIns="0">
            <a:spAutoFit/>
          </a:bodyPr>
          <a:lstStyle/>
          <a:p>
            <a:pPr algn="l">
              <a:spcBef>
                <a:spcPts val="0"/>
              </a:spcBef>
              <a:spcAft>
                <a:spcPts val="400"/>
              </a:spcAft>
            </a:pPr>
            <a:r>
              <a:rPr sz="950" b="0" i="0" dirty="0">
                <a:solidFill>
                  <a:srgbClr val="637182"/>
                </a:solidFill>
                <a:latin typeface="Segoe UI"/>
              </a:rPr>
              <a:t>Setshabelo </a:t>
            </a:r>
            <a:r>
              <a:rPr lang="en-GB" sz="950" dirty="0">
                <a:solidFill>
                  <a:srgbClr val="637182"/>
                </a:solidFill>
                <a:latin typeface="Segoe UI"/>
              </a:rPr>
              <a:t>Admission System</a:t>
            </a:r>
            <a:r>
              <a:rPr sz="950" b="0" i="0" dirty="0">
                <a:solidFill>
                  <a:srgbClr val="637182"/>
                </a:solidFill>
                <a:latin typeface="Segoe UI"/>
              </a:rPr>
              <a:t>  |  SRS Presentation</a:t>
            </a:r>
          </a:p>
        </p:txBody>
      </p:sp>
      <p:sp>
        <p:nvSpPr>
          <p:cNvPr id="26" name="TextBox 25"/>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16328"/>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01</a:t>
            </a:r>
          </a:p>
        </p:txBody>
      </p:sp>
      <p:sp>
        <p:nvSpPr>
          <p:cNvPr id="5" name="TextBox 4"/>
          <p:cNvSpPr txBox="1"/>
          <p:nvPr/>
        </p:nvSpPr>
        <p:spPr>
          <a:xfrm>
            <a:off x="640080" y="3063240"/>
            <a:ext cx="10607040" cy="1463040"/>
          </a:xfrm>
          <a:prstGeom prst="rect">
            <a:avLst/>
          </a:prstGeom>
          <a:noFill/>
        </p:spPr>
        <p:txBody>
          <a:bodyPr wrap="square" lIns="0" tIns="0" rIns="0" bIns="0">
            <a:spAutoFit/>
          </a:bodyPr>
          <a:lstStyle/>
          <a:p>
            <a:pPr algn="l">
              <a:spcBef>
                <a:spcPts val="0"/>
              </a:spcBef>
              <a:spcAft>
                <a:spcPts val="400"/>
              </a:spcAft>
            </a:pPr>
            <a:r>
              <a:rPr sz="3800" b="1" i="0">
                <a:solidFill>
                  <a:srgbClr val="FFFFFF"/>
                </a:solidFill>
                <a:latin typeface="Segoe UI Semibold"/>
              </a:rPr>
              <a:t>Project Overview</a:t>
            </a:r>
          </a:p>
        </p:txBody>
      </p:sp>
      <p:sp>
        <p:nvSpPr>
          <p:cNvPr id="6" name="TextBox 5"/>
          <p:cNvSpPr txBox="1"/>
          <p:nvPr/>
        </p:nvSpPr>
        <p:spPr>
          <a:xfrm>
            <a:off x="640080" y="3977639"/>
            <a:ext cx="9601200" cy="286553"/>
          </a:xfrm>
          <a:prstGeom prst="rect">
            <a:avLst/>
          </a:prstGeom>
          <a:noFill/>
        </p:spPr>
        <p:txBody>
          <a:bodyPr wrap="square" lIns="0" tIns="0" rIns="0" bIns="0">
            <a:spAutoFit/>
          </a:bodyPr>
          <a:lstStyle/>
          <a:p>
            <a:pPr algn="l">
              <a:lnSpc>
                <a:spcPct val="130000"/>
              </a:lnSpc>
              <a:spcBef>
                <a:spcPts val="0"/>
              </a:spcBef>
              <a:spcAft>
                <a:spcPts val="400"/>
              </a:spcAft>
            </a:pPr>
            <a:r>
              <a:rPr sz="1600" b="0" i="0" dirty="0">
                <a:solidFill>
                  <a:srgbClr val="B9C8DA"/>
                </a:solidFill>
                <a:latin typeface="Segoe UI"/>
              </a:rPr>
              <a:t>Why this project exists, what it aims to achieve, and its boundaries.</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Introduction &amp; Document Purpose</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INTRODUCTION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1877694"/>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Purpose:  </a:t>
            </a:r>
            <a:r>
              <a:rPr sz="1500" b="0" i="0" dirty="0">
                <a:solidFill>
                  <a:srgbClr val="202A3A"/>
                </a:solidFill>
                <a:latin typeface="Segoe UI"/>
              </a:rPr>
              <a:t>This document describes Setshabelo </a:t>
            </a:r>
            <a:r>
              <a:rPr lang="en-GB" sz="1500" b="0" i="0" dirty="0">
                <a:solidFill>
                  <a:srgbClr val="202A3A"/>
                </a:solidFill>
                <a:latin typeface="Segoe UI"/>
              </a:rPr>
              <a:t>Admission System</a:t>
            </a:r>
            <a:r>
              <a:rPr sz="1500" b="0" i="0" dirty="0">
                <a:solidFill>
                  <a:srgbClr val="202A3A"/>
                </a:solidFill>
                <a:latin typeface="Segoe UI"/>
              </a:rPr>
              <a:t> </a:t>
            </a:r>
            <a:r>
              <a:rPr lang="en-GB" sz="1500" dirty="0">
                <a:solidFill>
                  <a:srgbClr val="202A3A"/>
                </a:solidFill>
                <a:latin typeface="Segoe UI"/>
              </a:rPr>
              <a:t>-</a:t>
            </a:r>
            <a:r>
              <a:rPr sz="1500" b="0" i="0" dirty="0">
                <a:solidFill>
                  <a:srgbClr val="202A3A"/>
                </a:solidFill>
                <a:latin typeface="Segoe UI"/>
              </a:rPr>
              <a:t> what the system will do, and the constraints it</a:t>
            </a:r>
            <a:r>
              <a:rPr lang="en-GB" sz="1500" b="0" i="0" dirty="0">
                <a:solidFill>
                  <a:srgbClr val="202A3A"/>
                </a:solidFill>
                <a:latin typeface="Segoe UI"/>
              </a:rPr>
              <a:t> will</a:t>
            </a:r>
            <a:r>
              <a:rPr lang="en-GB" sz="1500" dirty="0">
                <a:solidFill>
                  <a:srgbClr val="202A3A"/>
                </a:solidFill>
                <a:latin typeface="Segoe UI"/>
              </a:rPr>
              <a:t> </a:t>
            </a:r>
            <a:r>
              <a:rPr sz="1500" b="0" i="0" dirty="0">
                <a:solidFill>
                  <a:srgbClr val="202A3A"/>
                </a:solidFill>
                <a:latin typeface="Segoe UI"/>
              </a:rPr>
              <a:t>operate under.</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Audience:  </a:t>
            </a:r>
            <a:r>
              <a:rPr sz="1500" b="0" i="0" dirty="0">
                <a:solidFill>
                  <a:srgbClr val="202A3A"/>
                </a:solidFill>
                <a:latin typeface="Segoe UI"/>
              </a:rPr>
              <a:t>Written for both the school (stakeholders) and the development team, so both share one source of </a:t>
            </a:r>
            <a:r>
              <a:rPr lang="en-GB" sz="1500" b="0" i="0" dirty="0">
                <a:solidFill>
                  <a:srgbClr val="202A3A"/>
                </a:solidFill>
                <a:latin typeface="Segoe UI"/>
              </a:rPr>
              <a:t>information</a:t>
            </a:r>
            <a:r>
              <a:rPr sz="1500" b="0" i="0" dirty="0">
                <a:solidFill>
                  <a:srgbClr val="202A3A"/>
                </a:solidFill>
                <a:latin typeface="Segoe UI"/>
              </a:rPr>
              <a:t>.</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Scope of this </a:t>
            </a:r>
            <a:r>
              <a:rPr lang="en-GB" sz="1500" b="1" i="0" dirty="0">
                <a:solidFill>
                  <a:srgbClr val="202A3A"/>
                </a:solidFill>
                <a:latin typeface="Segoe UI Semibold"/>
              </a:rPr>
              <a:t>document</a:t>
            </a:r>
            <a:r>
              <a:rPr sz="1500" b="1" i="0" dirty="0">
                <a:solidFill>
                  <a:srgbClr val="202A3A"/>
                </a:solidFill>
                <a:latin typeface="Segoe UI Semibold"/>
              </a:rPr>
              <a:t>:  </a:t>
            </a:r>
            <a:r>
              <a:rPr sz="1500" b="0" i="0" dirty="0">
                <a:solidFill>
                  <a:srgbClr val="202A3A"/>
                </a:solidFill>
                <a:latin typeface="Segoe UI"/>
              </a:rPr>
              <a:t>A shortened, presentation-ready walkthrough of the full SRS </a:t>
            </a:r>
            <a:r>
              <a:rPr lang="en-GB" sz="1500" b="0" i="0" dirty="0">
                <a:solidFill>
                  <a:srgbClr val="202A3A"/>
                </a:solidFill>
                <a:latin typeface="Segoe UI"/>
              </a:rPr>
              <a:t>-</a:t>
            </a:r>
            <a:r>
              <a:rPr sz="1500" b="0" i="0" dirty="0">
                <a:solidFill>
                  <a:srgbClr val="202A3A"/>
                </a:solidFill>
                <a:latin typeface="Segoe UI"/>
              </a:rPr>
              <a:t> requirements, feasibility findings,</a:t>
            </a:r>
            <a:r>
              <a:rPr lang="en-GB" sz="1500" b="0" i="0" dirty="0">
                <a:solidFill>
                  <a:srgbClr val="202A3A"/>
                </a:solidFill>
                <a:latin typeface="Segoe UI"/>
              </a:rPr>
              <a:t> </a:t>
            </a:r>
            <a:r>
              <a:rPr sz="1500" b="0" i="0" dirty="0">
                <a:solidFill>
                  <a:srgbClr val="202A3A"/>
                </a:solidFill>
                <a:latin typeface="Segoe UI"/>
              </a:rPr>
              <a:t>risk register</a:t>
            </a:r>
            <a:r>
              <a:rPr lang="en-GB" sz="1500" b="0" i="0" dirty="0">
                <a:solidFill>
                  <a:srgbClr val="202A3A"/>
                </a:solidFill>
                <a:latin typeface="Segoe UI"/>
              </a:rPr>
              <a:t>, and SWOT Analysis</a:t>
            </a:r>
            <a:r>
              <a:rPr sz="1500" b="0" i="0" dirty="0">
                <a:solidFill>
                  <a:srgbClr val="202A3A"/>
                </a:solidFill>
                <a:latin typeface="Segoe UI"/>
              </a:rPr>
              <a:t>.</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a:t>
            </a:r>
            <a:r>
              <a:rPr sz="950" b="0" i="0" dirty="0">
                <a:solidFill>
                  <a:srgbClr val="637182"/>
                </a:solidFill>
                <a:latin typeface="Segoe UI"/>
              </a:rPr>
              <a:t>|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Problem Statement</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THE CHALLENGE</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2297039"/>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Manual, onsite registration:  </a:t>
            </a:r>
            <a:r>
              <a:rPr sz="1500" b="0" i="0" dirty="0">
                <a:solidFill>
                  <a:srgbClr val="202A3A"/>
                </a:solidFill>
                <a:latin typeface="Segoe UI"/>
              </a:rPr>
              <a:t>Parents must travel to Setshabelo Primary School at the start of each year to apply in person</a:t>
            </a:r>
            <a:r>
              <a:rPr lang="en-GB" sz="1500" dirty="0">
                <a:solidFill>
                  <a:srgbClr val="202A3A"/>
                </a:solidFill>
                <a:latin typeface="Segoe UI"/>
              </a:rPr>
              <a:t> and </a:t>
            </a:r>
            <a:r>
              <a:rPr sz="1500" b="0" i="0" dirty="0">
                <a:solidFill>
                  <a:srgbClr val="202A3A"/>
                </a:solidFill>
                <a:latin typeface="Segoe UI"/>
              </a:rPr>
              <a:t>on paper.</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Error-prone paperwork:  </a:t>
            </a:r>
            <a:r>
              <a:rPr sz="1500" b="0" i="0" dirty="0">
                <a:solidFill>
                  <a:srgbClr val="202A3A"/>
                </a:solidFill>
                <a:latin typeface="Segoe UI"/>
              </a:rPr>
              <a:t>Hand-filled forms </a:t>
            </a:r>
            <a:r>
              <a:rPr lang="en-GB" sz="1500" b="0" i="0" dirty="0">
                <a:solidFill>
                  <a:srgbClr val="202A3A"/>
                </a:solidFill>
                <a:latin typeface="Segoe UI"/>
              </a:rPr>
              <a:t>often</a:t>
            </a:r>
            <a:r>
              <a:rPr sz="1500" b="0" i="0" dirty="0">
                <a:solidFill>
                  <a:srgbClr val="202A3A"/>
                </a:solidFill>
                <a:latin typeface="Segoe UI"/>
              </a:rPr>
              <a:t> result in missing information or wrongly filled documents.</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Long queues, heavy admin load:  </a:t>
            </a:r>
            <a:r>
              <a:rPr sz="1500" b="0" i="0" dirty="0">
                <a:solidFill>
                  <a:srgbClr val="202A3A"/>
                </a:solidFill>
                <a:latin typeface="Segoe UI"/>
              </a:rPr>
              <a:t>Parents wait in long physical lines</a:t>
            </a:r>
            <a:r>
              <a:rPr lang="en-GB" sz="1500" b="0" i="0" dirty="0">
                <a:solidFill>
                  <a:srgbClr val="202A3A"/>
                </a:solidFill>
                <a:latin typeface="Segoe UI"/>
              </a:rPr>
              <a:t> and</a:t>
            </a:r>
            <a:r>
              <a:rPr sz="1500" b="0" i="0" dirty="0">
                <a:solidFill>
                  <a:srgbClr val="202A3A"/>
                </a:solidFill>
                <a:latin typeface="Segoe UI"/>
              </a:rPr>
              <a:t> admin staff must process large batches of paper at once.</a:t>
            </a:r>
          </a:p>
          <a:p>
            <a:pPr>
              <a:lnSpc>
                <a:spcPct val="115000"/>
              </a:lnSpc>
              <a:spcAft>
                <a:spcPts val="1200"/>
              </a:spcAft>
            </a:pPr>
            <a:r>
              <a:rPr sz="1500" b="1" i="0" dirty="0">
                <a:solidFill>
                  <a:srgbClr val="1E7A7E"/>
                </a:solidFill>
                <a:latin typeface="Segoe UI"/>
              </a:rPr>
              <a:t>•  </a:t>
            </a:r>
            <a:r>
              <a:rPr lang="en-GB" sz="1500" b="1" i="0" dirty="0">
                <a:solidFill>
                  <a:srgbClr val="202A3A"/>
                </a:solidFill>
                <a:latin typeface="Segoe UI Semibold"/>
              </a:rPr>
              <a:t>Unreliable</a:t>
            </a:r>
            <a:r>
              <a:rPr sz="1500" b="1" i="0" dirty="0">
                <a:solidFill>
                  <a:srgbClr val="202A3A"/>
                </a:solidFill>
                <a:latin typeface="Segoe UI Semibold"/>
              </a:rPr>
              <a:t> communication:  </a:t>
            </a:r>
            <a:r>
              <a:rPr sz="1500" b="0" i="0" dirty="0">
                <a:solidFill>
                  <a:srgbClr val="202A3A"/>
                </a:solidFill>
                <a:latin typeface="Segoe UI"/>
              </a:rPr>
              <a:t>The school relies on social media for updates and outcomes</a:t>
            </a:r>
            <a:r>
              <a:rPr lang="en-GB" sz="1500" b="0" i="0" dirty="0">
                <a:solidFill>
                  <a:srgbClr val="202A3A"/>
                </a:solidFill>
                <a:latin typeface="Segoe UI"/>
              </a:rPr>
              <a:t>, </a:t>
            </a:r>
            <a:r>
              <a:rPr sz="1500" b="0" i="0" dirty="0">
                <a:solidFill>
                  <a:srgbClr val="202A3A"/>
                </a:solidFill>
                <a:latin typeface="Segoe UI"/>
              </a:rPr>
              <a:t>but not every parent has reliable access.</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a:t>
            </a:r>
            <a:r>
              <a:rPr sz="950" b="0" i="0" dirty="0">
                <a:solidFill>
                  <a:srgbClr val="637182"/>
                </a:solidFill>
                <a:latin typeface="Segoe UI"/>
              </a:rPr>
              <a:t>|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Purpose, Aim &amp; Objectives</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VISION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08760"/>
            <a:ext cx="10424160" cy="1346779"/>
          </a:xfrm>
          <a:prstGeom prst="rect">
            <a:avLst/>
          </a:prstGeom>
          <a:noFill/>
        </p:spPr>
        <p:txBody>
          <a:bodyPr wrap="square" lIns="0" tIns="0" rIns="0" bIns="0">
            <a:spAutoFit/>
          </a:bodyPr>
          <a:lstStyle/>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Purpose:  </a:t>
            </a:r>
            <a:r>
              <a:rPr sz="1500" b="0" i="0" dirty="0">
                <a:solidFill>
                  <a:srgbClr val="202A3A"/>
                </a:solidFill>
                <a:latin typeface="Segoe UI"/>
              </a:rPr>
              <a:t>Simplify the application process for new learners, keep parents and learners updated, and publish school achievements to attract new </a:t>
            </a:r>
            <a:r>
              <a:rPr lang="en-GB" sz="1500" b="0" i="0" dirty="0">
                <a:solidFill>
                  <a:srgbClr val="202A3A"/>
                </a:solidFill>
                <a:latin typeface="Segoe UI"/>
              </a:rPr>
              <a:t>learners</a:t>
            </a:r>
            <a:r>
              <a:rPr sz="1500" b="0" i="0" dirty="0">
                <a:solidFill>
                  <a:srgbClr val="202A3A"/>
                </a:solidFill>
                <a:latin typeface="Segoe UI"/>
              </a:rPr>
              <a:t>.</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Aim:  </a:t>
            </a:r>
            <a:r>
              <a:rPr sz="1500" b="0" i="0" dirty="0">
                <a:solidFill>
                  <a:srgbClr val="202A3A"/>
                </a:solidFill>
                <a:latin typeface="Segoe UI"/>
              </a:rPr>
              <a:t>Digitalize the application process and make school updates easily accessible to everyone.</a:t>
            </a:r>
          </a:p>
          <a:p>
            <a:pPr>
              <a:lnSpc>
                <a:spcPct val="115000"/>
              </a:lnSpc>
              <a:spcAft>
                <a:spcPts val="1200"/>
              </a:spcAft>
            </a:pPr>
            <a:r>
              <a:rPr sz="1500" b="1" i="0" dirty="0">
                <a:solidFill>
                  <a:srgbClr val="1E7A7E"/>
                </a:solidFill>
                <a:latin typeface="Segoe UI"/>
              </a:rPr>
              <a:t>•  </a:t>
            </a:r>
            <a:r>
              <a:rPr sz="1500" b="1" i="0" dirty="0">
                <a:solidFill>
                  <a:srgbClr val="202A3A"/>
                </a:solidFill>
                <a:latin typeface="Segoe UI Semibold"/>
              </a:rPr>
              <a:t>In short:  </a:t>
            </a:r>
            <a:r>
              <a:rPr sz="1500" b="0" i="0" dirty="0">
                <a:solidFill>
                  <a:srgbClr val="202A3A"/>
                </a:solidFill>
                <a:latin typeface="Segoe UI"/>
              </a:rPr>
              <a:t>Replace queues and paper with accounts, forms, and dashboards for both parents and school administrators.</a:t>
            </a: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SRS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731520"/>
          </a:xfrm>
          <a:prstGeom prst="rect">
            <a:avLst/>
          </a:prstGeom>
          <a:noFill/>
        </p:spPr>
        <p:txBody>
          <a:bodyPr wrap="square" lIns="0" tIns="0" rIns="0" bIns="0">
            <a:spAutoFit/>
          </a:bodyPr>
          <a:lstStyle/>
          <a:p>
            <a:pPr algn="l">
              <a:spcBef>
                <a:spcPts val="0"/>
              </a:spcBef>
              <a:spcAft>
                <a:spcPts val="400"/>
              </a:spcAft>
            </a:pPr>
            <a:r>
              <a:rPr sz="2800" b="1" i="0">
                <a:solidFill>
                  <a:srgbClr val="202A3A"/>
                </a:solidFill>
                <a:latin typeface="Segoe UI Semibold"/>
              </a:rPr>
              <a:t>Project Scope</a:t>
            </a:r>
          </a:p>
        </p:txBody>
      </p:sp>
      <p:sp>
        <p:nvSpPr>
          <p:cNvPr id="4" name="TextBox 3"/>
          <p:cNvSpPr txBox="1"/>
          <p:nvPr/>
        </p:nvSpPr>
        <p:spPr>
          <a:xfrm>
            <a:off x="640080" y="960120"/>
            <a:ext cx="7315200" cy="365760"/>
          </a:xfrm>
          <a:prstGeom prst="rect">
            <a:avLst/>
          </a:prstGeom>
          <a:noFill/>
        </p:spPr>
        <p:txBody>
          <a:bodyPr wrap="square" lIns="0" tIns="0" rIns="0" bIns="0">
            <a:spAutoFit/>
          </a:bodyPr>
          <a:lstStyle/>
          <a:p>
            <a:pPr algn="l">
              <a:spcBef>
                <a:spcPts val="0"/>
              </a:spcBef>
              <a:spcAft>
                <a:spcPts val="400"/>
              </a:spcAft>
            </a:pPr>
            <a:r>
              <a:rPr sz="1300" b="1" i="0" spc="180">
                <a:solidFill>
                  <a:srgbClr val="2FA4A9"/>
                </a:solidFill>
                <a:latin typeface="Segoe UI"/>
              </a:rPr>
              <a:t>SCOPE DEFINITION</a:t>
            </a:r>
          </a:p>
        </p:txBody>
      </p:sp>
      <p:sp>
        <p:nvSpPr>
          <p:cNvPr id="5" name="Rectangle 4"/>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4864" cy="384048"/>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Objectives</a:t>
            </a:r>
          </a:p>
        </p:txBody>
      </p:sp>
      <p:sp>
        <p:nvSpPr>
          <p:cNvPr id="8" name="TextBox 7"/>
          <p:cNvSpPr txBox="1"/>
          <p:nvPr/>
        </p:nvSpPr>
        <p:spPr>
          <a:xfrm>
            <a:off x="685800" y="2121408"/>
            <a:ext cx="5166360" cy="1529265"/>
          </a:xfrm>
          <a:prstGeom prst="rect">
            <a:avLst/>
          </a:prstGeom>
          <a:noFill/>
        </p:spPr>
        <p:txBody>
          <a:bodyPr wrap="square" lIns="0" tIns="0" rIns="0" bIns="0">
            <a:spAutoFit/>
          </a:bodyPr>
          <a:lstStyle/>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Parents can create and view applications for their children, and access school updates</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Admins can accept and reject applications</a:t>
            </a: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Admins can publish school updates</a:t>
            </a:r>
            <a:r>
              <a:rPr lang="en-GB" sz="1350" b="0" i="0" dirty="0">
                <a:solidFill>
                  <a:srgbClr val="202A3A"/>
                </a:solidFill>
                <a:latin typeface="Segoe UI"/>
              </a:rPr>
              <a:t> and achievements</a:t>
            </a:r>
            <a:endParaRPr sz="1350" b="0" i="0" dirty="0">
              <a:solidFill>
                <a:srgbClr val="202A3A"/>
              </a:solidFill>
              <a:latin typeface="Segoe UI"/>
            </a:endParaRPr>
          </a:p>
          <a:p>
            <a:pPr>
              <a:lnSpc>
                <a:spcPct val="112000"/>
              </a:lnSpc>
              <a:spcAft>
                <a:spcPts val="1000"/>
              </a:spcAft>
            </a:pPr>
            <a:r>
              <a:rPr sz="1350" b="1" i="0" dirty="0">
                <a:solidFill>
                  <a:srgbClr val="1E7A7E"/>
                </a:solidFill>
                <a:latin typeface="Segoe UI"/>
              </a:rPr>
              <a:t>•  </a:t>
            </a:r>
            <a:r>
              <a:rPr sz="1350" b="0" i="0" dirty="0">
                <a:solidFill>
                  <a:srgbClr val="202A3A"/>
                </a:solidFill>
                <a:latin typeface="Segoe UI"/>
              </a:rPr>
              <a:t>All users can view school achievements</a:t>
            </a:r>
          </a:p>
        </p:txBody>
      </p:sp>
      <p:sp>
        <p:nvSpPr>
          <p:cNvPr id="9" name="Rectangle 8"/>
          <p:cNvSpPr/>
          <p:nvPr/>
        </p:nvSpPr>
        <p:spPr>
          <a:xfrm>
            <a:off x="6309360" y="1554480"/>
            <a:ext cx="54864" cy="384048"/>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36192"/>
            <a:ext cx="5166360" cy="457200"/>
          </a:xfrm>
          <a:prstGeom prst="rect">
            <a:avLst/>
          </a:prstGeom>
          <a:noFill/>
        </p:spPr>
        <p:txBody>
          <a:bodyPr wrap="square" lIns="0" tIns="0" rIns="0" bIns="0">
            <a:spAutoFit/>
          </a:bodyPr>
          <a:lstStyle/>
          <a:p>
            <a:pPr algn="l">
              <a:spcBef>
                <a:spcPts val="0"/>
              </a:spcBef>
              <a:spcAft>
                <a:spcPts val="400"/>
              </a:spcAft>
            </a:pPr>
            <a:r>
              <a:rPr sz="1700" b="1" i="0">
                <a:solidFill>
                  <a:srgbClr val="202A3A"/>
                </a:solidFill>
                <a:latin typeface="Segoe UI Semibold"/>
              </a:rPr>
              <a:t>Deliverable &amp; Acceptance</a:t>
            </a:r>
          </a:p>
        </p:txBody>
      </p:sp>
      <p:sp>
        <p:nvSpPr>
          <p:cNvPr id="11" name="TextBox 10"/>
          <p:cNvSpPr txBox="1"/>
          <p:nvPr/>
        </p:nvSpPr>
        <p:spPr>
          <a:xfrm>
            <a:off x="6309360" y="2121408"/>
            <a:ext cx="5166360" cy="1401025"/>
          </a:xfrm>
          <a:prstGeom prst="rect">
            <a:avLst/>
          </a:prstGeom>
          <a:noFill/>
        </p:spPr>
        <p:txBody>
          <a:bodyPr wrap="square" lIns="0" tIns="0" rIns="0" bIns="0">
            <a:spAutoFit/>
          </a:bodyPr>
          <a:lstStyle/>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Deliverable: an integrated Flutter (mobile) + ASP.NET (web) application</a:t>
            </a: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Acceptance</a:t>
            </a:r>
            <a:r>
              <a:rPr lang="en-GB" sz="1350" b="0" i="0" dirty="0">
                <a:solidFill>
                  <a:srgbClr val="202A3A"/>
                </a:solidFill>
                <a:latin typeface="Segoe UI"/>
              </a:rPr>
              <a:t> criteria</a:t>
            </a:r>
            <a:r>
              <a:rPr sz="1350" b="0" i="0" dirty="0">
                <a:solidFill>
                  <a:srgbClr val="202A3A"/>
                </a:solidFill>
                <a:latin typeface="Segoe UI"/>
              </a:rPr>
              <a:t>: Flutter and ASP.NET share the same backend</a:t>
            </a:r>
          </a:p>
          <a:p>
            <a:pPr>
              <a:lnSpc>
                <a:spcPct val="112000"/>
              </a:lnSpc>
              <a:spcAft>
                <a:spcPts val="1000"/>
              </a:spcAft>
            </a:pPr>
            <a:r>
              <a:rPr sz="1350" b="1" i="0" dirty="0">
                <a:solidFill>
                  <a:srgbClr val="E88A2E"/>
                </a:solidFill>
                <a:latin typeface="Segoe UI"/>
              </a:rPr>
              <a:t>•  </a:t>
            </a:r>
            <a:r>
              <a:rPr sz="1350" b="0" i="0" dirty="0">
                <a:solidFill>
                  <a:srgbClr val="202A3A"/>
                </a:solidFill>
                <a:latin typeface="Segoe UI"/>
              </a:rPr>
              <a:t>Acceptance</a:t>
            </a:r>
            <a:r>
              <a:rPr lang="en-GB" sz="1350" b="0" i="0" dirty="0">
                <a:solidFill>
                  <a:srgbClr val="202A3A"/>
                </a:solidFill>
                <a:latin typeface="Segoe UI"/>
              </a:rPr>
              <a:t> criteria</a:t>
            </a:r>
            <a:r>
              <a:rPr sz="1350" b="0" i="0" dirty="0">
                <a:solidFill>
                  <a:srgbClr val="202A3A"/>
                </a:solidFill>
                <a:latin typeface="Segoe UI"/>
              </a:rPr>
              <a:t>: users can perform the same actions on mobile and web</a:t>
            </a:r>
          </a:p>
        </p:txBody>
      </p:sp>
      <p:sp>
        <p:nvSpPr>
          <p:cNvPr id="12" name="Rectangle 11"/>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SRS Presentation</a:t>
            </a:r>
          </a:p>
        </p:txBody>
      </p:sp>
      <p:sp>
        <p:nvSpPr>
          <p:cNvPr id="14" name="TextBox 13"/>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5400" dirty="0"/>
              <a:t>   System Architecture  </a:t>
            </a:r>
            <a:endParaRPr sz="5400" dirty="0"/>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02</a:t>
            </a:r>
          </a:p>
        </p:txBody>
      </p:sp>
      <p:sp>
        <p:nvSpPr>
          <p:cNvPr id="6" name="TextBox 5"/>
          <p:cNvSpPr txBox="1"/>
          <p:nvPr/>
        </p:nvSpPr>
        <p:spPr>
          <a:xfrm>
            <a:off x="640080" y="3977639"/>
            <a:ext cx="9601200" cy="286553"/>
          </a:xfrm>
          <a:prstGeom prst="rect">
            <a:avLst/>
          </a:prstGeom>
          <a:noFill/>
        </p:spPr>
        <p:txBody>
          <a:bodyPr wrap="square" lIns="0" tIns="0" rIns="0" bIns="0">
            <a:spAutoFit/>
          </a:bodyPr>
          <a:lstStyle/>
          <a:p>
            <a:pPr algn="l">
              <a:lnSpc>
                <a:spcPct val="130000"/>
              </a:lnSpc>
              <a:spcBef>
                <a:spcPts val="0"/>
              </a:spcBef>
              <a:spcAft>
                <a:spcPts val="400"/>
              </a:spcAft>
            </a:pPr>
            <a:r>
              <a:rPr lang="en-GB" sz="1600" dirty="0">
                <a:solidFill>
                  <a:srgbClr val="B9C8DA"/>
                </a:solidFill>
                <a:latin typeface="Segoe UI"/>
              </a:rPr>
              <a:t>Main System Components and how they interact with each other</a:t>
            </a:r>
            <a:r>
              <a:rPr sz="1600" b="0" i="0" dirty="0">
                <a:solidFill>
                  <a:srgbClr val="B9C8DA"/>
                </a:solidFill>
                <a:latin typeface="Segoe UI"/>
              </a:rPr>
              <a:t>.</a:t>
            </a: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SRS Presentation</a:t>
            </a:r>
          </a:p>
        </p:txBody>
      </p:sp>
      <p:sp>
        <p:nvSpPr>
          <p:cNvPr id="18" name="TextBox 17"/>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12</a:t>
            </a:r>
          </a:p>
        </p:txBody>
      </p:sp>
      <p:sp>
        <p:nvSpPr>
          <p:cNvPr id="20" name="Text 1">
            <a:extLst>
              <a:ext uri="{FF2B5EF4-FFF2-40B4-BE49-F238E27FC236}">
                <a16:creationId xmlns:a16="http://schemas.microsoft.com/office/drawing/2014/main" id="{679E5B10-EE69-E98A-2F98-77AD52B6CAC4}"/>
              </a:ext>
            </a:extLst>
          </p:cNvPr>
          <p:cNvSpPr txBox="1"/>
          <p:nvPr/>
        </p:nvSpPr>
        <p:spPr>
          <a:xfrm>
            <a:off x="548640" y="603504"/>
            <a:ext cx="10972800" cy="548640"/>
          </a:xfrm>
          <a:prstGeom prst="rect">
            <a:avLst/>
          </a:prstGeom>
          <a:noFill/>
          <a:ln/>
        </p:spPr>
        <p:txBody>
          <a:bodyPr wrap="square" lIns="0" tIns="0" rIns="0" bIns="0" rtlCol="0" anchor="t"/>
          <a:lstStyle/>
          <a:p>
            <a:pPr marL="0" indent="0">
              <a:buNone/>
            </a:pPr>
            <a:r>
              <a:rPr lang="en-US" sz="2800" b="1" dirty="0">
                <a:solidFill>
                  <a:srgbClr val="3D405B"/>
                </a:solidFill>
                <a:latin typeface="Cambria" pitchFamily="34" charset="0"/>
                <a:ea typeface="Cambria" pitchFamily="34" charset="-122"/>
                <a:cs typeface="Cambria" pitchFamily="34" charset="-120"/>
              </a:rPr>
              <a:t>Who uses the system</a:t>
            </a:r>
            <a:endParaRPr lang="en-US" sz="2800" dirty="0"/>
          </a:p>
        </p:txBody>
      </p:sp>
      <p:sp>
        <p:nvSpPr>
          <p:cNvPr id="24" name="TextBox 23">
            <a:extLst>
              <a:ext uri="{FF2B5EF4-FFF2-40B4-BE49-F238E27FC236}">
                <a16:creationId xmlns:a16="http://schemas.microsoft.com/office/drawing/2014/main" id="{E68E7122-D74D-1B92-3951-8909F1F57FBB}"/>
              </a:ext>
            </a:extLst>
          </p:cNvPr>
          <p:cNvSpPr txBox="1"/>
          <p:nvPr/>
        </p:nvSpPr>
        <p:spPr>
          <a:xfrm>
            <a:off x="548639" y="1004634"/>
            <a:ext cx="10601141" cy="584775"/>
          </a:xfrm>
          <a:prstGeom prst="rect">
            <a:avLst/>
          </a:prstGeom>
          <a:noFill/>
        </p:spPr>
        <p:txBody>
          <a:bodyPr wrap="square">
            <a:spAutoFit/>
          </a:bodyPr>
          <a:lstStyle/>
          <a:p>
            <a:pPr marL="0" indent="0">
              <a:buNone/>
            </a:pPr>
            <a:r>
              <a:rPr lang="en-US" sz="1600" dirty="0">
                <a:solidFill>
                  <a:srgbClr val="6B6F80"/>
                </a:solidFill>
                <a:latin typeface="Calibri" pitchFamily="34" charset="0"/>
                <a:ea typeface="Calibri" pitchFamily="34" charset="-122"/>
                <a:cs typeface="Calibri" pitchFamily="34" charset="-120"/>
              </a:rPr>
              <a:t>Setshabelo needs a digital admission process: parents apply for their child from a phone, and the school reviews and decides on applications from the web.</a:t>
            </a:r>
            <a:endParaRPr lang="en-US" sz="1600" dirty="0"/>
          </a:p>
        </p:txBody>
      </p:sp>
      <p:sp>
        <p:nvSpPr>
          <p:cNvPr id="26" name="Shape 3">
            <a:extLst>
              <a:ext uri="{FF2B5EF4-FFF2-40B4-BE49-F238E27FC236}">
                <a16:creationId xmlns:a16="http://schemas.microsoft.com/office/drawing/2014/main" id="{57C99A18-7D62-50ED-4A5D-10F7F3D51EAE}"/>
              </a:ext>
            </a:extLst>
          </p:cNvPr>
          <p:cNvSpPr/>
          <p:nvPr/>
        </p:nvSpPr>
        <p:spPr>
          <a:xfrm>
            <a:off x="700887" y="1990539"/>
            <a:ext cx="5394960" cy="3474720"/>
          </a:xfrm>
          <a:prstGeom prst="roundRect">
            <a:avLst>
              <a:gd name="adj" fmla="val 3158"/>
            </a:avLst>
          </a:prstGeom>
          <a:solidFill>
            <a:srgbClr val="FBE7E1"/>
          </a:solidFill>
          <a:ln w="12700">
            <a:solidFill>
              <a:srgbClr val="FBE7E1"/>
            </a:solidFill>
            <a:prstDash val="solid"/>
          </a:ln>
        </p:spPr>
        <p:txBody>
          <a:bodyPr/>
          <a:lstStyle/>
          <a:p>
            <a:endParaRPr lang="en-ZA"/>
          </a:p>
        </p:txBody>
      </p:sp>
      <p:sp>
        <p:nvSpPr>
          <p:cNvPr id="28" name="Shape 13">
            <a:extLst>
              <a:ext uri="{FF2B5EF4-FFF2-40B4-BE49-F238E27FC236}">
                <a16:creationId xmlns:a16="http://schemas.microsoft.com/office/drawing/2014/main" id="{B7B26AB5-13C0-D5E2-D1F9-375AFA5EC823}"/>
              </a:ext>
            </a:extLst>
          </p:cNvPr>
          <p:cNvSpPr/>
          <p:nvPr/>
        </p:nvSpPr>
        <p:spPr>
          <a:xfrm>
            <a:off x="6263640" y="1990539"/>
            <a:ext cx="5394960" cy="3474720"/>
          </a:xfrm>
          <a:prstGeom prst="roundRect">
            <a:avLst>
              <a:gd name="adj" fmla="val 3158"/>
            </a:avLst>
          </a:prstGeom>
          <a:solidFill>
            <a:srgbClr val="E3F0E9"/>
          </a:solidFill>
          <a:ln w="12700">
            <a:solidFill>
              <a:srgbClr val="E3F0E9"/>
            </a:solidFill>
            <a:prstDash val="solid"/>
          </a:ln>
        </p:spPr>
        <p:txBody>
          <a:bodyPr/>
          <a:lstStyle/>
          <a:p>
            <a:endParaRPr lang="en-ZA"/>
          </a:p>
        </p:txBody>
      </p:sp>
      <p:sp>
        <p:nvSpPr>
          <p:cNvPr id="30" name="Text 10">
            <a:extLst>
              <a:ext uri="{FF2B5EF4-FFF2-40B4-BE49-F238E27FC236}">
                <a16:creationId xmlns:a16="http://schemas.microsoft.com/office/drawing/2014/main" id="{CCB4F3D9-79AD-E58D-DE26-6FE7E9D81FC3}"/>
              </a:ext>
            </a:extLst>
          </p:cNvPr>
          <p:cNvSpPr txBox="1"/>
          <p:nvPr/>
        </p:nvSpPr>
        <p:spPr>
          <a:xfrm>
            <a:off x="1965469" y="2204343"/>
            <a:ext cx="2390221" cy="411480"/>
          </a:xfrm>
          <a:prstGeom prst="rect">
            <a:avLst/>
          </a:prstGeom>
          <a:noFill/>
          <a:ln/>
        </p:spPr>
        <p:txBody>
          <a:bodyPr wrap="square" lIns="0" tIns="0" rIns="0" bIns="0" rtlCol="0" anchor="t"/>
          <a:lstStyle/>
          <a:p>
            <a:pPr marL="0" indent="0" algn="ctr">
              <a:buNone/>
            </a:pPr>
            <a:r>
              <a:rPr lang="en-US" sz="2200" b="1" dirty="0">
                <a:solidFill>
                  <a:srgbClr val="3D405B"/>
                </a:solidFill>
                <a:latin typeface="Cambria" pitchFamily="34" charset="0"/>
                <a:ea typeface="Cambria" pitchFamily="34" charset="-122"/>
                <a:cs typeface="Cambria" pitchFamily="34" charset="-120"/>
              </a:rPr>
              <a:t>Parent / Guardian</a:t>
            </a:r>
            <a:endParaRPr lang="en-US" sz="2200" dirty="0"/>
          </a:p>
        </p:txBody>
      </p:sp>
      <p:sp>
        <p:nvSpPr>
          <p:cNvPr id="32" name="Text 11">
            <a:extLst>
              <a:ext uri="{FF2B5EF4-FFF2-40B4-BE49-F238E27FC236}">
                <a16:creationId xmlns:a16="http://schemas.microsoft.com/office/drawing/2014/main" id="{3F96FE7A-E94F-8FFD-7623-44ED6E2BEB24}"/>
              </a:ext>
            </a:extLst>
          </p:cNvPr>
          <p:cNvSpPr txBox="1"/>
          <p:nvPr/>
        </p:nvSpPr>
        <p:spPr>
          <a:xfrm>
            <a:off x="2103120" y="2615823"/>
            <a:ext cx="3657600" cy="274320"/>
          </a:xfrm>
          <a:prstGeom prst="rect">
            <a:avLst/>
          </a:prstGeom>
          <a:noFill/>
          <a:ln/>
        </p:spPr>
        <p:txBody>
          <a:bodyPr wrap="square" lIns="0" tIns="0" rIns="0" bIns="0" rtlCol="0" anchor="t"/>
          <a:lstStyle/>
          <a:p>
            <a:pPr marL="0" indent="0">
              <a:buNone/>
            </a:pPr>
            <a:r>
              <a:rPr lang="en-US" sz="1300" b="1" dirty="0">
                <a:solidFill>
                  <a:srgbClr val="E07A5F"/>
                </a:solidFill>
                <a:latin typeface="Calibri" pitchFamily="34" charset="0"/>
                <a:ea typeface="Calibri" pitchFamily="34" charset="-122"/>
                <a:cs typeface="Calibri" pitchFamily="34" charset="-120"/>
              </a:rPr>
              <a:t>Flutter mobile application</a:t>
            </a:r>
            <a:endParaRPr lang="en-US" sz="1300" dirty="0"/>
          </a:p>
        </p:txBody>
      </p:sp>
      <p:sp>
        <p:nvSpPr>
          <p:cNvPr id="36" name="Text 12">
            <a:extLst>
              <a:ext uri="{FF2B5EF4-FFF2-40B4-BE49-F238E27FC236}">
                <a16:creationId xmlns:a16="http://schemas.microsoft.com/office/drawing/2014/main" id="{EB9EB320-9180-DEDE-E4E3-9B596647DD0B}"/>
              </a:ext>
            </a:extLst>
          </p:cNvPr>
          <p:cNvSpPr txBox="1"/>
          <p:nvPr/>
        </p:nvSpPr>
        <p:spPr>
          <a:xfrm>
            <a:off x="1066647" y="3081528"/>
            <a:ext cx="466344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Creates an account and logs in with a User ID</a:t>
            </a:r>
            <a:endParaRPr lang="en-US" sz="1500" dirty="0"/>
          </a:p>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Submits a learner application with documents</a:t>
            </a:r>
            <a:endParaRPr lang="en-US" sz="1500" dirty="0"/>
          </a:p>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Tracks or cancels the application</a:t>
            </a:r>
            <a:endParaRPr lang="en-US" sz="1500" dirty="0"/>
          </a:p>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Views school updates and achievements</a:t>
            </a:r>
            <a:endParaRPr lang="en-US" sz="1500" dirty="0"/>
          </a:p>
        </p:txBody>
      </p:sp>
      <p:sp>
        <p:nvSpPr>
          <p:cNvPr id="38" name="Text 20">
            <a:extLst>
              <a:ext uri="{FF2B5EF4-FFF2-40B4-BE49-F238E27FC236}">
                <a16:creationId xmlns:a16="http://schemas.microsoft.com/office/drawing/2014/main" id="{4EA8A5AF-7C8D-9660-7F54-680378EAE296}"/>
              </a:ext>
            </a:extLst>
          </p:cNvPr>
          <p:cNvSpPr txBox="1"/>
          <p:nvPr/>
        </p:nvSpPr>
        <p:spPr>
          <a:xfrm>
            <a:off x="7863840" y="2197706"/>
            <a:ext cx="1968418" cy="411480"/>
          </a:xfrm>
          <a:prstGeom prst="rect">
            <a:avLst/>
          </a:prstGeom>
          <a:noFill/>
          <a:ln/>
        </p:spPr>
        <p:txBody>
          <a:bodyPr wrap="square" lIns="0" tIns="0" rIns="0" bIns="0" rtlCol="0" anchor="t"/>
          <a:lstStyle/>
          <a:p>
            <a:pPr marL="0" indent="0">
              <a:buNone/>
            </a:pPr>
            <a:r>
              <a:rPr lang="en-US" sz="2200" b="1" dirty="0">
                <a:solidFill>
                  <a:srgbClr val="3D405B"/>
                </a:solidFill>
                <a:latin typeface="Cambria" pitchFamily="34" charset="0"/>
                <a:ea typeface="Cambria" pitchFamily="34" charset="-122"/>
                <a:cs typeface="Cambria" pitchFamily="34" charset="-120"/>
              </a:rPr>
              <a:t>Administrator</a:t>
            </a:r>
            <a:endParaRPr lang="en-US" sz="2200" dirty="0"/>
          </a:p>
        </p:txBody>
      </p:sp>
      <p:sp>
        <p:nvSpPr>
          <p:cNvPr id="40" name="Text 21">
            <a:extLst>
              <a:ext uri="{FF2B5EF4-FFF2-40B4-BE49-F238E27FC236}">
                <a16:creationId xmlns:a16="http://schemas.microsoft.com/office/drawing/2014/main" id="{22AA19DB-E36F-5EB6-79B8-6CF2922FB52E}"/>
              </a:ext>
            </a:extLst>
          </p:cNvPr>
          <p:cNvSpPr txBox="1"/>
          <p:nvPr/>
        </p:nvSpPr>
        <p:spPr>
          <a:xfrm>
            <a:off x="7921358" y="2609186"/>
            <a:ext cx="1853381" cy="290445"/>
          </a:xfrm>
          <a:prstGeom prst="rect">
            <a:avLst/>
          </a:prstGeom>
          <a:noFill/>
          <a:ln/>
        </p:spPr>
        <p:txBody>
          <a:bodyPr wrap="square" lIns="0" tIns="0" rIns="0" bIns="0" rtlCol="0" anchor="t"/>
          <a:lstStyle/>
          <a:p>
            <a:pPr marL="0" indent="0">
              <a:buNone/>
            </a:pPr>
            <a:r>
              <a:rPr lang="en-US" sz="1300" b="1" dirty="0">
                <a:solidFill>
                  <a:srgbClr val="81B29A"/>
                </a:solidFill>
                <a:latin typeface="Calibri" pitchFamily="34" charset="0"/>
                <a:ea typeface="Calibri" pitchFamily="34" charset="-122"/>
                <a:cs typeface="Calibri" pitchFamily="34" charset="-120"/>
              </a:rPr>
              <a:t>ASP.NET web application</a:t>
            </a:r>
            <a:endParaRPr lang="en-US" sz="1300" dirty="0"/>
          </a:p>
        </p:txBody>
      </p:sp>
      <p:sp>
        <p:nvSpPr>
          <p:cNvPr id="42" name="Text 22">
            <a:extLst>
              <a:ext uri="{FF2B5EF4-FFF2-40B4-BE49-F238E27FC236}">
                <a16:creationId xmlns:a16="http://schemas.microsoft.com/office/drawing/2014/main" id="{1BB2E4C8-3E9D-8DBC-9F2F-583C31C7502C}"/>
              </a:ext>
            </a:extLst>
          </p:cNvPr>
          <p:cNvSpPr txBox="1"/>
          <p:nvPr/>
        </p:nvSpPr>
        <p:spPr>
          <a:xfrm>
            <a:off x="6629400" y="3031382"/>
            <a:ext cx="466344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School admin and admission committee</a:t>
            </a:r>
            <a:endParaRPr lang="en-US" sz="1500" dirty="0"/>
          </a:p>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Logs in with an Admin ID</a:t>
            </a:r>
            <a:endParaRPr lang="en-US" sz="1500" dirty="0"/>
          </a:p>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Reviews applications, then accepts or rejects</a:t>
            </a:r>
            <a:endParaRPr lang="en-US" sz="1500" dirty="0"/>
          </a:p>
          <a:p>
            <a:pPr marL="342900" indent="-342900">
              <a:spcAft>
                <a:spcPts val="800"/>
              </a:spcAft>
              <a:buSzPct val="100000"/>
              <a:buChar char="•"/>
            </a:pPr>
            <a:r>
              <a:rPr lang="en-US" sz="1500" dirty="0">
                <a:solidFill>
                  <a:srgbClr val="2B2D42"/>
                </a:solidFill>
                <a:latin typeface="Calibri" pitchFamily="34" charset="0"/>
                <a:ea typeface="Calibri" pitchFamily="34" charset="-122"/>
                <a:cs typeface="Calibri" pitchFamily="34" charset="-120"/>
              </a:rPr>
              <a:t>Publishes school updates and achievements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SRS Presentation</a:t>
            </a:r>
          </a:p>
        </p:txBody>
      </p:sp>
      <p:sp>
        <p:nvSpPr>
          <p:cNvPr id="18" name="TextBox 17"/>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11</a:t>
            </a:r>
          </a:p>
        </p:txBody>
      </p:sp>
      <p:pic>
        <p:nvPicPr>
          <p:cNvPr id="21" name="Picture 20">
            <a:extLst>
              <a:ext uri="{FF2B5EF4-FFF2-40B4-BE49-F238E27FC236}">
                <a16:creationId xmlns:a16="http://schemas.microsoft.com/office/drawing/2014/main" id="{78FE37CD-DECB-3E14-817E-887582DC6595}"/>
              </a:ext>
            </a:extLst>
          </p:cNvPr>
          <p:cNvPicPr>
            <a:picLocks noChangeAspect="1"/>
          </p:cNvPicPr>
          <p:nvPr/>
        </p:nvPicPr>
        <p:blipFill>
          <a:blip r:embed="rId3"/>
          <a:stretch>
            <a:fillRect/>
          </a:stretch>
        </p:blipFill>
        <p:spPr>
          <a:xfrm>
            <a:off x="1100264" y="757084"/>
            <a:ext cx="9701912" cy="51422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3" name="Rectangle 2"/>
          <p:cNvSpPr/>
          <p:nvPr/>
        </p:nvSpPr>
        <p:spPr>
          <a:xfrm>
            <a:off x="994041" y="2839038"/>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23537" y="2044311"/>
            <a:ext cx="3657600" cy="230832"/>
          </a:xfrm>
          <a:prstGeom prst="rect">
            <a:avLst/>
          </a:prstGeom>
          <a:noFill/>
        </p:spPr>
        <p:txBody>
          <a:bodyPr wrap="square" lIns="0" tIns="0" rIns="0" bIns="0">
            <a:spAutoFit/>
          </a:bodyPr>
          <a:lstStyle/>
          <a:p>
            <a:pPr>
              <a:spcAft>
                <a:spcPts val="400"/>
              </a:spcAft>
            </a:pPr>
            <a:r>
              <a:rPr sz="1500" b="1" i="0" spc="220" dirty="0">
                <a:solidFill>
                  <a:srgbClr val="2FA4A9"/>
                </a:solidFill>
                <a:latin typeface="Segoe UI"/>
              </a:rPr>
              <a:t>SECTION 03</a:t>
            </a:r>
            <a:endParaRPr lang="en-GB" sz="1500" b="1" i="0" spc="220" dirty="0">
              <a:solidFill>
                <a:srgbClr val="2FA4A9"/>
              </a:solidFill>
              <a:latin typeface="Segoe UI"/>
            </a:endParaRP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13</a:t>
            </a:r>
          </a:p>
        </p:txBody>
      </p:sp>
      <p:sp>
        <p:nvSpPr>
          <p:cNvPr id="8" name="TextBox 7">
            <a:extLst>
              <a:ext uri="{FF2B5EF4-FFF2-40B4-BE49-F238E27FC236}">
                <a16:creationId xmlns:a16="http://schemas.microsoft.com/office/drawing/2014/main" id="{67422DDC-7381-A51B-9C64-635682830E6E}"/>
              </a:ext>
            </a:extLst>
          </p:cNvPr>
          <p:cNvSpPr txBox="1"/>
          <p:nvPr/>
        </p:nvSpPr>
        <p:spPr>
          <a:xfrm>
            <a:off x="837216" y="2867613"/>
            <a:ext cx="3971249" cy="707886"/>
          </a:xfrm>
          <a:prstGeom prst="rect">
            <a:avLst/>
          </a:prstGeom>
          <a:noFill/>
        </p:spPr>
        <p:txBody>
          <a:bodyPr wrap="square" rtlCol="0">
            <a:spAutoFit/>
          </a:bodyPr>
          <a:lstStyle/>
          <a:p>
            <a:r>
              <a:rPr lang="en-GB" sz="4000" dirty="0">
                <a:solidFill>
                  <a:schemeClr val="bg1"/>
                </a:solidFill>
              </a:rPr>
              <a:t>UML</a:t>
            </a:r>
            <a:r>
              <a:rPr lang="en-GB" dirty="0">
                <a:solidFill>
                  <a:schemeClr val="bg1"/>
                </a:solidFill>
              </a:rPr>
              <a:t> </a:t>
            </a:r>
            <a:r>
              <a:rPr lang="en-GB" sz="4000" dirty="0">
                <a:solidFill>
                  <a:schemeClr val="bg1"/>
                </a:solidFill>
              </a:rPr>
              <a:t>Diagrams</a:t>
            </a:r>
            <a:endParaRPr lang="en-ZA" sz="40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Use Case</a:t>
            </a:r>
            <a:endParaRPr sz="2800" b="1" i="0" dirty="0">
              <a:solidFill>
                <a:srgbClr val="202A3A"/>
              </a:solidFill>
              <a:latin typeface="Segoe UI Semibold"/>
            </a:endParaRP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14</a:t>
            </a:r>
          </a:p>
        </p:txBody>
      </p:sp>
      <p:pic>
        <p:nvPicPr>
          <p:cNvPr id="11" name="Picture 10">
            <a:extLst>
              <a:ext uri="{FF2B5EF4-FFF2-40B4-BE49-F238E27FC236}">
                <a16:creationId xmlns:a16="http://schemas.microsoft.com/office/drawing/2014/main" id="{2920D9EA-B67A-F994-2A97-058D52C86FF7}"/>
              </a:ext>
            </a:extLst>
          </p:cNvPr>
          <p:cNvPicPr>
            <a:picLocks noChangeAspect="1"/>
          </p:cNvPicPr>
          <p:nvPr/>
        </p:nvPicPr>
        <p:blipFill>
          <a:blip r:embed="rId3"/>
          <a:stretch>
            <a:fillRect/>
          </a:stretch>
        </p:blipFill>
        <p:spPr>
          <a:xfrm>
            <a:off x="1213363" y="814935"/>
            <a:ext cx="8352244" cy="56305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548640" y="347472"/>
            <a:ext cx="9144000" cy="274320"/>
          </a:xfrm>
          <a:prstGeom prst="rect">
            <a:avLst/>
          </a:prstGeom>
          <a:noFill/>
          <a:ln/>
        </p:spPr>
        <p:txBody>
          <a:bodyPr wrap="square" lIns="0" tIns="0" rIns="0" bIns="0" rtlCol="0" anchor="t"/>
          <a:lstStyle/>
          <a:p>
            <a:pPr marL="0" indent="0">
              <a:buNone/>
            </a:pPr>
            <a:r>
              <a:rPr lang="en-US" sz="1100" b="1" kern="0" spc="200" dirty="0">
                <a:solidFill>
                  <a:srgbClr val="E07A5F"/>
                </a:solidFill>
                <a:latin typeface="Calibri" pitchFamily="34" charset="0"/>
                <a:ea typeface="Calibri" pitchFamily="34" charset="-122"/>
                <a:cs typeface="Calibri" pitchFamily="34" charset="-120"/>
              </a:rPr>
              <a:t>04  ·  UML  ·  RELATIONSHIPS</a:t>
            </a:r>
            <a:endParaRPr lang="en-US" sz="1100" dirty="0"/>
          </a:p>
        </p:txBody>
      </p:sp>
      <p:sp>
        <p:nvSpPr>
          <p:cNvPr id="4" name="Text 1"/>
          <p:cNvSpPr txBox="1"/>
          <p:nvPr/>
        </p:nvSpPr>
        <p:spPr>
          <a:xfrm>
            <a:off x="548640" y="603504"/>
            <a:ext cx="10972800" cy="548640"/>
          </a:xfrm>
          <a:prstGeom prst="rect">
            <a:avLst/>
          </a:prstGeom>
          <a:noFill/>
          <a:ln/>
        </p:spPr>
        <p:txBody>
          <a:bodyPr wrap="square" lIns="0" tIns="0" rIns="0" bIns="0" rtlCol="0" anchor="t"/>
          <a:lstStyle/>
          <a:p>
            <a:pPr marL="0" indent="0">
              <a:buNone/>
            </a:pPr>
            <a:r>
              <a:rPr lang="en-US" sz="2800" b="1" dirty="0">
                <a:solidFill>
                  <a:srgbClr val="3D405B"/>
                </a:solidFill>
                <a:latin typeface="Cambria" pitchFamily="34" charset="0"/>
                <a:ea typeface="Cambria" pitchFamily="34" charset="-122"/>
                <a:cs typeface="Cambria" pitchFamily="34" charset="-120"/>
              </a:rPr>
              <a:t>How the use cases relate</a:t>
            </a:r>
            <a:endParaRPr lang="en-US" sz="2800" dirty="0"/>
          </a:p>
        </p:txBody>
      </p:sp>
      <p:sp>
        <p:nvSpPr>
          <p:cNvPr id="5" name="Shape 2"/>
          <p:cNvSpPr/>
          <p:nvPr/>
        </p:nvSpPr>
        <p:spPr>
          <a:xfrm>
            <a:off x="548640" y="1463040"/>
            <a:ext cx="3474720" cy="4572000"/>
          </a:xfrm>
          <a:prstGeom prst="roundRect">
            <a:avLst>
              <a:gd name="adj" fmla="val 3158"/>
            </a:avLst>
          </a:prstGeom>
          <a:solidFill>
            <a:srgbClr val="F4F5F8"/>
          </a:solidFill>
          <a:ln w="12700">
            <a:solidFill>
              <a:srgbClr val="F4F5F8"/>
            </a:solidFill>
            <a:prstDash val="solid"/>
          </a:ln>
        </p:spPr>
        <p:txBody>
          <a:bodyPr/>
          <a:lstStyle/>
          <a:p>
            <a:endParaRPr lang="en-ZA"/>
          </a:p>
        </p:txBody>
      </p:sp>
      <p:sp>
        <p:nvSpPr>
          <p:cNvPr id="6" name="Text 3"/>
          <p:cNvSpPr txBox="1"/>
          <p:nvPr/>
        </p:nvSpPr>
        <p:spPr>
          <a:xfrm>
            <a:off x="868680" y="1737360"/>
            <a:ext cx="2926080" cy="411480"/>
          </a:xfrm>
          <a:prstGeom prst="rect">
            <a:avLst/>
          </a:prstGeom>
          <a:noFill/>
          <a:ln/>
        </p:spPr>
        <p:txBody>
          <a:bodyPr wrap="square" lIns="0" tIns="0" rIns="0" bIns="0" rtlCol="0" anchor="t"/>
          <a:lstStyle/>
          <a:p>
            <a:pPr marL="0" indent="0">
              <a:buNone/>
            </a:pPr>
            <a:r>
              <a:rPr lang="en-US" sz="2000" b="1" dirty="0">
                <a:solidFill>
                  <a:srgbClr val="3D405B"/>
                </a:solidFill>
                <a:latin typeface="Cambria" pitchFamily="34" charset="0"/>
                <a:ea typeface="Cambria" pitchFamily="34" charset="-122"/>
                <a:cs typeface="Cambria" pitchFamily="34" charset="-120"/>
              </a:rPr>
              <a:t>Associations</a:t>
            </a:r>
            <a:endParaRPr lang="en-US" sz="2000" dirty="0"/>
          </a:p>
        </p:txBody>
      </p:sp>
      <p:sp>
        <p:nvSpPr>
          <p:cNvPr id="7" name="Text 4"/>
          <p:cNvSpPr txBox="1"/>
          <p:nvPr/>
        </p:nvSpPr>
        <p:spPr>
          <a:xfrm>
            <a:off x="868680" y="2286000"/>
            <a:ext cx="2926080" cy="1005840"/>
          </a:xfrm>
          <a:prstGeom prst="rect">
            <a:avLst/>
          </a:prstGeom>
          <a:noFill/>
          <a:ln/>
        </p:spPr>
        <p:txBody>
          <a:bodyPr wrap="square" lIns="0" tIns="0" rIns="0" bIns="0" rtlCol="0" anchor="t"/>
          <a:lstStyle/>
          <a:p>
            <a:pPr marL="0" indent="0">
              <a:buNone/>
            </a:pPr>
            <a:r>
              <a:rPr lang="en-US" sz="6000" b="1" dirty="0">
                <a:solidFill>
                  <a:srgbClr val="3D405B"/>
                </a:solidFill>
                <a:latin typeface="Calibri" pitchFamily="34" charset="0"/>
                <a:ea typeface="Calibri" pitchFamily="34" charset="-122"/>
                <a:cs typeface="Calibri" pitchFamily="34" charset="-120"/>
              </a:rPr>
              <a:t>11</a:t>
            </a:r>
            <a:endParaRPr lang="en-US" sz="6000" dirty="0"/>
          </a:p>
        </p:txBody>
      </p:sp>
      <p:sp>
        <p:nvSpPr>
          <p:cNvPr id="8" name="Text 5"/>
          <p:cNvSpPr txBox="1"/>
          <p:nvPr/>
        </p:nvSpPr>
        <p:spPr>
          <a:xfrm>
            <a:off x="868680" y="3291840"/>
            <a:ext cx="2926080" cy="274320"/>
          </a:xfrm>
          <a:prstGeom prst="rect">
            <a:avLst/>
          </a:prstGeom>
          <a:noFill/>
          <a:ln/>
        </p:spPr>
        <p:txBody>
          <a:bodyPr wrap="square" lIns="0" tIns="0" rIns="0" bIns="0" rtlCol="0" anchor="t"/>
          <a:lstStyle/>
          <a:p>
            <a:pPr marL="0" indent="0">
              <a:buNone/>
            </a:pPr>
            <a:r>
              <a:rPr lang="en-US" sz="1300" b="1" dirty="0">
                <a:solidFill>
                  <a:srgbClr val="6B6F80"/>
                </a:solidFill>
                <a:latin typeface="Calibri" pitchFamily="34" charset="0"/>
                <a:ea typeface="Calibri" pitchFamily="34" charset="-122"/>
                <a:cs typeface="Calibri" pitchFamily="34" charset="-120"/>
              </a:rPr>
              <a:t>actor links</a:t>
            </a:r>
            <a:endParaRPr lang="en-US" sz="1300" dirty="0"/>
          </a:p>
        </p:txBody>
      </p:sp>
      <p:sp>
        <p:nvSpPr>
          <p:cNvPr id="9" name="Text 6"/>
          <p:cNvSpPr txBox="1"/>
          <p:nvPr/>
        </p:nvSpPr>
        <p:spPr>
          <a:xfrm>
            <a:off x="868680" y="3794760"/>
            <a:ext cx="2834640" cy="2011680"/>
          </a:xfrm>
          <a:prstGeom prst="rect">
            <a:avLst/>
          </a:prstGeom>
          <a:noFill/>
          <a:ln/>
        </p:spPr>
        <p:txBody>
          <a:bodyPr wrap="square" lIns="0" tIns="0" rIns="0" bIns="0" rtlCol="0" anchor="t"/>
          <a:lstStyle/>
          <a:p>
            <a:pPr marL="0" indent="0">
              <a:buNone/>
            </a:pPr>
            <a:r>
              <a:rPr lang="en-US" sz="1400" dirty="0">
                <a:solidFill>
                  <a:srgbClr val="2B2D42"/>
                </a:solidFill>
                <a:latin typeface="Calibri" pitchFamily="34" charset="0"/>
                <a:ea typeface="Calibri" pitchFamily="34" charset="-122"/>
                <a:cs typeface="Calibri" pitchFamily="34" charset="-120"/>
              </a:rPr>
              <a:t>Parent performs 7 use cases (account, login, profile, submit, cancel, updates, achievements). Administrator performs 4 (account, login, review, publish).</a:t>
            </a:r>
            <a:endParaRPr lang="en-US" sz="1400" dirty="0"/>
          </a:p>
        </p:txBody>
      </p:sp>
      <p:sp>
        <p:nvSpPr>
          <p:cNvPr id="10" name="Shape 7"/>
          <p:cNvSpPr/>
          <p:nvPr/>
        </p:nvSpPr>
        <p:spPr>
          <a:xfrm>
            <a:off x="4297680" y="1463040"/>
            <a:ext cx="3474720" cy="4572000"/>
          </a:xfrm>
          <a:prstGeom prst="roundRect">
            <a:avLst>
              <a:gd name="adj" fmla="val 3158"/>
            </a:avLst>
          </a:prstGeom>
          <a:solidFill>
            <a:srgbClr val="FBE7E1"/>
          </a:solidFill>
          <a:ln w="12700">
            <a:solidFill>
              <a:srgbClr val="FBE7E1"/>
            </a:solidFill>
            <a:prstDash val="solid"/>
          </a:ln>
        </p:spPr>
        <p:txBody>
          <a:bodyPr/>
          <a:lstStyle/>
          <a:p>
            <a:endParaRPr lang="en-ZA"/>
          </a:p>
        </p:txBody>
      </p:sp>
      <p:sp>
        <p:nvSpPr>
          <p:cNvPr id="11" name="Text 8"/>
          <p:cNvSpPr txBox="1"/>
          <p:nvPr/>
        </p:nvSpPr>
        <p:spPr>
          <a:xfrm>
            <a:off x="4617720" y="1737360"/>
            <a:ext cx="2926080" cy="411480"/>
          </a:xfrm>
          <a:prstGeom prst="rect">
            <a:avLst/>
          </a:prstGeom>
          <a:noFill/>
          <a:ln/>
        </p:spPr>
        <p:txBody>
          <a:bodyPr wrap="square" lIns="0" tIns="0" rIns="0" bIns="0" rtlCol="0" anchor="t"/>
          <a:lstStyle/>
          <a:p>
            <a:pPr marL="0" indent="0">
              <a:buNone/>
            </a:pPr>
            <a:r>
              <a:rPr lang="en-US" sz="2000" b="1" dirty="0">
                <a:solidFill>
                  <a:srgbClr val="E07A5F"/>
                </a:solidFill>
                <a:latin typeface="Cambria" pitchFamily="34" charset="0"/>
                <a:ea typeface="Cambria" pitchFamily="34" charset="-122"/>
                <a:cs typeface="Cambria" pitchFamily="34" charset="-120"/>
              </a:rPr>
              <a:t>«include»</a:t>
            </a:r>
            <a:endParaRPr lang="en-US" sz="2000" dirty="0"/>
          </a:p>
        </p:txBody>
      </p:sp>
      <p:sp>
        <p:nvSpPr>
          <p:cNvPr id="12" name="Text 9"/>
          <p:cNvSpPr txBox="1"/>
          <p:nvPr/>
        </p:nvSpPr>
        <p:spPr>
          <a:xfrm>
            <a:off x="4617720" y="2286000"/>
            <a:ext cx="2926080" cy="1005840"/>
          </a:xfrm>
          <a:prstGeom prst="rect">
            <a:avLst/>
          </a:prstGeom>
          <a:noFill/>
          <a:ln/>
        </p:spPr>
        <p:txBody>
          <a:bodyPr wrap="square" lIns="0" tIns="0" rIns="0" bIns="0" rtlCol="0" anchor="t"/>
          <a:lstStyle/>
          <a:p>
            <a:pPr marL="0" indent="0">
              <a:buNone/>
            </a:pPr>
            <a:r>
              <a:rPr lang="en-US" sz="6000" b="1" dirty="0">
                <a:solidFill>
                  <a:srgbClr val="E07A5F"/>
                </a:solidFill>
                <a:latin typeface="Calibri" pitchFamily="34" charset="0"/>
                <a:ea typeface="Calibri" pitchFamily="34" charset="-122"/>
                <a:cs typeface="Calibri" pitchFamily="34" charset="-120"/>
              </a:rPr>
              <a:t>2</a:t>
            </a:r>
            <a:endParaRPr lang="en-US" sz="6000" dirty="0"/>
          </a:p>
        </p:txBody>
      </p:sp>
      <p:sp>
        <p:nvSpPr>
          <p:cNvPr id="13" name="Text 10"/>
          <p:cNvSpPr txBox="1"/>
          <p:nvPr/>
        </p:nvSpPr>
        <p:spPr>
          <a:xfrm>
            <a:off x="4617720" y="3291840"/>
            <a:ext cx="2926080" cy="274320"/>
          </a:xfrm>
          <a:prstGeom prst="rect">
            <a:avLst/>
          </a:prstGeom>
          <a:noFill/>
          <a:ln/>
        </p:spPr>
        <p:txBody>
          <a:bodyPr wrap="square" lIns="0" tIns="0" rIns="0" bIns="0" rtlCol="0" anchor="t"/>
          <a:lstStyle/>
          <a:p>
            <a:pPr marL="0" indent="0">
              <a:buNone/>
            </a:pPr>
            <a:r>
              <a:rPr lang="en-US" sz="1300" b="1" dirty="0">
                <a:solidFill>
                  <a:srgbClr val="6B6F80"/>
                </a:solidFill>
                <a:latin typeface="Calibri" pitchFamily="34" charset="0"/>
                <a:ea typeface="Calibri" pitchFamily="34" charset="-122"/>
                <a:cs typeface="Calibri" pitchFamily="34" charset="-120"/>
              </a:rPr>
              <a:t>always required</a:t>
            </a:r>
            <a:endParaRPr lang="en-US" sz="1300" dirty="0"/>
          </a:p>
        </p:txBody>
      </p:sp>
      <p:sp>
        <p:nvSpPr>
          <p:cNvPr id="14" name="Text 11"/>
          <p:cNvSpPr txBox="1"/>
          <p:nvPr/>
        </p:nvSpPr>
        <p:spPr>
          <a:xfrm>
            <a:off x="4617720" y="3794760"/>
            <a:ext cx="2834640" cy="2011680"/>
          </a:xfrm>
          <a:prstGeom prst="rect">
            <a:avLst/>
          </a:prstGeom>
          <a:noFill/>
          <a:ln/>
        </p:spPr>
        <p:txBody>
          <a:bodyPr wrap="square" lIns="0" tIns="0" rIns="0" bIns="0" rtlCol="0" anchor="t"/>
          <a:lstStyle/>
          <a:p>
            <a:pPr marL="0" indent="0">
              <a:buNone/>
            </a:pPr>
            <a:r>
              <a:rPr lang="en-US" sz="1400" dirty="0">
                <a:solidFill>
                  <a:srgbClr val="2B2D42"/>
                </a:solidFill>
                <a:latin typeface="Calibri" pitchFamily="34" charset="0"/>
                <a:ea typeface="Calibri" pitchFamily="34" charset="-122"/>
                <a:cs typeface="Calibri" pitchFamily="34" charset="-120"/>
              </a:rPr>
              <a:t>Submit Learner Application always runs Validate Application Details, so incomplete forms or missing documents are caught before saving.</a:t>
            </a:r>
            <a:endParaRPr lang="en-US" sz="1400" dirty="0"/>
          </a:p>
        </p:txBody>
      </p:sp>
      <p:sp>
        <p:nvSpPr>
          <p:cNvPr id="15" name="Shape 12"/>
          <p:cNvSpPr/>
          <p:nvPr/>
        </p:nvSpPr>
        <p:spPr>
          <a:xfrm>
            <a:off x="8046720" y="1463040"/>
            <a:ext cx="3474720" cy="4572000"/>
          </a:xfrm>
          <a:prstGeom prst="roundRect">
            <a:avLst>
              <a:gd name="adj" fmla="val 3158"/>
            </a:avLst>
          </a:prstGeom>
          <a:solidFill>
            <a:srgbClr val="E3F0E9"/>
          </a:solidFill>
          <a:ln w="12700">
            <a:solidFill>
              <a:srgbClr val="E3F0E9"/>
            </a:solidFill>
            <a:prstDash val="solid"/>
          </a:ln>
        </p:spPr>
        <p:txBody>
          <a:bodyPr/>
          <a:lstStyle/>
          <a:p>
            <a:endParaRPr lang="en-ZA"/>
          </a:p>
        </p:txBody>
      </p:sp>
      <p:sp>
        <p:nvSpPr>
          <p:cNvPr id="16" name="Text 13"/>
          <p:cNvSpPr txBox="1"/>
          <p:nvPr/>
        </p:nvSpPr>
        <p:spPr>
          <a:xfrm>
            <a:off x="8366760" y="1737360"/>
            <a:ext cx="2926080" cy="411480"/>
          </a:xfrm>
          <a:prstGeom prst="rect">
            <a:avLst/>
          </a:prstGeom>
          <a:noFill/>
          <a:ln/>
        </p:spPr>
        <p:txBody>
          <a:bodyPr wrap="square" lIns="0" tIns="0" rIns="0" bIns="0" rtlCol="0" anchor="t"/>
          <a:lstStyle/>
          <a:p>
            <a:pPr marL="0" indent="0">
              <a:buNone/>
            </a:pPr>
            <a:r>
              <a:rPr lang="en-US" sz="2000" b="1" dirty="0">
                <a:solidFill>
                  <a:srgbClr val="4F8A6E"/>
                </a:solidFill>
                <a:latin typeface="Cambria" pitchFamily="34" charset="0"/>
                <a:ea typeface="Cambria" pitchFamily="34" charset="-122"/>
                <a:cs typeface="Cambria" pitchFamily="34" charset="-120"/>
              </a:rPr>
              <a:t>«extend»</a:t>
            </a:r>
            <a:endParaRPr lang="en-US" sz="2000" dirty="0"/>
          </a:p>
        </p:txBody>
      </p:sp>
      <p:sp>
        <p:nvSpPr>
          <p:cNvPr id="17" name="Text 14"/>
          <p:cNvSpPr txBox="1"/>
          <p:nvPr/>
        </p:nvSpPr>
        <p:spPr>
          <a:xfrm>
            <a:off x="8366760" y="2286000"/>
            <a:ext cx="2926080" cy="1005840"/>
          </a:xfrm>
          <a:prstGeom prst="rect">
            <a:avLst/>
          </a:prstGeom>
          <a:noFill/>
          <a:ln/>
        </p:spPr>
        <p:txBody>
          <a:bodyPr wrap="square" lIns="0" tIns="0" rIns="0" bIns="0" rtlCol="0" anchor="t"/>
          <a:lstStyle/>
          <a:p>
            <a:pPr marL="0" indent="0">
              <a:buNone/>
            </a:pPr>
            <a:r>
              <a:rPr lang="en-US" sz="6000" b="1" dirty="0">
                <a:solidFill>
                  <a:srgbClr val="4F8A6E"/>
                </a:solidFill>
                <a:latin typeface="Calibri" pitchFamily="34" charset="0"/>
                <a:ea typeface="Calibri" pitchFamily="34" charset="-122"/>
                <a:cs typeface="Calibri" pitchFamily="34" charset="-120"/>
              </a:rPr>
              <a:t>1</a:t>
            </a:r>
            <a:endParaRPr lang="en-US" sz="6000" dirty="0"/>
          </a:p>
        </p:txBody>
      </p:sp>
      <p:sp>
        <p:nvSpPr>
          <p:cNvPr id="18" name="Text 15"/>
          <p:cNvSpPr txBox="1"/>
          <p:nvPr/>
        </p:nvSpPr>
        <p:spPr>
          <a:xfrm>
            <a:off x="8366760" y="3291840"/>
            <a:ext cx="2926080" cy="274320"/>
          </a:xfrm>
          <a:prstGeom prst="rect">
            <a:avLst/>
          </a:prstGeom>
          <a:noFill/>
          <a:ln/>
        </p:spPr>
        <p:txBody>
          <a:bodyPr wrap="square" lIns="0" tIns="0" rIns="0" bIns="0" rtlCol="0" anchor="t"/>
          <a:lstStyle/>
          <a:p>
            <a:pPr marL="0" indent="0">
              <a:buNone/>
            </a:pPr>
            <a:r>
              <a:rPr lang="en-US" sz="1300" b="1" dirty="0">
                <a:solidFill>
                  <a:srgbClr val="6B6F80"/>
                </a:solidFill>
                <a:latin typeface="Calibri" pitchFamily="34" charset="0"/>
                <a:ea typeface="Calibri" pitchFamily="34" charset="-122"/>
                <a:cs typeface="Calibri" pitchFamily="34" charset="-120"/>
              </a:rPr>
              <a:t>conditional</a:t>
            </a:r>
            <a:endParaRPr lang="en-US" sz="1300" dirty="0"/>
          </a:p>
        </p:txBody>
      </p:sp>
      <p:sp>
        <p:nvSpPr>
          <p:cNvPr id="19" name="Text 16"/>
          <p:cNvSpPr txBox="1"/>
          <p:nvPr/>
        </p:nvSpPr>
        <p:spPr>
          <a:xfrm>
            <a:off x="8366760" y="3794760"/>
            <a:ext cx="2834640" cy="2011680"/>
          </a:xfrm>
          <a:prstGeom prst="rect">
            <a:avLst/>
          </a:prstGeom>
          <a:noFill/>
          <a:ln/>
        </p:spPr>
        <p:txBody>
          <a:bodyPr wrap="square" lIns="0" tIns="0" rIns="0" bIns="0" rtlCol="0" anchor="t"/>
          <a:lstStyle/>
          <a:p>
            <a:pPr marL="0" indent="0">
              <a:buNone/>
            </a:pPr>
            <a:r>
              <a:rPr lang="en-US" sz="1400" dirty="0">
                <a:solidFill>
                  <a:srgbClr val="2B2D42"/>
                </a:solidFill>
                <a:latin typeface="Calibri" pitchFamily="34" charset="0"/>
                <a:ea typeface="Calibri" pitchFamily="34" charset="-122"/>
                <a:cs typeface="Calibri" pitchFamily="34" charset="-120"/>
              </a:rPr>
              <a:t>Accept / Reject Application extends Review Learner Application; it only occurs when the admin reaches a decision on the application.</a:t>
            </a:r>
            <a:endParaRPr lang="en-US" sz="1400" dirty="0"/>
          </a:p>
        </p:txBody>
      </p:sp>
      <p:sp>
        <p:nvSpPr>
          <p:cNvPr id="20" name="Text 17"/>
          <p:cNvSpPr txBox="1"/>
          <p:nvPr/>
        </p:nvSpPr>
        <p:spPr>
          <a:xfrm>
            <a:off x="548640" y="6473952"/>
            <a:ext cx="7315200" cy="228600"/>
          </a:xfrm>
          <a:prstGeom prst="rect">
            <a:avLst/>
          </a:prstGeom>
          <a:noFill/>
          <a:ln/>
        </p:spPr>
        <p:txBody>
          <a:bodyPr wrap="square" lIns="0" tIns="0" rIns="0" bIns="0" rtlCol="0" anchor="t"/>
          <a:lstStyle/>
          <a:p>
            <a:pPr marL="0" indent="0">
              <a:buNone/>
            </a:pPr>
            <a:r>
              <a:rPr lang="en-US" sz="900" dirty="0">
                <a:solidFill>
                  <a:srgbClr val="6B6F80"/>
                </a:solidFill>
                <a:latin typeface="Calibri" pitchFamily="34" charset="0"/>
                <a:ea typeface="Calibri" pitchFamily="34" charset="-122"/>
                <a:cs typeface="Calibri" pitchFamily="34" charset="-120"/>
              </a:rPr>
              <a:t>Setshabelo Admission System  ·  Secret Design  ·  ITC327W Phase 2</a:t>
            </a:r>
            <a:endParaRPr lang="en-US" sz="900" dirty="0"/>
          </a:p>
        </p:txBody>
      </p:sp>
      <p:sp>
        <p:nvSpPr>
          <p:cNvPr id="21" name="Text 18"/>
          <p:cNvSpPr txBox="1"/>
          <p:nvPr/>
        </p:nvSpPr>
        <p:spPr>
          <a:xfrm>
            <a:off x="11155680" y="6473952"/>
            <a:ext cx="457200" cy="228600"/>
          </a:xfrm>
          <a:prstGeom prst="rect">
            <a:avLst/>
          </a:prstGeom>
          <a:noFill/>
          <a:ln/>
        </p:spPr>
        <p:txBody>
          <a:bodyPr wrap="square" lIns="0" tIns="0" rIns="0" bIns="0" rtlCol="0" anchor="t"/>
          <a:lstStyle/>
          <a:p>
            <a:pPr marL="0" indent="0" algn="r">
              <a:buNone/>
            </a:pPr>
            <a:r>
              <a:rPr lang="en-US" sz="900" dirty="0">
                <a:solidFill>
                  <a:srgbClr val="6B6F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Admission System  |  Phase 2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15</a:t>
            </a:r>
          </a:p>
        </p:txBody>
      </p:sp>
      <p:sp>
        <p:nvSpPr>
          <p:cNvPr id="12" name="TextBox 11">
            <a:extLst>
              <a:ext uri="{FF2B5EF4-FFF2-40B4-BE49-F238E27FC236}">
                <a16:creationId xmlns:a16="http://schemas.microsoft.com/office/drawing/2014/main" id="{69CE82A2-3BA5-B330-4EB9-68358D2986FB}"/>
              </a:ext>
            </a:extLst>
          </p:cNvPr>
          <p:cNvSpPr txBox="1"/>
          <p:nvPr/>
        </p:nvSpPr>
        <p:spPr>
          <a:xfrm>
            <a:off x="710915" y="423444"/>
            <a:ext cx="2637389" cy="461665"/>
          </a:xfrm>
          <a:prstGeom prst="rect">
            <a:avLst/>
          </a:prstGeom>
          <a:noFill/>
        </p:spPr>
        <p:txBody>
          <a:bodyPr wrap="none" rtlCol="0">
            <a:spAutoFit/>
          </a:bodyPr>
          <a:lstStyle/>
          <a:p>
            <a:r>
              <a:rPr lang="en-GB" sz="2400" dirty="0"/>
              <a:t>Sequence Diagrams</a:t>
            </a:r>
            <a:endParaRPr lang="en-ZA" sz="2400" dirty="0"/>
          </a:p>
        </p:txBody>
      </p:sp>
      <p:pic>
        <p:nvPicPr>
          <p:cNvPr id="14" name="Picture 13">
            <a:extLst>
              <a:ext uri="{FF2B5EF4-FFF2-40B4-BE49-F238E27FC236}">
                <a16:creationId xmlns:a16="http://schemas.microsoft.com/office/drawing/2014/main" id="{A403DF16-DFC6-0E44-F7D5-D8FDAEE7A26C}"/>
              </a:ext>
            </a:extLst>
          </p:cNvPr>
          <p:cNvPicPr>
            <a:picLocks noChangeAspect="1"/>
          </p:cNvPicPr>
          <p:nvPr/>
        </p:nvPicPr>
        <p:blipFill>
          <a:blip r:embed="rId3"/>
          <a:stretch>
            <a:fillRect/>
          </a:stretch>
        </p:blipFill>
        <p:spPr>
          <a:xfrm>
            <a:off x="1529731" y="896285"/>
            <a:ext cx="6713802" cy="53785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sz="2800" b="1" i="0" dirty="0">
                <a:solidFill>
                  <a:srgbClr val="202A3A"/>
                </a:solidFill>
                <a:latin typeface="Segoe UI Semibold"/>
              </a:rPr>
              <a:t>S</a:t>
            </a:r>
            <a:r>
              <a:rPr lang="en-GB" sz="2800" b="1" i="0" dirty="0">
                <a:solidFill>
                  <a:srgbClr val="202A3A"/>
                </a:solidFill>
                <a:latin typeface="Segoe UI Semibold"/>
              </a:rPr>
              <a:t>equence Diagrams</a:t>
            </a:r>
            <a:endParaRPr sz="2800" b="1" i="0" dirty="0">
              <a:solidFill>
                <a:srgbClr val="202A3A"/>
              </a:solidFill>
              <a:latin typeface="Segoe UI Semibold"/>
            </a:endParaRPr>
          </a:p>
        </p:txBody>
      </p:sp>
      <p:sp>
        <p:nvSpPr>
          <p:cNvPr id="12" name="Rectangle 11"/>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14" name="TextBox 13"/>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16</a:t>
            </a:r>
          </a:p>
        </p:txBody>
      </p:sp>
      <p:pic>
        <p:nvPicPr>
          <p:cNvPr id="16" name="Picture 15">
            <a:extLst>
              <a:ext uri="{FF2B5EF4-FFF2-40B4-BE49-F238E27FC236}">
                <a16:creationId xmlns:a16="http://schemas.microsoft.com/office/drawing/2014/main" id="{409AC984-68D4-BCCB-AF2D-E8746841C33B}"/>
              </a:ext>
            </a:extLst>
          </p:cNvPr>
          <p:cNvPicPr>
            <a:picLocks noChangeAspect="1"/>
          </p:cNvPicPr>
          <p:nvPr/>
        </p:nvPicPr>
        <p:blipFill>
          <a:blip r:embed="rId3"/>
          <a:stretch>
            <a:fillRect/>
          </a:stretch>
        </p:blipFill>
        <p:spPr>
          <a:xfrm>
            <a:off x="1446917" y="845724"/>
            <a:ext cx="6210838" cy="56902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8164"/>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04</a:t>
            </a:r>
          </a:p>
        </p:txBody>
      </p:sp>
      <p:sp>
        <p:nvSpPr>
          <p:cNvPr id="5" name="TextBox 4"/>
          <p:cNvSpPr txBox="1"/>
          <p:nvPr/>
        </p:nvSpPr>
        <p:spPr>
          <a:xfrm>
            <a:off x="640080" y="3063240"/>
            <a:ext cx="10607040" cy="584775"/>
          </a:xfrm>
          <a:prstGeom prst="rect">
            <a:avLst/>
          </a:prstGeom>
          <a:noFill/>
        </p:spPr>
        <p:txBody>
          <a:bodyPr wrap="square" lIns="0" tIns="0" rIns="0" bIns="0">
            <a:spAutoFit/>
          </a:bodyPr>
          <a:lstStyle/>
          <a:p>
            <a:pPr algn="l">
              <a:spcBef>
                <a:spcPts val="0"/>
              </a:spcBef>
              <a:spcAft>
                <a:spcPts val="400"/>
              </a:spcAft>
            </a:pPr>
            <a:r>
              <a:rPr lang="en-GB" sz="3800" b="1" dirty="0">
                <a:solidFill>
                  <a:srgbClr val="FFFFFF"/>
                </a:solidFill>
                <a:latin typeface="Segoe UI Semibold"/>
              </a:rPr>
              <a:t>Entity Relational Diagram</a:t>
            </a:r>
            <a:endParaRPr sz="3800" b="1" i="0" dirty="0">
              <a:solidFill>
                <a:srgbClr val="FFFFFF"/>
              </a:solidFill>
              <a:latin typeface="Segoe UI Semibold"/>
            </a:endParaRP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38" name="TextBox 37"/>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18</a:t>
            </a:r>
          </a:p>
        </p:txBody>
      </p:sp>
      <p:pic>
        <p:nvPicPr>
          <p:cNvPr id="40" name="Picture 39">
            <a:extLst>
              <a:ext uri="{FF2B5EF4-FFF2-40B4-BE49-F238E27FC236}">
                <a16:creationId xmlns:a16="http://schemas.microsoft.com/office/drawing/2014/main" id="{84053476-D3A5-3391-ACB2-43223B6E4AAB}"/>
              </a:ext>
            </a:extLst>
          </p:cNvPr>
          <p:cNvPicPr>
            <a:picLocks noChangeAspect="1"/>
          </p:cNvPicPr>
          <p:nvPr/>
        </p:nvPicPr>
        <p:blipFill>
          <a:blip r:embed="rId3"/>
          <a:stretch>
            <a:fillRect/>
          </a:stretch>
        </p:blipFill>
        <p:spPr>
          <a:xfrm>
            <a:off x="1188982" y="128126"/>
            <a:ext cx="10149577" cy="644437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0" y="16328"/>
            <a:ext cx="12191695" cy="6858000"/>
          </a:xfrm>
          <a:prstGeom prst="rect">
            <a:avLst/>
          </a:prstGeom>
          <a:solidFill>
            <a:srgbClr val="12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880360"/>
            <a:ext cx="210312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874519"/>
            <a:ext cx="3657600" cy="914400"/>
          </a:xfrm>
          <a:prstGeom prst="rect">
            <a:avLst/>
          </a:prstGeom>
          <a:noFill/>
        </p:spPr>
        <p:txBody>
          <a:bodyPr wrap="square" lIns="0" tIns="0" rIns="0" bIns="0">
            <a:spAutoFit/>
          </a:bodyPr>
          <a:lstStyle/>
          <a:p>
            <a:pPr algn="l">
              <a:spcBef>
                <a:spcPts val="0"/>
              </a:spcBef>
              <a:spcAft>
                <a:spcPts val="400"/>
              </a:spcAft>
            </a:pPr>
            <a:r>
              <a:rPr sz="1500" b="1" i="0" spc="220">
                <a:solidFill>
                  <a:srgbClr val="2FA4A9"/>
                </a:solidFill>
                <a:latin typeface="Segoe UI"/>
              </a:rPr>
              <a:t>SECTION 05</a:t>
            </a:r>
          </a:p>
        </p:txBody>
      </p:sp>
      <p:sp>
        <p:nvSpPr>
          <p:cNvPr id="5" name="TextBox 4"/>
          <p:cNvSpPr txBox="1"/>
          <p:nvPr/>
        </p:nvSpPr>
        <p:spPr>
          <a:xfrm>
            <a:off x="640080" y="3063240"/>
            <a:ext cx="10607040" cy="584775"/>
          </a:xfrm>
          <a:prstGeom prst="rect">
            <a:avLst/>
          </a:prstGeom>
          <a:noFill/>
        </p:spPr>
        <p:txBody>
          <a:bodyPr wrap="square" lIns="0" tIns="0" rIns="0" bIns="0">
            <a:spAutoFit/>
          </a:bodyPr>
          <a:lstStyle/>
          <a:p>
            <a:pPr algn="l">
              <a:spcBef>
                <a:spcPts val="0"/>
              </a:spcBef>
              <a:spcAft>
                <a:spcPts val="400"/>
              </a:spcAft>
            </a:pPr>
            <a:r>
              <a:rPr lang="en-GB" sz="3800" b="1" dirty="0">
                <a:solidFill>
                  <a:srgbClr val="FFFFFF"/>
                </a:solidFill>
                <a:latin typeface="Segoe UI Semibold"/>
              </a:rPr>
              <a:t>UX/UI Design</a:t>
            </a:r>
            <a:endParaRPr sz="3800" b="1" i="0" dirty="0">
              <a:solidFill>
                <a:srgbClr val="FFFFFF"/>
              </a:solidFill>
              <a:latin typeface="Segoe UI Semibold"/>
            </a:endParaRPr>
          </a:p>
        </p:txBody>
      </p:sp>
      <p:sp>
        <p:nvSpPr>
          <p:cNvPr id="7" name="TextBox 6"/>
          <p:cNvSpPr txBox="1"/>
          <p:nvPr/>
        </p:nvSpPr>
        <p:spPr>
          <a:xfrm>
            <a:off x="11338560" y="644652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E7F95"/>
                </a:solidFill>
                <a:latin typeface="Segoe UI"/>
              </a:rPr>
              <a:t>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22</a:t>
            </a:r>
          </a:p>
        </p:txBody>
      </p:sp>
      <p:pic>
        <p:nvPicPr>
          <p:cNvPr id="11" name="Picture 10">
            <a:extLst>
              <a:ext uri="{FF2B5EF4-FFF2-40B4-BE49-F238E27FC236}">
                <a16:creationId xmlns:a16="http://schemas.microsoft.com/office/drawing/2014/main" id="{02B6F785-47D8-D563-746B-B901F1896B6D}"/>
              </a:ext>
            </a:extLst>
          </p:cNvPr>
          <p:cNvPicPr>
            <a:picLocks noChangeAspect="1"/>
          </p:cNvPicPr>
          <p:nvPr/>
        </p:nvPicPr>
        <p:blipFill>
          <a:blip r:embed="rId3"/>
          <a:stretch>
            <a:fillRect/>
          </a:stretch>
        </p:blipFill>
        <p:spPr>
          <a:xfrm>
            <a:off x="640080" y="850260"/>
            <a:ext cx="10441298" cy="5062199"/>
          </a:xfrm>
          <a:prstGeom prst="rect">
            <a:avLst/>
          </a:prstGeom>
        </p:spPr>
      </p:pic>
      <p:sp>
        <p:nvSpPr>
          <p:cNvPr id="12" name="TextBox 11">
            <a:extLst>
              <a:ext uri="{FF2B5EF4-FFF2-40B4-BE49-F238E27FC236}">
                <a16:creationId xmlns:a16="http://schemas.microsoft.com/office/drawing/2014/main" id="{259FA929-BCEE-B226-9DB3-2F2AE5F5C757}"/>
              </a:ext>
            </a:extLst>
          </p:cNvPr>
          <p:cNvSpPr txBox="1"/>
          <p:nvPr/>
        </p:nvSpPr>
        <p:spPr>
          <a:xfrm>
            <a:off x="640080" y="403123"/>
            <a:ext cx="3538630" cy="369332"/>
          </a:xfrm>
          <a:prstGeom prst="rect">
            <a:avLst/>
          </a:prstGeom>
          <a:noFill/>
        </p:spPr>
        <p:txBody>
          <a:bodyPr wrap="square" rtlCol="0">
            <a:spAutoFit/>
          </a:bodyPr>
          <a:lstStyle/>
          <a:p>
            <a:r>
              <a:rPr lang="en-GB" dirty="0"/>
              <a:t>Flutter Application</a:t>
            </a:r>
            <a:endParaRPr lang="en-ZA" dirty="0"/>
          </a:p>
        </p:txBody>
      </p:sp>
      <p:sp>
        <p:nvSpPr>
          <p:cNvPr id="13" name="TextBox 12">
            <a:extLst>
              <a:ext uri="{FF2B5EF4-FFF2-40B4-BE49-F238E27FC236}">
                <a16:creationId xmlns:a16="http://schemas.microsoft.com/office/drawing/2014/main" id="{29AF93DB-BC9B-0D71-5F7F-780423F544F5}"/>
              </a:ext>
            </a:extLst>
          </p:cNvPr>
          <p:cNvSpPr txBox="1"/>
          <p:nvPr/>
        </p:nvSpPr>
        <p:spPr>
          <a:xfrm>
            <a:off x="581298" y="5923636"/>
            <a:ext cx="10558862" cy="400110"/>
          </a:xfrm>
          <a:prstGeom prst="rect">
            <a:avLst/>
          </a:prstGeom>
          <a:noFill/>
        </p:spPr>
        <p:txBody>
          <a:bodyPr wrap="square" rtlCol="0">
            <a:spAutoFit/>
          </a:bodyPr>
          <a:lstStyle/>
          <a:p>
            <a:r>
              <a:rPr lang="en-GB" sz="1000" u="sng" dirty="0">
                <a:hlinkClick r:id="rId4"/>
              </a:rPr>
              <a:t>https://www.figma.com/proto/DtQKcA5cbFv7hiG46obRGQ/Setshabelo-Admission-System?node-id=2-3&amp;p=f&amp;t=Gs5yKR4SaZWXt9bd-0&amp;scaling=scale-down&amp;content-scaling=fixed&amp;page-id=0%3A1&amp;starting-point-node-id=2%3A3</a:t>
            </a:r>
            <a:endParaRPr lang="en-ZA"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29" name="TextBox 2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23</a:t>
            </a:r>
          </a:p>
        </p:txBody>
      </p:sp>
      <p:pic>
        <p:nvPicPr>
          <p:cNvPr id="31" name="Picture 30">
            <a:extLst>
              <a:ext uri="{FF2B5EF4-FFF2-40B4-BE49-F238E27FC236}">
                <a16:creationId xmlns:a16="http://schemas.microsoft.com/office/drawing/2014/main" id="{4D487694-B916-EB64-F92B-AF1450BB40F2}"/>
              </a:ext>
            </a:extLst>
          </p:cNvPr>
          <p:cNvPicPr>
            <a:picLocks noChangeAspect="1"/>
          </p:cNvPicPr>
          <p:nvPr/>
        </p:nvPicPr>
        <p:blipFill>
          <a:blip r:embed="rId3"/>
          <a:stretch>
            <a:fillRect/>
          </a:stretch>
        </p:blipFill>
        <p:spPr>
          <a:xfrm>
            <a:off x="640080" y="1005710"/>
            <a:ext cx="10451691" cy="4198374"/>
          </a:xfrm>
          <a:prstGeom prst="rect">
            <a:avLst/>
          </a:prstGeom>
        </p:spPr>
      </p:pic>
      <p:sp>
        <p:nvSpPr>
          <p:cNvPr id="32" name="TextBox 31">
            <a:extLst>
              <a:ext uri="{FF2B5EF4-FFF2-40B4-BE49-F238E27FC236}">
                <a16:creationId xmlns:a16="http://schemas.microsoft.com/office/drawing/2014/main" id="{6853635E-2BBD-6824-4ED3-719B124B3A7B}"/>
              </a:ext>
            </a:extLst>
          </p:cNvPr>
          <p:cNvSpPr txBox="1"/>
          <p:nvPr/>
        </p:nvSpPr>
        <p:spPr>
          <a:xfrm>
            <a:off x="540774" y="491613"/>
            <a:ext cx="3824749" cy="369332"/>
          </a:xfrm>
          <a:prstGeom prst="rect">
            <a:avLst/>
          </a:prstGeom>
          <a:noFill/>
        </p:spPr>
        <p:txBody>
          <a:bodyPr wrap="square" rtlCol="0">
            <a:spAutoFit/>
          </a:bodyPr>
          <a:lstStyle/>
          <a:p>
            <a:r>
              <a:rPr lang="en-GB" dirty="0"/>
              <a:t>ASP.NET Application</a:t>
            </a:r>
            <a:endParaRPr lang="en-ZA" dirty="0"/>
          </a:p>
        </p:txBody>
      </p:sp>
      <p:sp>
        <p:nvSpPr>
          <p:cNvPr id="33" name="TextBox 32">
            <a:extLst>
              <a:ext uri="{FF2B5EF4-FFF2-40B4-BE49-F238E27FC236}">
                <a16:creationId xmlns:a16="http://schemas.microsoft.com/office/drawing/2014/main" id="{753740A3-7E9B-D425-45AD-C8AF99BE865B}"/>
              </a:ext>
            </a:extLst>
          </p:cNvPr>
          <p:cNvSpPr txBox="1"/>
          <p:nvPr/>
        </p:nvSpPr>
        <p:spPr>
          <a:xfrm>
            <a:off x="640080" y="5486400"/>
            <a:ext cx="10451691" cy="400110"/>
          </a:xfrm>
          <a:prstGeom prst="rect">
            <a:avLst/>
          </a:prstGeom>
          <a:noFill/>
        </p:spPr>
        <p:txBody>
          <a:bodyPr wrap="square" rtlCol="0">
            <a:spAutoFit/>
          </a:bodyPr>
          <a:lstStyle/>
          <a:p>
            <a:r>
              <a:rPr lang="en-GB" sz="1000" u="sng" dirty="0">
                <a:hlinkClick r:id="rId4"/>
              </a:rPr>
              <a:t>https://www.figma.com/proto/DtQKcA5cbFv7hiG46obRGQ/Setshabelo-Admission-System?node-id=307-1244&amp;p=f&amp;t=u551uaPYP606NPV4-0&amp;scaling=scale-down&amp;content-scaling=fixed&amp;page-id=22%3A319&amp;starting-point-node-id=307%3A1244</a:t>
            </a:r>
            <a:endParaRPr lang="en-ZA"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9" name="TextBox 8"/>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24</a:t>
            </a:r>
          </a:p>
        </p:txBody>
      </p:sp>
      <p:pic>
        <p:nvPicPr>
          <p:cNvPr id="11" name="Picture 10">
            <a:extLst>
              <a:ext uri="{FF2B5EF4-FFF2-40B4-BE49-F238E27FC236}">
                <a16:creationId xmlns:a16="http://schemas.microsoft.com/office/drawing/2014/main" id="{FEA32279-B484-B719-2302-8F1BED6C640D}"/>
              </a:ext>
            </a:extLst>
          </p:cNvPr>
          <p:cNvPicPr>
            <a:picLocks noChangeAspect="1"/>
          </p:cNvPicPr>
          <p:nvPr/>
        </p:nvPicPr>
        <p:blipFill>
          <a:blip r:embed="rId3"/>
          <a:stretch>
            <a:fillRect/>
          </a:stretch>
        </p:blipFill>
        <p:spPr>
          <a:xfrm>
            <a:off x="1023129" y="742204"/>
            <a:ext cx="10529774" cy="5044640"/>
          </a:xfrm>
          <a:prstGeom prst="rect">
            <a:avLst/>
          </a:prstGeom>
        </p:spPr>
      </p:pic>
      <p:sp>
        <p:nvSpPr>
          <p:cNvPr id="12" name="TextBox 11">
            <a:extLst>
              <a:ext uri="{FF2B5EF4-FFF2-40B4-BE49-F238E27FC236}">
                <a16:creationId xmlns:a16="http://schemas.microsoft.com/office/drawing/2014/main" id="{767658B6-93A7-214C-E78C-E4A7ED3E21BE}"/>
              </a:ext>
            </a:extLst>
          </p:cNvPr>
          <p:cNvSpPr txBox="1"/>
          <p:nvPr/>
        </p:nvSpPr>
        <p:spPr>
          <a:xfrm>
            <a:off x="931544" y="5798020"/>
            <a:ext cx="10529774" cy="400110"/>
          </a:xfrm>
          <a:prstGeom prst="rect">
            <a:avLst/>
          </a:prstGeom>
          <a:noFill/>
        </p:spPr>
        <p:txBody>
          <a:bodyPr wrap="square" rtlCol="0">
            <a:spAutoFit/>
          </a:bodyPr>
          <a:lstStyle/>
          <a:p>
            <a:r>
              <a:rPr lang="en-GB" sz="1000" u="sng" dirty="0">
                <a:hlinkClick r:id="rId4"/>
              </a:rPr>
              <a:t>https://www.figma.com/proto/DtQKcA5cbFv7hiG46obRGQ/Setshabelo-Admission-System?node-id=101-1243&amp;p=f&amp;t=P6thFviGmJ0minRB-0&amp;scaling=min-zoom&amp;content-scaling=fixed&amp;page-id=101%3A1242&amp;starting-point-node-id=101%3A1243</a:t>
            </a:r>
            <a:endParaRPr lang="en-ZA" sz="1000" dirty="0"/>
          </a:p>
        </p:txBody>
      </p:sp>
      <p:sp>
        <p:nvSpPr>
          <p:cNvPr id="13" name="TextBox 12">
            <a:extLst>
              <a:ext uri="{FF2B5EF4-FFF2-40B4-BE49-F238E27FC236}">
                <a16:creationId xmlns:a16="http://schemas.microsoft.com/office/drawing/2014/main" id="{E6A9932B-7B4F-E88C-0D62-E65137FC2F39}"/>
              </a:ext>
            </a:extLst>
          </p:cNvPr>
          <p:cNvSpPr txBox="1"/>
          <p:nvPr/>
        </p:nvSpPr>
        <p:spPr>
          <a:xfrm>
            <a:off x="931544" y="285496"/>
            <a:ext cx="8556585" cy="369332"/>
          </a:xfrm>
          <a:prstGeom prst="rect">
            <a:avLst/>
          </a:prstGeom>
          <a:noFill/>
        </p:spPr>
        <p:txBody>
          <a:bodyPr wrap="square" rtlCol="0">
            <a:spAutoFit/>
          </a:bodyPr>
          <a:lstStyle/>
          <a:p>
            <a:r>
              <a:rPr lang="en-GB" dirty="0"/>
              <a:t>ASP.NET Application: Admin</a:t>
            </a:r>
            <a:endParaRPr lang="en-ZA"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FD495AF-D8E1-463E-877D-3BAD472238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F9B8C2-574B-AC3C-B5DA-9BF90D3F5C26}"/>
              </a:ext>
            </a:extLst>
          </p:cNvPr>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C6DDE98-1497-DC0C-443D-543548E483C7}"/>
              </a:ext>
            </a:extLst>
          </p:cNvPr>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Project Evidence</a:t>
            </a:r>
            <a:endParaRPr sz="2800" b="1" i="0" dirty="0">
              <a:solidFill>
                <a:srgbClr val="202A3A"/>
              </a:solidFill>
              <a:latin typeface="Segoe UI Semibold"/>
            </a:endParaRPr>
          </a:p>
        </p:txBody>
      </p:sp>
      <p:sp>
        <p:nvSpPr>
          <p:cNvPr id="4" name="TextBox 3">
            <a:extLst>
              <a:ext uri="{FF2B5EF4-FFF2-40B4-BE49-F238E27FC236}">
                <a16:creationId xmlns:a16="http://schemas.microsoft.com/office/drawing/2014/main" id="{D1158D9F-1441-FB97-4832-D3E8FC4F9A91}"/>
              </a:ext>
            </a:extLst>
          </p:cNvPr>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lang="en-GB" sz="1300" b="1" spc="180" dirty="0">
                <a:solidFill>
                  <a:srgbClr val="2FA4A9"/>
                </a:solidFill>
                <a:latin typeface="Segoe UI"/>
              </a:rPr>
              <a:t>Strategic Tools - GitHub</a:t>
            </a:r>
            <a:endParaRPr sz="1300" b="1" i="0" spc="180" dirty="0">
              <a:solidFill>
                <a:srgbClr val="2FA4A9"/>
              </a:solidFill>
              <a:latin typeface="Segoe UI"/>
            </a:endParaRPr>
          </a:p>
        </p:txBody>
      </p:sp>
      <p:sp>
        <p:nvSpPr>
          <p:cNvPr id="5" name="Rectangle 4">
            <a:extLst>
              <a:ext uri="{FF2B5EF4-FFF2-40B4-BE49-F238E27FC236}">
                <a16:creationId xmlns:a16="http://schemas.microsoft.com/office/drawing/2014/main" id="{19F1271B-25D3-55A1-5486-B5C76DA1F6F7}"/>
              </a:ext>
            </a:extLst>
          </p:cNvPr>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794A153F-4323-9C12-DD4C-B084ACF230F5}"/>
              </a:ext>
            </a:extLst>
          </p:cNvPr>
          <p:cNvSpPr/>
          <p:nvPr/>
        </p:nvSpPr>
        <p:spPr>
          <a:xfrm>
            <a:off x="640080" y="1508760"/>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7322E002-4CF4-3BD0-021F-BD49FAE9B00B}"/>
              </a:ext>
            </a:extLst>
          </p:cNvPr>
          <p:cNvSpPr/>
          <p:nvPr/>
        </p:nvSpPr>
        <p:spPr>
          <a:xfrm>
            <a:off x="640080" y="1508760"/>
            <a:ext cx="54864" cy="2331720"/>
          </a:xfrm>
          <a:prstGeom prst="rect">
            <a:avLst/>
          </a:prstGeom>
          <a:solidFill>
            <a:srgbClr val="249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8C14DED4-E591-01D1-EB52-E047BCF3A692}"/>
              </a:ext>
            </a:extLst>
          </p:cNvPr>
          <p:cNvSpPr/>
          <p:nvPr/>
        </p:nvSpPr>
        <p:spPr>
          <a:xfrm>
            <a:off x="6217920" y="1508760"/>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594D0D1-1C92-56DA-90A3-2B372BCEC9F8}"/>
              </a:ext>
            </a:extLst>
          </p:cNvPr>
          <p:cNvSpPr/>
          <p:nvPr/>
        </p:nvSpPr>
        <p:spPr>
          <a:xfrm>
            <a:off x="6217920" y="1508760"/>
            <a:ext cx="54864" cy="2331720"/>
          </a:xfrm>
          <a:prstGeom prst="rect">
            <a:avLst/>
          </a:prstGeom>
          <a:solidFill>
            <a:srgbClr val="E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a:extLst>
              <a:ext uri="{FF2B5EF4-FFF2-40B4-BE49-F238E27FC236}">
                <a16:creationId xmlns:a16="http://schemas.microsoft.com/office/drawing/2014/main" id="{AF721E85-C795-7BD0-9334-A1764E54A145}"/>
              </a:ext>
            </a:extLst>
          </p:cNvPr>
          <p:cNvSpPr/>
          <p:nvPr/>
        </p:nvSpPr>
        <p:spPr>
          <a:xfrm>
            <a:off x="640080" y="4041648"/>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FB630916-22A7-2454-53EC-B2DC48065BFD}"/>
              </a:ext>
            </a:extLst>
          </p:cNvPr>
          <p:cNvSpPr/>
          <p:nvPr/>
        </p:nvSpPr>
        <p:spPr>
          <a:xfrm>
            <a:off x="640080" y="4041648"/>
            <a:ext cx="54864" cy="2331720"/>
          </a:xfrm>
          <a:prstGeom prst="rect">
            <a:avLst/>
          </a:prstGeom>
          <a:solidFill>
            <a:srgbClr val="1E7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6A393FAD-757A-9397-16A5-D04E24F92BC3}"/>
              </a:ext>
            </a:extLst>
          </p:cNvPr>
          <p:cNvSpPr/>
          <p:nvPr/>
        </p:nvSpPr>
        <p:spPr>
          <a:xfrm>
            <a:off x="6217920" y="4041648"/>
            <a:ext cx="5303520" cy="2331720"/>
          </a:xfrm>
          <a:prstGeom prst="roundRect">
            <a:avLst>
              <a:gd name="adj" fmla="val 7000"/>
            </a:avLst>
          </a:prstGeom>
          <a:solidFill>
            <a:srgbClr val="ECF1F6"/>
          </a:solidFill>
          <a:ln w="9525">
            <a:solidFill>
              <a:srgbClr val="D5DF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1672B047-86DB-A398-F388-36B7F6C4A99F}"/>
              </a:ext>
            </a:extLst>
          </p:cNvPr>
          <p:cNvSpPr/>
          <p:nvPr/>
        </p:nvSpPr>
        <p:spPr>
          <a:xfrm>
            <a:off x="6217920" y="4041648"/>
            <a:ext cx="54864" cy="2331720"/>
          </a:xfrm>
          <a:prstGeom prst="rect">
            <a:avLst/>
          </a:prstGeom>
          <a:solidFill>
            <a:srgbClr val="D9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668F6089-C5A0-7B11-4A2C-78F49281F51E}"/>
              </a:ext>
            </a:extLst>
          </p:cNvPr>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8E94BB0-4DD4-A78A-DAD7-60414301526F}"/>
              </a:ext>
            </a:extLst>
          </p:cNvPr>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24" name="TextBox 23">
            <a:extLst>
              <a:ext uri="{FF2B5EF4-FFF2-40B4-BE49-F238E27FC236}">
                <a16:creationId xmlns:a16="http://schemas.microsoft.com/office/drawing/2014/main" id="{4BD1B41E-53F5-733A-ACC2-BBD9860A5E2D}"/>
              </a:ext>
            </a:extLst>
          </p:cNvPr>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25</a:t>
            </a:r>
          </a:p>
        </p:txBody>
      </p:sp>
      <p:pic>
        <p:nvPicPr>
          <p:cNvPr id="25" name="Picture 24">
            <a:extLst>
              <a:ext uri="{FF2B5EF4-FFF2-40B4-BE49-F238E27FC236}">
                <a16:creationId xmlns:a16="http://schemas.microsoft.com/office/drawing/2014/main" id="{EF8B011C-F877-87C9-F680-88287E04C61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080" y="1508760"/>
            <a:ext cx="10881360" cy="4864608"/>
          </a:xfrm>
          <a:prstGeom prst="rect">
            <a:avLst/>
          </a:prstGeom>
          <a:noFill/>
          <a:ln>
            <a:noFill/>
          </a:ln>
        </p:spPr>
      </p:pic>
    </p:spTree>
    <p:extLst>
      <p:ext uri="{BB962C8B-B14F-4D97-AF65-F5344CB8AC3E}">
        <p14:creationId xmlns:p14="http://schemas.microsoft.com/office/powerpoint/2010/main" val="3960320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6098F5C-9F72-9C1B-C4C1-48ACA268D9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622C3C4-BD80-4C27-4358-21BCAB69C54D}"/>
              </a:ext>
            </a:extLst>
          </p:cNvPr>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FAC36FF-DFD6-AA86-0FC9-8546D7D6D0F4}"/>
              </a:ext>
            </a:extLst>
          </p:cNvPr>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Project Evidence</a:t>
            </a:r>
            <a:endParaRPr sz="2800" b="1" i="0" dirty="0">
              <a:solidFill>
                <a:srgbClr val="202A3A"/>
              </a:solidFill>
              <a:latin typeface="Segoe UI Semibold"/>
            </a:endParaRPr>
          </a:p>
        </p:txBody>
      </p:sp>
      <p:sp>
        <p:nvSpPr>
          <p:cNvPr id="4" name="TextBox 3">
            <a:extLst>
              <a:ext uri="{FF2B5EF4-FFF2-40B4-BE49-F238E27FC236}">
                <a16:creationId xmlns:a16="http://schemas.microsoft.com/office/drawing/2014/main" id="{84D0C944-165F-5B32-27E3-CBF00EE2F9E4}"/>
              </a:ext>
            </a:extLst>
          </p:cNvPr>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lang="en-GB" sz="1300" b="1" spc="180" dirty="0">
                <a:solidFill>
                  <a:srgbClr val="2FA4A9"/>
                </a:solidFill>
                <a:latin typeface="Segoe UI"/>
              </a:rPr>
              <a:t>Strategic Tools - Supabase</a:t>
            </a:r>
            <a:endParaRPr sz="1300" b="1" i="0" spc="180" dirty="0">
              <a:solidFill>
                <a:srgbClr val="2FA4A9"/>
              </a:solidFill>
              <a:latin typeface="Segoe UI"/>
            </a:endParaRPr>
          </a:p>
        </p:txBody>
      </p:sp>
      <p:sp>
        <p:nvSpPr>
          <p:cNvPr id="5" name="Rectangle 4">
            <a:extLst>
              <a:ext uri="{FF2B5EF4-FFF2-40B4-BE49-F238E27FC236}">
                <a16:creationId xmlns:a16="http://schemas.microsoft.com/office/drawing/2014/main" id="{F51F7316-9871-7C90-E144-258BD41D4322}"/>
              </a:ext>
            </a:extLst>
          </p:cNvPr>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26DB9F77-697B-79EA-68A5-5DED8B36E7A3}"/>
              </a:ext>
            </a:extLst>
          </p:cNvPr>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296C5D0-CB2A-5FDB-D31E-A9704EFFD44C}"/>
              </a:ext>
            </a:extLst>
          </p:cNvPr>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24" name="TextBox 23">
            <a:extLst>
              <a:ext uri="{FF2B5EF4-FFF2-40B4-BE49-F238E27FC236}">
                <a16:creationId xmlns:a16="http://schemas.microsoft.com/office/drawing/2014/main" id="{330E00F8-2C58-4FE0-A49D-340E2CA5AE53}"/>
              </a:ext>
            </a:extLst>
          </p:cNvPr>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25</a:t>
            </a:r>
          </a:p>
        </p:txBody>
      </p:sp>
      <p:pic>
        <p:nvPicPr>
          <p:cNvPr id="9" name="Picture 8">
            <a:extLst>
              <a:ext uri="{FF2B5EF4-FFF2-40B4-BE49-F238E27FC236}">
                <a16:creationId xmlns:a16="http://schemas.microsoft.com/office/drawing/2014/main" id="{8BD798E1-F26A-647E-0BC4-17E8A41DB0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0080" y="1394459"/>
            <a:ext cx="11001313" cy="4975509"/>
          </a:xfrm>
          <a:prstGeom prst="rect">
            <a:avLst/>
          </a:prstGeom>
        </p:spPr>
      </p:pic>
    </p:spTree>
    <p:extLst>
      <p:ext uri="{BB962C8B-B14F-4D97-AF65-F5344CB8AC3E}">
        <p14:creationId xmlns:p14="http://schemas.microsoft.com/office/powerpoint/2010/main" val="2280900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253934-A642-A482-EE97-E7665CF6A7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5CDD38-0A34-DFCF-E8F4-74CAAE2DF674}"/>
              </a:ext>
            </a:extLst>
          </p:cNvPr>
          <p:cNvSpPr/>
          <p:nvPr/>
        </p:nvSpPr>
        <p:spPr>
          <a:xfrm>
            <a:off x="0" y="0"/>
            <a:ext cx="201168" cy="68580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F400739-15E1-E03A-6A30-D1BDE1D38058}"/>
              </a:ext>
            </a:extLst>
          </p:cNvPr>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Project Evidence</a:t>
            </a:r>
            <a:endParaRPr sz="2800" b="1" i="0" dirty="0">
              <a:solidFill>
                <a:srgbClr val="202A3A"/>
              </a:solidFill>
              <a:latin typeface="Segoe UI Semibold"/>
            </a:endParaRPr>
          </a:p>
        </p:txBody>
      </p:sp>
      <p:sp>
        <p:nvSpPr>
          <p:cNvPr id="4" name="TextBox 3">
            <a:extLst>
              <a:ext uri="{FF2B5EF4-FFF2-40B4-BE49-F238E27FC236}">
                <a16:creationId xmlns:a16="http://schemas.microsoft.com/office/drawing/2014/main" id="{66328E1E-0309-D36E-1C80-E01B84298791}"/>
              </a:ext>
            </a:extLst>
          </p:cNvPr>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lang="en-GB" sz="1300" b="1" spc="180" dirty="0">
                <a:solidFill>
                  <a:srgbClr val="2FA4A9"/>
                </a:solidFill>
                <a:latin typeface="Segoe UI"/>
              </a:rPr>
              <a:t>Strategic Tools – Microsoft Project</a:t>
            </a:r>
            <a:endParaRPr sz="1300" b="1" i="0" spc="180" dirty="0">
              <a:solidFill>
                <a:srgbClr val="2FA4A9"/>
              </a:solidFill>
              <a:latin typeface="Segoe UI"/>
            </a:endParaRPr>
          </a:p>
        </p:txBody>
      </p:sp>
      <p:sp>
        <p:nvSpPr>
          <p:cNvPr id="5" name="Rectangle 4">
            <a:extLst>
              <a:ext uri="{FF2B5EF4-FFF2-40B4-BE49-F238E27FC236}">
                <a16:creationId xmlns:a16="http://schemas.microsoft.com/office/drawing/2014/main" id="{027CDD81-207D-B153-5EE3-FD88D5542032}"/>
              </a:ext>
            </a:extLst>
          </p:cNvPr>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C1CEA47F-C9C9-1924-5363-F37A5C26D724}"/>
              </a:ext>
            </a:extLst>
          </p:cNvPr>
          <p:cNvSpPr/>
          <p:nvPr/>
        </p:nvSpPr>
        <p:spPr>
          <a:xfrm>
            <a:off x="0" y="6547104"/>
            <a:ext cx="12191695" cy="2540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BBE1A979-1BEE-2D29-8EAC-A1C34F6E217A}"/>
              </a:ext>
            </a:extLst>
          </p:cNvPr>
          <p:cNvSpPr txBox="1"/>
          <p:nvPr/>
        </p:nvSpPr>
        <p:spPr>
          <a:xfrm>
            <a:off x="640080" y="6583680"/>
            <a:ext cx="7315200" cy="146194"/>
          </a:xfrm>
          <a:prstGeom prst="rect">
            <a:avLst/>
          </a:prstGeom>
          <a:noFill/>
        </p:spPr>
        <p:txBody>
          <a:bodyPr wrap="square" lIns="0" tIns="0" rIns="0" bIns="0">
            <a:spAutoFit/>
          </a:bodyPr>
          <a:lstStyle/>
          <a:p>
            <a:pPr>
              <a:spcAft>
                <a:spcPts val="400"/>
              </a:spcAft>
            </a:pPr>
            <a:r>
              <a:rPr lang="en-US" sz="950" dirty="0">
                <a:solidFill>
                  <a:srgbClr val="637182"/>
                </a:solidFill>
                <a:latin typeface="Segoe UI"/>
              </a:rPr>
              <a:t>Setshabelo Admission System  |  Phase 2 Presentation</a:t>
            </a:r>
          </a:p>
        </p:txBody>
      </p:sp>
      <p:sp>
        <p:nvSpPr>
          <p:cNvPr id="24" name="TextBox 23">
            <a:extLst>
              <a:ext uri="{FF2B5EF4-FFF2-40B4-BE49-F238E27FC236}">
                <a16:creationId xmlns:a16="http://schemas.microsoft.com/office/drawing/2014/main" id="{656410F2-CA03-1C12-ACFC-EB9833A10373}"/>
              </a:ext>
            </a:extLst>
          </p:cNvPr>
          <p:cNvSpPr txBox="1"/>
          <p:nvPr/>
        </p:nvSpPr>
        <p:spPr>
          <a:xfrm>
            <a:off x="11338560" y="6583680"/>
            <a:ext cx="640080" cy="256032"/>
          </a:xfrm>
          <a:prstGeom prst="rect">
            <a:avLst/>
          </a:prstGeom>
          <a:noFill/>
        </p:spPr>
        <p:txBody>
          <a:bodyPr wrap="square" lIns="0" tIns="0" rIns="0" bIns="0">
            <a:spAutoFit/>
          </a:bodyPr>
          <a:lstStyle/>
          <a:p>
            <a:pPr algn="r">
              <a:spcBef>
                <a:spcPts val="0"/>
              </a:spcBef>
              <a:spcAft>
                <a:spcPts val="400"/>
              </a:spcAft>
            </a:pPr>
            <a:r>
              <a:rPr sz="950" b="0" i="0">
                <a:solidFill>
                  <a:srgbClr val="637182"/>
                </a:solidFill>
                <a:latin typeface="Segoe UI"/>
              </a:rPr>
              <a:t>25</a:t>
            </a:r>
          </a:p>
        </p:txBody>
      </p:sp>
      <p:pic>
        <p:nvPicPr>
          <p:cNvPr id="8" name="Picture 7">
            <a:extLst>
              <a:ext uri="{FF2B5EF4-FFF2-40B4-BE49-F238E27FC236}">
                <a16:creationId xmlns:a16="http://schemas.microsoft.com/office/drawing/2014/main" id="{21BA1A92-28D8-C730-66C0-B85B114BD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 y="1435511"/>
            <a:ext cx="10362217" cy="4589218"/>
          </a:xfrm>
          <a:prstGeom prst="rect">
            <a:avLst/>
          </a:prstGeom>
        </p:spPr>
      </p:pic>
    </p:spTree>
    <p:extLst>
      <p:ext uri="{BB962C8B-B14F-4D97-AF65-F5344CB8AC3E}">
        <p14:creationId xmlns:p14="http://schemas.microsoft.com/office/powerpoint/2010/main" val="2000850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E3AE8A-7F4E-17AB-5123-22723223F9DB}"/>
              </a:ext>
            </a:extLst>
          </p:cNvPr>
          <p:cNvPicPr>
            <a:picLocks noChangeAspect="1"/>
          </p:cNvPicPr>
          <p:nvPr/>
        </p:nvPicPr>
        <p:blipFill>
          <a:blip r:embed="rId2"/>
          <a:stretch>
            <a:fillRect/>
          </a:stretch>
        </p:blipFill>
        <p:spPr>
          <a:xfrm>
            <a:off x="897529" y="1648799"/>
            <a:ext cx="10040635" cy="4765747"/>
          </a:xfrm>
          <a:prstGeom prst="rect">
            <a:avLst/>
          </a:prstGeom>
        </p:spPr>
      </p:pic>
      <p:sp>
        <p:nvSpPr>
          <p:cNvPr id="5" name="TextBox 4">
            <a:extLst>
              <a:ext uri="{FF2B5EF4-FFF2-40B4-BE49-F238E27FC236}">
                <a16:creationId xmlns:a16="http://schemas.microsoft.com/office/drawing/2014/main" id="{67DA6A2B-4AD8-2AE0-B3B4-F30DE5AF4A22}"/>
              </a:ext>
            </a:extLst>
          </p:cNvPr>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Project Evidence</a:t>
            </a:r>
            <a:endParaRPr sz="2800" b="1" i="0" dirty="0">
              <a:solidFill>
                <a:srgbClr val="202A3A"/>
              </a:solidFill>
              <a:latin typeface="Segoe UI Semibold"/>
            </a:endParaRPr>
          </a:p>
        </p:txBody>
      </p:sp>
      <p:sp>
        <p:nvSpPr>
          <p:cNvPr id="7" name="TextBox 6">
            <a:extLst>
              <a:ext uri="{FF2B5EF4-FFF2-40B4-BE49-F238E27FC236}">
                <a16:creationId xmlns:a16="http://schemas.microsoft.com/office/drawing/2014/main" id="{B5400F83-8C2D-C8A9-0202-0927D024795B}"/>
              </a:ext>
            </a:extLst>
          </p:cNvPr>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lang="en-GB" sz="1300" b="1" spc="180" dirty="0">
                <a:solidFill>
                  <a:srgbClr val="2FA4A9"/>
                </a:solidFill>
                <a:latin typeface="Segoe UI"/>
              </a:rPr>
              <a:t>Strategic Tools – Microsoft Project</a:t>
            </a:r>
            <a:endParaRPr sz="1300" b="1" i="0" spc="180" dirty="0">
              <a:solidFill>
                <a:srgbClr val="2FA4A9"/>
              </a:solidFill>
              <a:latin typeface="Segoe UI"/>
            </a:endParaRPr>
          </a:p>
        </p:txBody>
      </p:sp>
      <p:sp>
        <p:nvSpPr>
          <p:cNvPr id="9" name="Rectangle 8">
            <a:extLst>
              <a:ext uri="{FF2B5EF4-FFF2-40B4-BE49-F238E27FC236}">
                <a16:creationId xmlns:a16="http://schemas.microsoft.com/office/drawing/2014/main" id="{A24911DC-31D5-931A-A0B7-C145F7FB8F9F}"/>
              </a:ext>
            </a:extLst>
          </p:cNvPr>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08335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333190-61B5-22C6-25DE-EB834AA6C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50" y="1887794"/>
            <a:ext cx="5524500" cy="4501576"/>
          </a:xfrm>
          <a:prstGeom prst="rect">
            <a:avLst/>
          </a:prstGeom>
        </p:spPr>
      </p:pic>
      <p:sp>
        <p:nvSpPr>
          <p:cNvPr id="4" name="TextBox 3">
            <a:extLst>
              <a:ext uri="{FF2B5EF4-FFF2-40B4-BE49-F238E27FC236}">
                <a16:creationId xmlns:a16="http://schemas.microsoft.com/office/drawing/2014/main" id="{F673934A-564B-9BAB-28D3-94C760B9E69D}"/>
              </a:ext>
            </a:extLst>
          </p:cNvPr>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Project Evidence</a:t>
            </a:r>
            <a:endParaRPr sz="2800" b="1" i="0" dirty="0">
              <a:solidFill>
                <a:srgbClr val="202A3A"/>
              </a:solidFill>
              <a:latin typeface="Segoe UI Semibold"/>
            </a:endParaRPr>
          </a:p>
        </p:txBody>
      </p:sp>
      <p:sp>
        <p:nvSpPr>
          <p:cNvPr id="6" name="TextBox 5">
            <a:extLst>
              <a:ext uri="{FF2B5EF4-FFF2-40B4-BE49-F238E27FC236}">
                <a16:creationId xmlns:a16="http://schemas.microsoft.com/office/drawing/2014/main" id="{A5B0EC30-D5B6-BC65-6892-18BC35E4DD01}"/>
              </a:ext>
            </a:extLst>
          </p:cNvPr>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lang="en-GB" sz="1300" b="1" spc="180" dirty="0">
                <a:solidFill>
                  <a:srgbClr val="2FA4A9"/>
                </a:solidFill>
                <a:latin typeface="Segoe UI"/>
              </a:rPr>
              <a:t>Design Confirmation Letter</a:t>
            </a:r>
            <a:endParaRPr sz="1300" b="1" i="0" spc="180" dirty="0">
              <a:solidFill>
                <a:srgbClr val="2FA4A9"/>
              </a:solidFill>
              <a:latin typeface="Segoe UI"/>
            </a:endParaRPr>
          </a:p>
        </p:txBody>
      </p:sp>
      <p:sp>
        <p:nvSpPr>
          <p:cNvPr id="8" name="Rectangle 7">
            <a:extLst>
              <a:ext uri="{FF2B5EF4-FFF2-40B4-BE49-F238E27FC236}">
                <a16:creationId xmlns:a16="http://schemas.microsoft.com/office/drawing/2014/main" id="{49353F76-F0AA-E015-557B-9266B4EA2155}"/>
              </a:ext>
            </a:extLst>
          </p:cNvPr>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764051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25E406-EFED-F14D-9A25-6A4089B440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4690" y="1700982"/>
            <a:ext cx="5722620" cy="5092248"/>
          </a:xfrm>
          <a:prstGeom prst="rect">
            <a:avLst/>
          </a:prstGeom>
          <a:noFill/>
          <a:ln>
            <a:noFill/>
          </a:ln>
        </p:spPr>
      </p:pic>
      <p:sp>
        <p:nvSpPr>
          <p:cNvPr id="4" name="TextBox 3">
            <a:extLst>
              <a:ext uri="{FF2B5EF4-FFF2-40B4-BE49-F238E27FC236}">
                <a16:creationId xmlns:a16="http://schemas.microsoft.com/office/drawing/2014/main" id="{51C51D79-5DED-3858-84C5-320FA45B542B}"/>
              </a:ext>
            </a:extLst>
          </p:cNvPr>
          <p:cNvSpPr txBox="1"/>
          <p:nvPr/>
        </p:nvSpPr>
        <p:spPr>
          <a:xfrm>
            <a:off x="640080" y="384048"/>
            <a:ext cx="10881360" cy="430887"/>
          </a:xfrm>
          <a:prstGeom prst="rect">
            <a:avLst/>
          </a:prstGeom>
          <a:noFill/>
        </p:spPr>
        <p:txBody>
          <a:bodyPr wrap="square" lIns="0" tIns="0" rIns="0" bIns="0">
            <a:spAutoFit/>
          </a:bodyPr>
          <a:lstStyle/>
          <a:p>
            <a:pPr algn="l">
              <a:spcBef>
                <a:spcPts val="0"/>
              </a:spcBef>
              <a:spcAft>
                <a:spcPts val="400"/>
              </a:spcAft>
            </a:pPr>
            <a:r>
              <a:rPr lang="en-GB" sz="2800" b="1" dirty="0">
                <a:solidFill>
                  <a:srgbClr val="202A3A"/>
                </a:solidFill>
                <a:latin typeface="Segoe UI Semibold"/>
              </a:rPr>
              <a:t>Project Evidence</a:t>
            </a:r>
            <a:endParaRPr sz="2800" b="1" i="0" dirty="0">
              <a:solidFill>
                <a:srgbClr val="202A3A"/>
              </a:solidFill>
              <a:latin typeface="Segoe UI Semibold"/>
            </a:endParaRPr>
          </a:p>
        </p:txBody>
      </p:sp>
      <p:sp>
        <p:nvSpPr>
          <p:cNvPr id="6" name="TextBox 5">
            <a:extLst>
              <a:ext uri="{FF2B5EF4-FFF2-40B4-BE49-F238E27FC236}">
                <a16:creationId xmlns:a16="http://schemas.microsoft.com/office/drawing/2014/main" id="{0A66ECD0-CFB4-AE71-E498-4C8BEB17F3F2}"/>
              </a:ext>
            </a:extLst>
          </p:cNvPr>
          <p:cNvSpPr txBox="1"/>
          <p:nvPr/>
        </p:nvSpPr>
        <p:spPr>
          <a:xfrm>
            <a:off x="640080" y="960120"/>
            <a:ext cx="7315200" cy="200055"/>
          </a:xfrm>
          <a:prstGeom prst="rect">
            <a:avLst/>
          </a:prstGeom>
          <a:noFill/>
        </p:spPr>
        <p:txBody>
          <a:bodyPr wrap="square" lIns="0" tIns="0" rIns="0" bIns="0">
            <a:spAutoFit/>
          </a:bodyPr>
          <a:lstStyle/>
          <a:p>
            <a:pPr algn="l">
              <a:spcBef>
                <a:spcPts val="0"/>
              </a:spcBef>
              <a:spcAft>
                <a:spcPts val="400"/>
              </a:spcAft>
            </a:pPr>
            <a:r>
              <a:rPr lang="en-GB" sz="1300" b="1" spc="180" dirty="0">
                <a:solidFill>
                  <a:srgbClr val="2FA4A9"/>
                </a:solidFill>
                <a:latin typeface="Segoe UI"/>
              </a:rPr>
              <a:t>Stakeholder Meeting</a:t>
            </a:r>
            <a:endParaRPr sz="1300" b="1" i="0" spc="180" dirty="0">
              <a:solidFill>
                <a:srgbClr val="2FA4A9"/>
              </a:solidFill>
              <a:latin typeface="Segoe UI"/>
            </a:endParaRPr>
          </a:p>
        </p:txBody>
      </p:sp>
      <p:sp>
        <p:nvSpPr>
          <p:cNvPr id="8" name="Rectangle 7">
            <a:extLst>
              <a:ext uri="{FF2B5EF4-FFF2-40B4-BE49-F238E27FC236}">
                <a16:creationId xmlns:a16="http://schemas.microsoft.com/office/drawing/2014/main" id="{456B0F6B-F389-3C88-A43A-FA425E3CC0C0}"/>
              </a:ext>
            </a:extLst>
          </p:cNvPr>
          <p:cNvSpPr/>
          <p:nvPr/>
        </p:nvSpPr>
        <p:spPr>
          <a:xfrm>
            <a:off x="640080" y="1280160"/>
            <a:ext cx="594360" cy="5715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131656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2" name="Rectangle 1"/>
          <p:cNvSpPr/>
          <p:nvPr/>
        </p:nvSpPr>
        <p:spPr>
          <a:xfrm>
            <a:off x="640080" y="1920240"/>
            <a:ext cx="1005840" cy="63500"/>
          </a:xfrm>
          <a:prstGeom prst="rect">
            <a:avLst/>
          </a:prstGeom>
          <a:solidFill>
            <a:srgbClr val="2FA4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148840"/>
            <a:ext cx="10515600" cy="914400"/>
          </a:xfrm>
          <a:prstGeom prst="rect">
            <a:avLst/>
          </a:prstGeom>
          <a:noFill/>
        </p:spPr>
        <p:txBody>
          <a:bodyPr wrap="square" lIns="0" tIns="0" rIns="0" bIns="0">
            <a:spAutoFit/>
          </a:bodyPr>
          <a:lstStyle/>
          <a:p>
            <a:pPr algn="l">
              <a:spcBef>
                <a:spcPts val="0"/>
              </a:spcBef>
              <a:spcAft>
                <a:spcPts val="400"/>
              </a:spcAft>
            </a:pPr>
            <a:r>
              <a:rPr sz="4000" b="1" i="0">
                <a:solidFill>
                  <a:srgbClr val="FFFFFF"/>
                </a:solidFill>
                <a:latin typeface="Segoe UI Semibold"/>
              </a:rPr>
              <a:t>Thank You</a:t>
            </a:r>
          </a:p>
        </p:txBody>
      </p:sp>
      <p:sp>
        <p:nvSpPr>
          <p:cNvPr id="4" name="TextBox 3"/>
          <p:cNvSpPr txBox="1"/>
          <p:nvPr/>
        </p:nvSpPr>
        <p:spPr>
          <a:xfrm>
            <a:off x="640080" y="2926080"/>
            <a:ext cx="10058400" cy="548640"/>
          </a:xfrm>
          <a:prstGeom prst="rect">
            <a:avLst/>
          </a:prstGeom>
          <a:noFill/>
        </p:spPr>
        <p:txBody>
          <a:bodyPr wrap="square" lIns="0" tIns="0" rIns="0" bIns="0">
            <a:spAutoFit/>
          </a:bodyPr>
          <a:lstStyle/>
          <a:p>
            <a:pPr algn="l">
              <a:spcBef>
                <a:spcPts val="0"/>
              </a:spcBef>
              <a:spcAft>
                <a:spcPts val="400"/>
              </a:spcAft>
            </a:pPr>
            <a:r>
              <a:rPr sz="1700" b="0" i="0">
                <a:solidFill>
                  <a:srgbClr val="C9D6E4"/>
                </a:solidFill>
                <a:latin typeface="Segoe UI"/>
              </a:rPr>
              <a:t>Questions &amp; Discussion</a:t>
            </a:r>
          </a:p>
        </p:txBody>
      </p:sp>
      <p:sp>
        <p:nvSpPr>
          <p:cNvPr id="5" name="TextBox 4"/>
          <p:cNvSpPr txBox="1"/>
          <p:nvPr/>
        </p:nvSpPr>
        <p:spPr>
          <a:xfrm>
            <a:off x="640080" y="3977639"/>
            <a:ext cx="5120640" cy="2011680"/>
          </a:xfrm>
          <a:prstGeom prst="rect">
            <a:avLst/>
          </a:prstGeom>
          <a:noFill/>
        </p:spPr>
        <p:txBody>
          <a:bodyPr wrap="square" lIns="0" tIns="0" rIns="0" bIns="0">
            <a:spAutoFit/>
          </a:bodyPr>
          <a:lstStyle/>
          <a:p>
            <a:pPr algn="l">
              <a:spcBef>
                <a:spcPts val="0"/>
              </a:spcBef>
              <a:spcAft>
                <a:spcPts val="800"/>
              </a:spcAft>
            </a:pPr>
            <a:r>
              <a:rPr sz="1150" b="1" i="0" spc="150">
                <a:solidFill>
                  <a:srgbClr val="2FA4A9"/>
                </a:solidFill>
                <a:latin typeface="Segoe UI"/>
              </a:rPr>
              <a:t>GROUP 0 · SECRET DESIGN</a:t>
            </a:r>
          </a:p>
          <a:p>
            <a:pPr algn="l">
              <a:spcBef>
                <a:spcPts val="0"/>
              </a:spcBef>
              <a:spcAft>
                <a:spcPts val="400"/>
              </a:spcAft>
            </a:pPr>
            <a:r>
              <a:rPr sz="1300" b="0" i="0">
                <a:solidFill>
                  <a:srgbClr val="DDE6F0"/>
                </a:solidFill>
                <a:latin typeface="Segoe UI"/>
              </a:rPr>
              <a:t>Relebohile Thito</a:t>
            </a:r>
          </a:p>
          <a:p>
            <a:pPr algn="l">
              <a:spcBef>
                <a:spcPts val="0"/>
              </a:spcBef>
              <a:spcAft>
                <a:spcPts val="400"/>
              </a:spcAft>
            </a:pPr>
            <a:r>
              <a:rPr sz="1300" b="0" i="0">
                <a:solidFill>
                  <a:srgbClr val="DDE6F0"/>
                </a:solidFill>
                <a:latin typeface="Segoe UI"/>
              </a:rPr>
              <a:t>Lebohang Molise</a:t>
            </a:r>
          </a:p>
          <a:p>
            <a:pPr algn="l">
              <a:spcBef>
                <a:spcPts val="0"/>
              </a:spcBef>
              <a:spcAft>
                <a:spcPts val="400"/>
              </a:spcAft>
            </a:pPr>
            <a:r>
              <a:rPr sz="1300" b="0" i="0">
                <a:solidFill>
                  <a:srgbClr val="DDE6F0"/>
                </a:solidFill>
                <a:latin typeface="Segoe UI"/>
              </a:rPr>
              <a:t>Tshepo M Masimong</a:t>
            </a:r>
          </a:p>
          <a:p>
            <a:pPr algn="l">
              <a:spcBef>
                <a:spcPts val="0"/>
              </a:spcBef>
              <a:spcAft>
                <a:spcPts val="400"/>
              </a:spcAft>
            </a:pPr>
            <a:r>
              <a:rPr sz="1300" b="0" i="0">
                <a:solidFill>
                  <a:srgbClr val="DDE6F0"/>
                </a:solidFill>
                <a:latin typeface="Segoe UI"/>
              </a:rPr>
              <a:t>Lonwabo Sifumba</a:t>
            </a:r>
          </a:p>
          <a:p>
            <a:pPr algn="l">
              <a:spcBef>
                <a:spcPts val="0"/>
              </a:spcBef>
              <a:spcAft>
                <a:spcPts val="400"/>
              </a:spcAft>
            </a:pPr>
            <a:r>
              <a:rPr sz="1300" b="0" i="0">
                <a:solidFill>
                  <a:srgbClr val="DDE6F0"/>
                </a:solidFill>
                <a:latin typeface="Segoe UI"/>
              </a:rPr>
              <a:t>Andries M Matona</a:t>
            </a:r>
          </a:p>
          <a:p>
            <a:pPr algn="l">
              <a:spcBef>
                <a:spcPts val="0"/>
              </a:spcBef>
              <a:spcAft>
                <a:spcPts val="400"/>
              </a:spcAft>
            </a:pPr>
            <a:r>
              <a:rPr sz="1300" b="0" i="0">
                <a:solidFill>
                  <a:srgbClr val="DDE6F0"/>
                </a:solidFill>
                <a:latin typeface="Segoe UI"/>
              </a:rPr>
              <a:t>Njabulo R.A Mthethwa</a:t>
            </a:r>
          </a:p>
        </p:txBody>
      </p:sp>
      <p:sp>
        <p:nvSpPr>
          <p:cNvPr id="6" name="TextBox 5"/>
          <p:cNvSpPr txBox="1"/>
          <p:nvPr/>
        </p:nvSpPr>
        <p:spPr>
          <a:xfrm>
            <a:off x="5543550" y="3977639"/>
            <a:ext cx="5977890" cy="1172116"/>
          </a:xfrm>
          <a:prstGeom prst="rect">
            <a:avLst/>
          </a:prstGeom>
          <a:noFill/>
        </p:spPr>
        <p:txBody>
          <a:bodyPr wrap="square" lIns="0" tIns="0" rIns="0" bIns="0">
            <a:spAutoFit/>
          </a:bodyPr>
          <a:lstStyle/>
          <a:p>
            <a:pPr algn="l">
              <a:spcBef>
                <a:spcPts val="0"/>
              </a:spcBef>
              <a:spcAft>
                <a:spcPts val="800"/>
              </a:spcAft>
            </a:pPr>
            <a:r>
              <a:rPr sz="1150" b="1" i="0" spc="150" dirty="0">
                <a:solidFill>
                  <a:srgbClr val="2FA4A9"/>
                </a:solidFill>
                <a:latin typeface="Segoe UI"/>
              </a:rPr>
              <a:t>PROJECT EVIDENCE</a:t>
            </a:r>
          </a:p>
          <a:p>
            <a:pPr>
              <a:spcAft>
                <a:spcPts val="400"/>
              </a:spcAft>
            </a:pPr>
            <a:r>
              <a:rPr sz="1200" b="0" i="0" dirty="0">
                <a:solidFill>
                  <a:srgbClr val="DDE6F0"/>
                </a:solidFill>
                <a:latin typeface="Segoe UI"/>
              </a:rPr>
              <a:t>GitHub: </a:t>
            </a:r>
            <a:r>
              <a:rPr lang="en-ZA" sz="1200" u="sng"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https://github.com/WIL-Project-Hub</a:t>
            </a:r>
            <a:endParaRPr sz="1200" b="0" i="0" dirty="0">
              <a:solidFill>
                <a:schemeClr val="accent1">
                  <a:lumMod val="40000"/>
                  <a:lumOff val="60000"/>
                </a:schemeClr>
              </a:solidFill>
              <a:latin typeface="Segoe UI"/>
            </a:endParaRPr>
          </a:p>
          <a:p>
            <a:pPr>
              <a:spcAft>
                <a:spcPts val="400"/>
              </a:spcAft>
            </a:pPr>
            <a:r>
              <a:rPr sz="1200" b="0" i="0" dirty="0" err="1">
                <a:solidFill>
                  <a:srgbClr val="DDE6F0"/>
                </a:solidFill>
                <a:latin typeface="Segoe UI"/>
              </a:rPr>
              <a:t>Supabase</a:t>
            </a:r>
            <a:r>
              <a:rPr sz="1200" b="0" i="0" dirty="0">
                <a:solidFill>
                  <a:srgbClr val="DDE6F0"/>
                </a:solidFill>
                <a:latin typeface="Segoe UI"/>
              </a:rPr>
              <a:t> project (backend)</a:t>
            </a:r>
            <a:r>
              <a:rPr lang="en-GB" sz="1200" b="0" i="0" dirty="0">
                <a:solidFill>
                  <a:srgbClr val="DDE6F0"/>
                </a:solidFill>
                <a:latin typeface="Segoe UI"/>
              </a:rPr>
              <a:t>: </a:t>
            </a:r>
            <a:r>
              <a:rPr lang="en-GB" sz="1200" u="sng" dirty="0">
                <a:solidFill>
                  <a:schemeClr val="accent1">
                    <a:lumMod val="40000"/>
                    <a:lumOff val="60000"/>
                  </a:schemeClr>
                </a:solidFill>
                <a:hlinkClick r:id="rId3">
                  <a:extLst>
                    <a:ext uri="{A12FA001-AC4F-418D-AE19-62706E023703}">
                      <ahyp:hlinkClr xmlns:ahyp="http://schemas.microsoft.com/office/drawing/2018/hyperlinkcolor" val="tx"/>
                    </a:ext>
                  </a:extLst>
                </a:hlinkClick>
              </a:rPr>
              <a:t>https://supabase.com/dashboard/project/hrkzdekzmqjiejjuwybh</a:t>
            </a:r>
            <a:endParaRPr sz="1200" b="0" i="0" dirty="0">
              <a:solidFill>
                <a:srgbClr val="DDE6F0"/>
              </a:solidFill>
              <a:latin typeface="Segoe UI"/>
            </a:endParaRPr>
          </a:p>
          <a:p>
            <a:pPr algn="l">
              <a:spcBef>
                <a:spcPts val="0"/>
              </a:spcBef>
              <a:spcAft>
                <a:spcPts val="400"/>
              </a:spcAft>
            </a:pPr>
            <a:r>
              <a:rPr sz="1200" b="0" i="0" dirty="0">
                <a:solidFill>
                  <a:srgbClr val="DDE6F0"/>
                </a:solidFill>
                <a:latin typeface="Segoe UI"/>
              </a:rPr>
              <a:t>Signed project charter &amp; WIL sponsor letter</a:t>
            </a:r>
          </a:p>
          <a:p>
            <a:pPr algn="l">
              <a:spcBef>
                <a:spcPts val="0"/>
              </a:spcBef>
              <a:spcAft>
                <a:spcPts val="400"/>
              </a:spcAft>
            </a:pPr>
            <a:r>
              <a:rPr sz="1200" b="0" i="0" dirty="0">
                <a:solidFill>
                  <a:srgbClr val="DDE6F0"/>
                </a:solidFill>
                <a:latin typeface="Segoe UI"/>
              </a:rPr>
              <a:t>Meeting notes &amp; diagrams on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TotalTime>
  <Words>1266</Words>
  <Application>Microsoft Office PowerPoint</Application>
  <PresentationFormat>Widescreen</PresentationFormat>
  <Paragraphs>167</Paragraphs>
  <Slides>28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Calibri</vt:lpstr>
      <vt:lpstr>Cambria</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Thito Relebohile</cp:lastModifiedBy>
  <cp:revision>17</cp:revision>
  <dcterms:created xsi:type="dcterms:W3CDTF">2013-01-27T09:14:16Z</dcterms:created>
  <dcterms:modified xsi:type="dcterms:W3CDTF">2026-10-01T12:55:26Z</dcterms:modified>
  <cp:category/>
</cp:coreProperties>
</file>