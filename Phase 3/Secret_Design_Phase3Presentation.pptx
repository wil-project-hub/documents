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89" r:id="rId4"/>
    <p:sldId id="258" r:id="rId5"/>
    <p:sldId id="259" r:id="rId6"/>
    <p:sldId id="260" r:id="rId7"/>
    <p:sldId id="261" r:id="rId8"/>
    <p:sldId id="262" r:id="rId9"/>
    <p:sldId id="263" r:id="rId10"/>
    <p:sldId id="294" r:id="rId11"/>
    <p:sldId id="264" r:id="rId12"/>
    <p:sldId id="265" r:id="rId13"/>
    <p:sldId id="266" r:id="rId14"/>
    <p:sldId id="267" r:id="rId15"/>
    <p:sldId id="295" r:id="rId16"/>
    <p:sldId id="268" r:id="rId17"/>
    <p:sldId id="269" r:id="rId18"/>
    <p:sldId id="296" r:id="rId19"/>
    <p:sldId id="273" r:id="rId20"/>
    <p:sldId id="274" r:id="rId21"/>
    <p:sldId id="275" r:id="rId22"/>
    <p:sldId id="276" r:id="rId23"/>
    <p:sldId id="277" r:id="rId24"/>
    <p:sldId id="297" r:id="rId25"/>
    <p:sldId id="279" r:id="rId26"/>
    <p:sldId id="280" r:id="rId27"/>
    <p:sldId id="288" r:id="rId28"/>
    <p:sldId id="298" r:id="rId29"/>
    <p:sldId id="281" r:id="rId30"/>
    <p:sldId id="287" r:id="rId31"/>
    <p:sldId id="286" r:id="rId32"/>
    <p:sldId id="278"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915DAF8-7D57-2280-81FE-3DF8AB3F4213}">
          <p14:sldIdLst>
            <p14:sldId id="256"/>
            <p14:sldId id="257"/>
            <p14:sldId id="289"/>
          </p14:sldIdLst>
        </p14:section>
        <p14:section name="Problem and Solution" id="{D9E3A527-45F3-DE5F-6D5A-7DC9AE06DD1D}">
          <p14:sldIdLst>
            <p14:sldId id="258"/>
            <p14:sldId id="259"/>
            <p14:sldId id="260"/>
            <p14:sldId id="261"/>
            <p14:sldId id="262"/>
            <p14:sldId id="263"/>
            <p14:sldId id="294"/>
          </p14:sldIdLst>
        </p14:section>
        <p14:section name="Architecture and Backend" id="{E7E12D9A-C15A-6F72-C511-304B3A3C7CD5}">
          <p14:sldIdLst>
            <p14:sldId id="264"/>
            <p14:sldId id="265"/>
            <p14:sldId id="266"/>
            <p14:sldId id="267"/>
            <p14:sldId id="295"/>
          </p14:sldIdLst>
        </p14:section>
        <p14:section name="The Two Applications" id="{4C055977-59CF-7E20-672F-BFE08277A2A2}">
          <p14:sldIdLst>
            <p14:sldId id="268"/>
            <p14:sldId id="269"/>
            <p14:sldId id="296"/>
          </p14:sldIdLst>
        </p14:section>
        <p14:section name="Decisions and Status" id="{75E98B2A-AFF4-EF63-BF37-7A63508C469E}">
          <p14:sldIdLst>
            <p14:sldId id="273"/>
            <p14:sldId id="274"/>
            <p14:sldId id="275"/>
            <p14:sldId id="276"/>
            <p14:sldId id="277"/>
            <p14:sldId id="297"/>
            <p14:sldId id="279"/>
            <p14:sldId id="280"/>
            <p14:sldId id="288"/>
            <p14:sldId id="298"/>
            <p14:sldId id="281"/>
            <p14:sldId id="287"/>
            <p14:sldId id="286"/>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7725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Greet the panel and introduce the group. Say that this presentation covers Phase 3: the working prototype of the Setshabelo Admission System, a digital admission system for Setshabelo Primary School in Welkom, Free State. Explain that the slides give the background and the design, and that we will run the Flutter and ASP.NET applications live next to the slides, so there are no screenshots here. Mention that all six members will speak and can answer questions on the whole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Walk through the five parts. Explain the order follows the assessment brief: we start with the stakeholder problem and approved solution, then show the shared Supabase backend and how the two apps use it, then run each app, then run the shared processes where both apps work with the same data. We close with our decisions, the limitations, and the current project status. The live demo parts are marked on the slides.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Describe the stakeholder: Setshabelo Primary School in Welkom, Free State, with stakeholder contact Disebo Tau. Today the school uses onsite paper registration at the start of each year. Walk through the five steps along the top, condensed from the nine-step current process in section 6 of the SRS. Then explain the impact on three groups: parents lose time and queue, admin staff process piles of paper and find errors late, and the school depends on social media, which excludes parents without access and gives no easy way to showcase achievements.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State the aim and the four objectives from the SRS. Stress the two acceptance criteria because we demonstrate both today: the apps share one backend, and users can do the same actions on both platforms. Mention that the deliverable is one integrated system, not two separate apps.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Explain the feasibility analysis from Unit 2. Technical and schedule feasibility needed changes because the group had to learn Supabase integration and time was tight. The three removed features were agreed with the stakeholder: bulk SMS was too complex for the semester, the uniform shop would clash with an existing partnership with Atlas, and distributing e-textbooks online raises copyright problems. This protected the core functions that matter most to the stakeholder.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Show how the work progressed across the three phases. Phase 1 produced SRS v2.0 on 31 August with requirements, feasibility and the first risk register. On 16 September the stakeholder approved the Flutter wireframes; the only change was removing the emblem as a background. SRS v3.0 on 25 September added the architecture, use cases, sequence diagrams, ERD and Figma designs, and the Phase 2 presentation on 2 October refined the risk register. Phase 3 is the build. The three highest risks were integration difficulty, delivering core functions on time, and group coordination, and we tackled each with the planned mitigation.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RECAP OF PHASE 1, presented on 31 August with SRS v2.0. Remind the panel of what was agreed: eight functional requirements, four kept non-functional requirements (similar interface, admin-only decisions, test data and clear validation messages), four system requirements fixing ASP.NET, Flutter and Supabase, and four integration requirements. Then summarise the analysis: six feasibility factors, a scored risk register and a SWOT analysis. The three critical risks at that stage were limited testing time, core functions arriving late and inaccurate date projections. This phase gave us the baseline the build is measured against.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RECAP OF PHASE 2, presented on 2 October with SRS v3.0. The design phase turned the requirements into a plan. The architecture was fixed: Flutter with MVVM, ASP.NET with MVC, and Supabase for authentication, data and files. The use case diagram showed what parents and administrators do; the parent had seven use cases and the administrator four, and the diagram showed that submitting an application always includes validation, while accepting or rejecting extends the review. Two sequence diagrams described the parent submitting an application and the admin reviewing it. The ERD defined the eight entities and keys, and the Figma designs were approved by the stakeholder on 16 September. Phase 3 builds exactly this design, with the changes we explain later.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Explain the architecture. Supabase sits in the middle and provides three services: authentication, the Postgres database and file storage. The Flutter mobile app is used by parents and follows the MVVM pattern. The ASP.NET web app is used by admins and also supports parents, and follows the MVC pattern. The key integration rules from the SRS are on the bottom: the two apps never talk to each other directly (IR1), both use the same Supabase Auth (IR4), and all data lives in one shared backend (SR3). Everything one app writes, the other can read.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Explain how users are separated. A role value is stored for each user in the profiles table: Parent, Admin or SuperAdmin. When someone signs in on the web app, their role decides which pages they can reach; admin pages reject parents, and parent pages reject admins. This meets FR7 and NR2: the system differentiates users and admins, and only authenticated admins can accept or reject applications. A SuperAdmin role was added during implementation so that admin accounts can only be created by a trusted user rather than through public registration.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is the approved ERD from Phase 2, implemented in Supabase. Start on the left: every user has one profile with a role. A profile links to a parent record or an admin record. A parent creates many applications. Each application can have many documents and many admin comments. Admins publish school updates and achievements, so those tables store the admin who published them. Primary keys and foreign keys follow the ERD, so each table links to the right record. Mention that file storage is separate: documents keep a link to the file in Supabase Storage. If the panel asks, open the Supabase table editor to show the tables.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Cover the three supporting services. Authentication: both apps register and sign in users with the same Supabase Auth, which meets IR4. On sign-up a profile row and a parent row are created. Storage: parents' supporting documents go into the application_documents bucket and admin photos into achievement_images; the database keeps the link. Security: the keys are not in GitHub, as the legal feasibility section requires, and the privileged service key is only used on the server side of the web app. Parents are shown their own applications by their parent ID, and the project uses test data only, as NR3 requires. Be ready to say that stricter database-level policies could be added as future work.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minutes including the live demo) Briefly describe the app, then SWITCH TO THE LIVE FLUTTER APP. Demo path with a test parent: show the login and create-account screen; log in and show the home dashboard; start a new application and go through the six steps, showing the validation messages; open My Applications to show each child's status; open an application to show the status and any admin comments; show Updates, Awards and Profile. The app follows MVVM: screens are the views, a view model holds state with Provider, models describe the data and a service class talks to Supabase. Use dummy data only.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minutes including the live demo) Briefly describe the web app, then SWITCH TO THE LIVE WEB APP. Demo path with a test admin: log in; show the dashboard counts; open Applications and use search and the status filter; open one application to show child and parent details and documents; show the status and comment controls; open Publish Update and Publish Achievement; open Manage Content to view, edit or delete items. Mention that parents can also register and apply on the web app, so it supports the same parent actions as Flutter. The app follows MVC with controllers for account, parent, admin, content and super admin actions, and one service that talks to Supabase.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Be ready for questions on each decision. Why Supabase: it provides authentication, a database and storage in one free-tier service that both Flutter and ASP.NET can use. Why roles in profiles: one table holds the role for every user, so both apps can read it. Why MVVM and MVC: each follows the common pattern of its platform. Why six steps: smaller steps with validation help parents avoid mistakes, which was a core problem with paper forms. Files are kept in storage with links in the tables. Secrets are not in GitHub, in line with our legal feasibility decision.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Link back to the risk register in the SRS. Pick two or three examples the group can speak about from experience, for example how the group learned Supabase integration early (R1), and how work was divided so core functions were built first (R6). Say how the plan helped and, honestly, where it was hard, such as tight testing time. Note that the register and mitigation plans are in sections 17 and 18 of the SRS, and the Microsoft Project schedule and progress tracker record the actual progress.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 brief asks us to record incomplete functions and limitations accurately, so be direct. Changes: the form moved to six steps with a separate education step; a SuperAdmin role was added; parents can also use the web app; admin work is web only. Limitations: statuses are seen on refresh because there are no push notifications; cancelling an application appeared in the Phase 2 presentation but is not implemented; school updates can be deleted but not edited; and the excluded features remain out of scope. Add anything else the group knows is incomplete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Show the current status. All eight functional requirements and the four integration requirements are implemented across the two apps; the exceptions are the limitations on the previous slide. On the right, mention the project records: the final SRS, the GitHub repositories under WIL-Project-Hub, the updated Microsoft Project schedule, the Excel tracker with the group reflection, and the Supabase project. Confirm every row in a rehearsal and change a row to Incomplete if a function does not run on the day.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Summarise what the group achieved against the original problem: parents no longer need to queue or fill in paper forms, admins can decide and communicate from one place, and the school can publish updates and achievements. Then give the next steps from the SRS: real-time notifications were marked to monitor in the schedule feasibility, the excluded features could return in a later phase, and the architecture is reusable for other schools, which was listed as an opportunity in the SWOT analysis.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 Every member should be ready to answer questions about the whole system and about their own contribution. Keep the live apps open and ready to show anything the panel asks for.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4D3E"/>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Setshabelo Admission System  |  Phase 3 Final Presentation</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WIL-Project-Hub/Setshabelo-Integrated-Flutter-Mobile-Application" TargetMode="External"/><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file:///E:\WIL%20evidence\Phase3\SecretDesign_Phase3\%20https\github.com\WIL-Project-Hub\Setshabelo-Integrated-Website-Application" TargetMode="External"/><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1234440"/>
            <a:ext cx="8046720" cy="822960"/>
          </a:xfrm>
          <a:prstGeom prst="rect">
            <a:avLst/>
          </a:prstGeom>
          <a:noFill/>
          <a:ln/>
        </p:spPr>
        <p:txBody>
          <a:bodyPr wrap="square" lIns="0" tIns="0" rIns="0" bIns="0" rtlCol="0" anchor="ctr"/>
          <a:lstStyle/>
          <a:p>
            <a:pPr marL="0" indent="0">
              <a:buNone/>
            </a:pPr>
            <a:r>
              <a:rPr lang="en-US" sz="4400" b="1" dirty="0">
                <a:solidFill>
                  <a:schemeClr val="bg1"/>
                </a:solidFill>
                <a:latin typeface="Cambria" pitchFamily="34" charset="0"/>
                <a:ea typeface="Cambria" pitchFamily="34" charset="-122"/>
                <a:cs typeface="Cambria" pitchFamily="34" charset="-120"/>
              </a:rPr>
              <a:t>Setshabelo Admission System</a:t>
            </a:r>
            <a:endParaRPr lang="en-US" sz="4400" dirty="0"/>
          </a:p>
        </p:txBody>
      </p:sp>
      <p:sp>
        <p:nvSpPr>
          <p:cNvPr id="3" name="Subtitle"/>
          <p:cNvSpPr txBox="1"/>
          <p:nvPr/>
        </p:nvSpPr>
        <p:spPr>
          <a:xfrm>
            <a:off x="548640" y="2103120"/>
            <a:ext cx="8046720" cy="548640"/>
          </a:xfrm>
          <a:prstGeom prst="rect">
            <a:avLst/>
          </a:prstGeom>
          <a:noFill/>
          <a:ln/>
        </p:spPr>
        <p:txBody>
          <a:bodyPr wrap="square" lIns="0" tIns="0" rIns="0" bIns="0" rtlCol="0" anchor="t"/>
          <a:lstStyle/>
          <a:p>
            <a:pPr marL="0" indent="0">
              <a:buNone/>
            </a:pPr>
            <a:r>
              <a:rPr lang="en-US" sz="2000" dirty="0">
                <a:solidFill>
                  <a:schemeClr val="bg2"/>
                </a:solidFill>
              </a:rPr>
              <a:t>Phase 3: System Development, Implementation and Final Demonstration</a:t>
            </a:r>
            <a:endParaRPr lang="en-US" sz="2000" dirty="0"/>
          </a:p>
        </p:txBody>
      </p:sp>
      <p:sp>
        <p:nvSpPr>
          <p:cNvPr id="4" name="Group"/>
          <p:cNvSpPr txBox="1"/>
          <p:nvPr/>
        </p:nvSpPr>
        <p:spPr>
          <a:xfrm>
            <a:off x="548640" y="3017520"/>
            <a:ext cx="8046720" cy="365760"/>
          </a:xfrm>
          <a:prstGeom prst="rect">
            <a:avLst/>
          </a:prstGeom>
          <a:noFill/>
          <a:ln/>
        </p:spPr>
        <p:txBody>
          <a:bodyPr wrap="square" lIns="0" tIns="0" rIns="0" bIns="0" rtlCol="0" anchor="t"/>
          <a:lstStyle/>
          <a:p>
            <a:pPr marL="0" indent="0">
              <a:buNone/>
            </a:pPr>
            <a:r>
              <a:rPr lang="en-US" sz="1600" dirty="0">
                <a:solidFill>
                  <a:schemeClr val="accent4"/>
                </a:solidFill>
              </a:rPr>
              <a:t>Group 0: Secret Design   |   ITC327W Work-Integrated Learning</a:t>
            </a:r>
            <a:endParaRPr lang="en-US" sz="1600" dirty="0"/>
          </a:p>
        </p:txBody>
      </p:sp>
      <p:sp>
        <p:nvSpPr>
          <p:cNvPr id="5" name="Members"/>
          <p:cNvSpPr txBox="1"/>
          <p:nvPr/>
        </p:nvSpPr>
        <p:spPr>
          <a:xfrm>
            <a:off x="548640" y="4023360"/>
            <a:ext cx="8046720" cy="548640"/>
          </a:xfrm>
          <a:prstGeom prst="rect">
            <a:avLst/>
          </a:prstGeom>
          <a:noFill/>
          <a:ln/>
        </p:spPr>
        <p:txBody>
          <a:bodyPr wrap="square" lIns="0" tIns="0" rIns="0" bIns="0" rtlCol="0" anchor="t"/>
          <a:lstStyle/>
          <a:p>
            <a:pPr marL="0" indent="0">
              <a:buNone/>
            </a:pPr>
            <a:r>
              <a:rPr lang="en-US" sz="1400" dirty="0">
                <a:solidFill>
                  <a:schemeClr val="bg2"/>
                </a:solidFill>
              </a:rPr>
              <a:t>Relebohile Thito  ·  Lebohang Molise  ·  Tshepo M Masimong  ·  Lonwabo Sifumba  ·  Andries M Matona  ·  Njabulo R.A Mthethwa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What we will cover</a:t>
            </a:r>
            <a:endParaRPr lang="en-US" sz="2800" dirty="0"/>
          </a:p>
        </p:txBody>
      </p:sp>
      <p:sp>
        <p:nvSpPr>
          <p:cNvPr id="3" name="Agenda row 1"/>
          <p:cNvSpPr/>
          <p:nvPr/>
        </p:nvSpPr>
        <p:spPr>
          <a:xfrm>
            <a:off x="457200" y="1097280"/>
            <a:ext cx="8229600" cy="594360"/>
          </a:xfrm>
          <a:prstGeom prst="roundRect">
            <a:avLst>
              <a:gd name="adj" fmla="val 12308"/>
            </a:avLst>
          </a:prstGeom>
          <a:solidFill>
            <a:schemeClr val="bg2"/>
          </a:solidFill>
          <a:ln w="12700">
            <a:solidFill>
              <a:schemeClr val="bg2"/>
            </a:solidFill>
            <a:prstDash val="solid"/>
          </a:ln>
        </p:spPr>
        <p:txBody>
          <a:bodyPr/>
          <a:lstStyle/>
          <a:p>
            <a:endParaRPr lang="en-ZA"/>
          </a:p>
        </p:txBody>
      </p:sp>
      <p:sp>
        <p:nvSpPr>
          <p:cNvPr id="4" name="Agenda number 1"/>
          <p:cNvSpPr/>
          <p:nvPr/>
        </p:nvSpPr>
        <p:spPr>
          <a:xfrm>
            <a:off x="594360" y="1188720"/>
            <a:ext cx="411480" cy="411480"/>
          </a:xfrm>
          <a:prstGeom prst="ellipse">
            <a:avLst/>
          </a:prstGeom>
          <a:solidFill>
            <a:schemeClr val="accent1"/>
          </a:solidFill>
          <a:ln w="12700">
            <a:solidFill>
              <a:schemeClr val="accent1"/>
            </a:solidFill>
            <a:prstDash val="solid"/>
          </a:ln>
        </p:spPr>
        <p:txBody>
          <a:bodyPr/>
          <a:lstStyle/>
          <a:p>
            <a:endParaRPr lang="en-ZA"/>
          </a:p>
        </p:txBody>
      </p:sp>
      <p:sp>
        <p:nvSpPr>
          <p:cNvPr id="5" name="Agenda number text 1"/>
          <p:cNvSpPr txBox="1"/>
          <p:nvPr/>
        </p:nvSpPr>
        <p:spPr>
          <a:xfrm>
            <a:off x="594360" y="118872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Agenda heading 1"/>
          <p:cNvSpPr txBox="1"/>
          <p:nvPr/>
        </p:nvSpPr>
        <p:spPr>
          <a:xfrm>
            <a:off x="1188720" y="1152144"/>
            <a:ext cx="7315200" cy="274320"/>
          </a:xfrm>
          <a:prstGeom prst="rect">
            <a:avLst/>
          </a:prstGeom>
          <a:noFill/>
          <a:ln/>
        </p:spPr>
        <p:txBody>
          <a:bodyPr wrap="square" lIns="0" tIns="0" rIns="0" bIns="0" rtlCol="0" anchor="ctr"/>
          <a:lstStyle/>
          <a:p>
            <a:pPr marL="0" indent="0">
              <a:buNone/>
            </a:pPr>
            <a:r>
              <a:rPr lang="en-US" sz="1500" b="1" dirty="0">
                <a:solidFill>
                  <a:schemeClr val="tx2"/>
                </a:solidFill>
              </a:rPr>
              <a:t>Problem, solution and recap of Phases 1 and 2</a:t>
            </a:r>
            <a:endParaRPr lang="en-US" sz="1500" dirty="0"/>
          </a:p>
        </p:txBody>
      </p:sp>
      <p:sp>
        <p:nvSpPr>
          <p:cNvPr id="7" name="Agenda detail 1"/>
          <p:cNvSpPr txBox="1"/>
          <p:nvPr/>
        </p:nvSpPr>
        <p:spPr>
          <a:xfrm>
            <a:off x="1188720" y="1417320"/>
            <a:ext cx="7315200" cy="256032"/>
          </a:xfrm>
          <a:prstGeom prst="rect">
            <a:avLst/>
          </a:prstGeom>
          <a:noFill/>
          <a:ln/>
        </p:spPr>
        <p:txBody>
          <a:bodyPr wrap="square" lIns="0" tIns="0" rIns="0" bIns="0" rtlCol="0" anchor="t"/>
          <a:lstStyle/>
          <a:p>
            <a:pPr marL="0" indent="0">
              <a:buNone/>
            </a:pPr>
            <a:r>
              <a:rPr lang="en-US" sz="1200" dirty="0">
                <a:solidFill>
                  <a:schemeClr val="tx1"/>
                </a:solidFill>
              </a:rPr>
              <a:t>Stakeholder problem, scope, project journey, requirements and design</a:t>
            </a:r>
            <a:endParaRPr lang="en-US" sz="1200" dirty="0"/>
          </a:p>
        </p:txBody>
      </p:sp>
      <p:sp>
        <p:nvSpPr>
          <p:cNvPr id="8" name="Agenda row 2"/>
          <p:cNvSpPr/>
          <p:nvPr/>
        </p:nvSpPr>
        <p:spPr>
          <a:xfrm>
            <a:off x="457200" y="1783080"/>
            <a:ext cx="8229600" cy="594360"/>
          </a:xfrm>
          <a:prstGeom prst="roundRect">
            <a:avLst>
              <a:gd name="adj" fmla="val 12308"/>
            </a:avLst>
          </a:prstGeom>
          <a:solidFill>
            <a:schemeClr val="bg2"/>
          </a:solidFill>
          <a:ln w="12700">
            <a:solidFill>
              <a:schemeClr val="bg2"/>
            </a:solidFill>
            <a:prstDash val="solid"/>
          </a:ln>
        </p:spPr>
        <p:txBody>
          <a:bodyPr/>
          <a:lstStyle/>
          <a:p>
            <a:endParaRPr lang="en-ZA"/>
          </a:p>
        </p:txBody>
      </p:sp>
      <p:sp>
        <p:nvSpPr>
          <p:cNvPr id="9" name="Agenda number 2"/>
          <p:cNvSpPr/>
          <p:nvPr/>
        </p:nvSpPr>
        <p:spPr>
          <a:xfrm>
            <a:off x="594360" y="1874520"/>
            <a:ext cx="411480" cy="411480"/>
          </a:xfrm>
          <a:prstGeom prst="ellipse">
            <a:avLst/>
          </a:prstGeom>
          <a:solidFill>
            <a:schemeClr val="accent1"/>
          </a:solidFill>
          <a:ln w="12700">
            <a:solidFill>
              <a:schemeClr val="accent1"/>
            </a:solidFill>
            <a:prstDash val="solid"/>
          </a:ln>
        </p:spPr>
        <p:txBody>
          <a:bodyPr/>
          <a:lstStyle/>
          <a:p>
            <a:endParaRPr lang="en-ZA"/>
          </a:p>
        </p:txBody>
      </p:sp>
      <p:sp>
        <p:nvSpPr>
          <p:cNvPr id="10" name="Agenda number text 2"/>
          <p:cNvSpPr txBox="1"/>
          <p:nvPr/>
        </p:nvSpPr>
        <p:spPr>
          <a:xfrm>
            <a:off x="594360" y="187452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Agenda heading 2"/>
          <p:cNvSpPr txBox="1"/>
          <p:nvPr/>
        </p:nvSpPr>
        <p:spPr>
          <a:xfrm>
            <a:off x="1188720" y="1837944"/>
            <a:ext cx="7315200" cy="274320"/>
          </a:xfrm>
          <a:prstGeom prst="rect">
            <a:avLst/>
          </a:prstGeom>
          <a:noFill/>
          <a:ln/>
        </p:spPr>
        <p:txBody>
          <a:bodyPr wrap="square" lIns="0" tIns="0" rIns="0" bIns="0" rtlCol="0" anchor="ctr"/>
          <a:lstStyle/>
          <a:p>
            <a:pPr marL="0" indent="0">
              <a:buNone/>
            </a:pPr>
            <a:r>
              <a:rPr lang="en-US" sz="1500" b="1" dirty="0">
                <a:solidFill>
                  <a:schemeClr val="tx2"/>
                </a:solidFill>
              </a:rPr>
              <a:t>Architecture and shared Supabase backend</a:t>
            </a:r>
            <a:endParaRPr lang="en-US" sz="1500" dirty="0"/>
          </a:p>
        </p:txBody>
      </p:sp>
      <p:sp>
        <p:nvSpPr>
          <p:cNvPr id="12" name="Agenda detail 2"/>
          <p:cNvSpPr txBox="1"/>
          <p:nvPr/>
        </p:nvSpPr>
        <p:spPr>
          <a:xfrm>
            <a:off x="1188720" y="2103120"/>
            <a:ext cx="7315200" cy="256032"/>
          </a:xfrm>
          <a:prstGeom prst="rect">
            <a:avLst/>
          </a:prstGeom>
          <a:noFill/>
          <a:ln/>
        </p:spPr>
        <p:txBody>
          <a:bodyPr wrap="square" lIns="0" tIns="0" rIns="0" bIns="0" rtlCol="0" anchor="t"/>
          <a:lstStyle/>
          <a:p>
            <a:pPr marL="0" indent="0">
              <a:buNone/>
            </a:pPr>
            <a:r>
              <a:rPr lang="en-US" sz="1200" dirty="0">
                <a:solidFill>
                  <a:schemeClr val="tx1"/>
                </a:solidFill>
              </a:rPr>
              <a:t>Roles, data model, authentication and storage</a:t>
            </a:r>
            <a:endParaRPr lang="en-US" sz="1200" dirty="0"/>
          </a:p>
        </p:txBody>
      </p:sp>
      <p:sp>
        <p:nvSpPr>
          <p:cNvPr id="13" name="Agenda row 3"/>
          <p:cNvSpPr/>
          <p:nvPr/>
        </p:nvSpPr>
        <p:spPr>
          <a:xfrm>
            <a:off x="457200" y="2468880"/>
            <a:ext cx="8229600" cy="594360"/>
          </a:xfrm>
          <a:prstGeom prst="roundRect">
            <a:avLst>
              <a:gd name="adj" fmla="val 12308"/>
            </a:avLst>
          </a:prstGeom>
          <a:solidFill>
            <a:schemeClr val="bg2"/>
          </a:solidFill>
          <a:ln w="12700">
            <a:solidFill>
              <a:schemeClr val="bg2"/>
            </a:solidFill>
            <a:prstDash val="solid"/>
          </a:ln>
        </p:spPr>
        <p:txBody>
          <a:bodyPr/>
          <a:lstStyle/>
          <a:p>
            <a:endParaRPr lang="en-ZA"/>
          </a:p>
        </p:txBody>
      </p:sp>
      <p:sp>
        <p:nvSpPr>
          <p:cNvPr id="14" name="Agenda number 3"/>
          <p:cNvSpPr/>
          <p:nvPr/>
        </p:nvSpPr>
        <p:spPr>
          <a:xfrm>
            <a:off x="594360" y="2560320"/>
            <a:ext cx="411480" cy="411480"/>
          </a:xfrm>
          <a:prstGeom prst="ellipse">
            <a:avLst/>
          </a:prstGeom>
          <a:solidFill>
            <a:schemeClr val="accent1"/>
          </a:solidFill>
          <a:ln w="12700">
            <a:solidFill>
              <a:schemeClr val="accent1"/>
            </a:solidFill>
            <a:prstDash val="solid"/>
          </a:ln>
        </p:spPr>
        <p:txBody>
          <a:bodyPr/>
          <a:lstStyle/>
          <a:p>
            <a:endParaRPr lang="en-ZA"/>
          </a:p>
        </p:txBody>
      </p:sp>
      <p:sp>
        <p:nvSpPr>
          <p:cNvPr id="15" name="Agenda number text 3"/>
          <p:cNvSpPr txBox="1"/>
          <p:nvPr/>
        </p:nvSpPr>
        <p:spPr>
          <a:xfrm>
            <a:off x="594360" y="256032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Agenda heading 3"/>
          <p:cNvSpPr txBox="1"/>
          <p:nvPr/>
        </p:nvSpPr>
        <p:spPr>
          <a:xfrm>
            <a:off x="1188720" y="2523744"/>
            <a:ext cx="7315200" cy="274320"/>
          </a:xfrm>
          <a:prstGeom prst="rect">
            <a:avLst/>
          </a:prstGeom>
          <a:noFill/>
          <a:ln/>
        </p:spPr>
        <p:txBody>
          <a:bodyPr wrap="square" lIns="0" tIns="0" rIns="0" bIns="0" rtlCol="0" anchor="ctr"/>
          <a:lstStyle/>
          <a:p>
            <a:pPr marL="0" indent="0">
              <a:buNone/>
            </a:pPr>
            <a:r>
              <a:rPr lang="en-US" sz="1500" b="1" dirty="0">
                <a:solidFill>
                  <a:schemeClr val="tx2"/>
                </a:solidFill>
              </a:rPr>
              <a:t>The two applications</a:t>
            </a:r>
            <a:endParaRPr lang="en-US" sz="1500" dirty="0"/>
          </a:p>
        </p:txBody>
      </p:sp>
      <p:sp>
        <p:nvSpPr>
          <p:cNvPr id="17" name="Agenda detail 3"/>
          <p:cNvSpPr txBox="1"/>
          <p:nvPr/>
        </p:nvSpPr>
        <p:spPr>
          <a:xfrm>
            <a:off x="1188720" y="2788920"/>
            <a:ext cx="7315200" cy="256032"/>
          </a:xfrm>
          <a:prstGeom prst="rect">
            <a:avLst/>
          </a:prstGeom>
          <a:noFill/>
          <a:ln/>
        </p:spPr>
        <p:txBody>
          <a:bodyPr wrap="square" lIns="0" tIns="0" rIns="0" bIns="0" rtlCol="0" anchor="t"/>
          <a:lstStyle/>
          <a:p>
            <a:pPr marL="0" indent="0">
              <a:buNone/>
            </a:pPr>
            <a:r>
              <a:rPr lang="en-US" sz="1200" dirty="0">
                <a:solidFill>
                  <a:schemeClr val="tx1"/>
                </a:solidFill>
              </a:rPr>
              <a:t>Flutter and ASP.NET functions</a:t>
            </a:r>
            <a:r>
              <a:rPr lang="en-US" sz="1200" dirty="0"/>
              <a:t>. Demonstrate both applications</a:t>
            </a:r>
          </a:p>
        </p:txBody>
      </p:sp>
      <p:sp>
        <p:nvSpPr>
          <p:cNvPr id="18" name="Agenda row 4"/>
          <p:cNvSpPr/>
          <p:nvPr/>
        </p:nvSpPr>
        <p:spPr>
          <a:xfrm>
            <a:off x="457200" y="3154680"/>
            <a:ext cx="8229600" cy="594360"/>
          </a:xfrm>
          <a:prstGeom prst="roundRect">
            <a:avLst>
              <a:gd name="adj" fmla="val 12308"/>
            </a:avLst>
          </a:prstGeom>
          <a:solidFill>
            <a:schemeClr val="bg2"/>
          </a:solidFill>
          <a:ln w="12700">
            <a:solidFill>
              <a:schemeClr val="bg2"/>
            </a:solidFill>
            <a:prstDash val="solid"/>
          </a:ln>
        </p:spPr>
        <p:txBody>
          <a:bodyPr/>
          <a:lstStyle/>
          <a:p>
            <a:endParaRPr lang="en-ZA"/>
          </a:p>
        </p:txBody>
      </p:sp>
      <p:sp>
        <p:nvSpPr>
          <p:cNvPr id="19" name="Agenda number 4"/>
          <p:cNvSpPr/>
          <p:nvPr/>
        </p:nvSpPr>
        <p:spPr>
          <a:xfrm>
            <a:off x="594360" y="3246120"/>
            <a:ext cx="411480" cy="411480"/>
          </a:xfrm>
          <a:prstGeom prst="ellipse">
            <a:avLst/>
          </a:prstGeom>
          <a:solidFill>
            <a:schemeClr val="accent1"/>
          </a:solidFill>
          <a:ln w="12700">
            <a:solidFill>
              <a:schemeClr val="accent1"/>
            </a:solidFill>
            <a:prstDash val="solid"/>
          </a:ln>
        </p:spPr>
        <p:txBody>
          <a:bodyPr/>
          <a:lstStyle/>
          <a:p>
            <a:endParaRPr lang="en-ZA"/>
          </a:p>
        </p:txBody>
      </p:sp>
      <p:sp>
        <p:nvSpPr>
          <p:cNvPr id="20" name="Agenda number text 4"/>
          <p:cNvSpPr txBox="1"/>
          <p:nvPr/>
        </p:nvSpPr>
        <p:spPr>
          <a:xfrm>
            <a:off x="594360" y="324612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3" name="Agenda row 5"/>
          <p:cNvSpPr/>
          <p:nvPr/>
        </p:nvSpPr>
        <p:spPr>
          <a:xfrm>
            <a:off x="457200" y="3840480"/>
            <a:ext cx="8229600" cy="594360"/>
          </a:xfrm>
          <a:prstGeom prst="roundRect">
            <a:avLst>
              <a:gd name="adj" fmla="val 12308"/>
            </a:avLst>
          </a:prstGeom>
          <a:solidFill>
            <a:schemeClr val="bg2"/>
          </a:solidFill>
          <a:ln w="12700">
            <a:solidFill>
              <a:schemeClr val="bg2"/>
            </a:solidFill>
            <a:prstDash val="solid"/>
          </a:ln>
        </p:spPr>
        <p:txBody>
          <a:bodyPr/>
          <a:lstStyle/>
          <a:p>
            <a:r>
              <a:rPr lang="en-US" b="1" dirty="0">
                <a:solidFill>
                  <a:schemeClr val="tx2"/>
                </a:solidFill>
              </a:rPr>
              <a:t>           Project Evidence</a:t>
            </a:r>
            <a:endParaRPr lang="en-US" dirty="0"/>
          </a:p>
        </p:txBody>
      </p:sp>
      <p:sp>
        <p:nvSpPr>
          <p:cNvPr id="24" name="Agenda number 5"/>
          <p:cNvSpPr/>
          <p:nvPr/>
        </p:nvSpPr>
        <p:spPr>
          <a:xfrm>
            <a:off x="594360" y="3931920"/>
            <a:ext cx="411480" cy="411480"/>
          </a:xfrm>
          <a:prstGeom prst="ellipse">
            <a:avLst/>
          </a:prstGeom>
          <a:solidFill>
            <a:schemeClr val="accent1"/>
          </a:solidFill>
          <a:ln w="12700">
            <a:solidFill>
              <a:schemeClr val="accent1"/>
            </a:solidFill>
            <a:prstDash val="solid"/>
          </a:ln>
        </p:spPr>
        <p:txBody>
          <a:bodyPr/>
          <a:lstStyle/>
          <a:p>
            <a:endParaRPr lang="en-ZA"/>
          </a:p>
        </p:txBody>
      </p:sp>
      <p:sp>
        <p:nvSpPr>
          <p:cNvPr id="25" name="Agenda number text 5"/>
          <p:cNvSpPr txBox="1"/>
          <p:nvPr/>
        </p:nvSpPr>
        <p:spPr>
          <a:xfrm>
            <a:off x="594360" y="395478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6" name="Agenda heading 5"/>
          <p:cNvSpPr txBox="1"/>
          <p:nvPr/>
        </p:nvSpPr>
        <p:spPr>
          <a:xfrm>
            <a:off x="1143000" y="3246120"/>
            <a:ext cx="7315200" cy="274320"/>
          </a:xfrm>
          <a:prstGeom prst="rect">
            <a:avLst/>
          </a:prstGeom>
          <a:noFill/>
          <a:ln/>
        </p:spPr>
        <p:txBody>
          <a:bodyPr wrap="square" lIns="0" tIns="0" rIns="0" bIns="0" rtlCol="0" anchor="ctr"/>
          <a:lstStyle/>
          <a:p>
            <a:pPr marL="0" indent="0">
              <a:buNone/>
            </a:pPr>
            <a:r>
              <a:rPr lang="en-US" sz="1500" b="1" dirty="0">
                <a:solidFill>
                  <a:schemeClr val="tx2"/>
                </a:solidFill>
              </a:rPr>
              <a:t>Decisions, limitations and status</a:t>
            </a:r>
            <a:endParaRPr lang="en-US" sz="1500" dirty="0"/>
          </a:p>
        </p:txBody>
      </p:sp>
      <p:sp>
        <p:nvSpPr>
          <p:cNvPr id="27" name="Agenda detail 5"/>
          <p:cNvSpPr txBox="1"/>
          <p:nvPr/>
        </p:nvSpPr>
        <p:spPr>
          <a:xfrm>
            <a:off x="1143000" y="3493008"/>
            <a:ext cx="7315200" cy="256032"/>
          </a:xfrm>
          <a:prstGeom prst="rect">
            <a:avLst/>
          </a:prstGeom>
          <a:noFill/>
          <a:ln/>
        </p:spPr>
        <p:txBody>
          <a:bodyPr wrap="square" lIns="0" tIns="0" rIns="0" bIns="0" rtlCol="0" anchor="t"/>
          <a:lstStyle/>
          <a:p>
            <a:pPr marL="0" indent="0">
              <a:buNone/>
            </a:pPr>
            <a:r>
              <a:rPr lang="en-US" sz="1200" dirty="0">
                <a:solidFill>
                  <a:schemeClr val="tx1"/>
                </a:solidFill>
              </a:rPr>
              <a:t>Risks, changes, status against requirements, next steps</a:t>
            </a:r>
            <a:endParaRPr lang="en-US" sz="1200" dirty="0"/>
          </a:p>
        </p:txBody>
      </p:sp>
      <p:sp>
        <p:nvSpPr>
          <p:cNvPr id="28"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
        <p:nvSpPr>
          <p:cNvPr id="30" name="Agenda detail 5">
            <a:extLst>
              <a:ext uri="{FF2B5EF4-FFF2-40B4-BE49-F238E27FC236}">
                <a16:creationId xmlns:a16="http://schemas.microsoft.com/office/drawing/2014/main" id="{A81C21DB-235B-4540-F5F5-97CA24DA74F1}"/>
              </a:ext>
            </a:extLst>
          </p:cNvPr>
          <p:cNvSpPr txBox="1"/>
          <p:nvPr/>
        </p:nvSpPr>
        <p:spPr>
          <a:xfrm>
            <a:off x="1143000" y="4178808"/>
            <a:ext cx="7315200" cy="256032"/>
          </a:xfrm>
          <a:prstGeom prst="rect">
            <a:avLst/>
          </a:prstGeom>
          <a:noFill/>
          <a:ln/>
        </p:spPr>
        <p:txBody>
          <a:bodyPr wrap="square" lIns="0" tIns="0" rIns="0" bIns="0" rtlCol="0" anchor="t"/>
          <a:lstStyle/>
          <a:p>
            <a:pPr marL="0" indent="0">
              <a:buNone/>
            </a:pPr>
            <a:r>
              <a:rPr lang="en-US" sz="1200" dirty="0" err="1">
                <a:solidFill>
                  <a:schemeClr val="tx1"/>
                </a:solidFill>
              </a:rPr>
              <a:t>Github</a:t>
            </a:r>
            <a:r>
              <a:rPr lang="en-US" sz="1200" dirty="0">
                <a:solidFill>
                  <a:schemeClr val="tx1"/>
                </a:solidFill>
              </a:rPr>
              <a:t> repositories, </a:t>
            </a:r>
            <a:r>
              <a:rPr lang="en-US" sz="1200" dirty="0" err="1"/>
              <a:t>S</a:t>
            </a:r>
            <a:r>
              <a:rPr lang="en-US" sz="1200" dirty="0" err="1">
                <a:solidFill>
                  <a:schemeClr val="tx1"/>
                </a:solidFill>
              </a:rPr>
              <a:t>upabase</a:t>
            </a:r>
            <a:r>
              <a:rPr lang="en-US" sz="1200" dirty="0">
                <a:solidFill>
                  <a:schemeClr val="tx1"/>
                </a:solidFill>
              </a:rPr>
              <a:t> table, MS Project</a:t>
            </a:r>
            <a:r>
              <a:rPr lang="en-US" sz="1200" dirty="0"/>
              <a:t>, Progress Tracker, Signed Prototype confirmation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roup">
            <a:extLst>
              <a:ext uri="{FF2B5EF4-FFF2-40B4-BE49-F238E27FC236}">
                <a16:creationId xmlns:a16="http://schemas.microsoft.com/office/drawing/2014/main" id="{125B83C0-58CF-47BF-200A-FA309619E3E7}"/>
              </a:ext>
            </a:extLst>
          </p:cNvPr>
          <p:cNvSpPr txBox="1"/>
          <p:nvPr/>
        </p:nvSpPr>
        <p:spPr>
          <a:xfrm>
            <a:off x="597625" y="1866182"/>
            <a:ext cx="1312817" cy="365760"/>
          </a:xfrm>
          <a:prstGeom prst="rect">
            <a:avLst/>
          </a:prstGeom>
          <a:noFill/>
          <a:ln/>
        </p:spPr>
        <p:txBody>
          <a:bodyPr wrap="square" lIns="0" tIns="0" rIns="0" bIns="0" rtlCol="0" anchor="t"/>
          <a:lstStyle/>
          <a:p>
            <a:pPr marL="0" indent="0">
              <a:buNone/>
            </a:pPr>
            <a:r>
              <a:rPr lang="en-US" sz="1600" dirty="0">
                <a:solidFill>
                  <a:schemeClr val="accent4"/>
                </a:solidFill>
              </a:rPr>
              <a:t>Section 1 </a:t>
            </a:r>
            <a:endParaRPr lang="en-US" sz="1600" dirty="0"/>
          </a:p>
        </p:txBody>
      </p:sp>
      <p:sp>
        <p:nvSpPr>
          <p:cNvPr id="5" name="Rectangle 4">
            <a:extLst>
              <a:ext uri="{FF2B5EF4-FFF2-40B4-BE49-F238E27FC236}">
                <a16:creationId xmlns:a16="http://schemas.microsoft.com/office/drawing/2014/main" id="{904F1D52-9C2F-E6A7-5C29-7B98422F8D8F}"/>
              </a:ext>
            </a:extLst>
          </p:cNvPr>
          <p:cNvSpPr/>
          <p:nvPr/>
        </p:nvSpPr>
        <p:spPr>
          <a:xfrm>
            <a:off x="597625" y="2350158"/>
            <a:ext cx="1545938" cy="61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2"/>
              </a:solidFill>
            </a:endParaRPr>
          </a:p>
        </p:txBody>
      </p:sp>
      <p:sp>
        <p:nvSpPr>
          <p:cNvPr id="7" name="Subtitle">
            <a:extLst>
              <a:ext uri="{FF2B5EF4-FFF2-40B4-BE49-F238E27FC236}">
                <a16:creationId xmlns:a16="http://schemas.microsoft.com/office/drawing/2014/main" id="{1AA9EBEB-F063-426E-CAC2-5591764AF406}"/>
              </a:ext>
            </a:extLst>
          </p:cNvPr>
          <p:cNvSpPr txBox="1"/>
          <p:nvPr/>
        </p:nvSpPr>
        <p:spPr>
          <a:xfrm>
            <a:off x="597625" y="2437682"/>
            <a:ext cx="4095206" cy="411480"/>
          </a:xfrm>
          <a:prstGeom prst="rect">
            <a:avLst/>
          </a:prstGeom>
          <a:noFill/>
          <a:ln/>
        </p:spPr>
        <p:txBody>
          <a:bodyPr wrap="square" lIns="0" tIns="0" rIns="0" bIns="0" rtlCol="0" anchor="t"/>
          <a:lstStyle/>
          <a:p>
            <a:pPr marL="0" indent="0">
              <a:buNone/>
            </a:pPr>
            <a:r>
              <a:rPr lang="en-US" sz="2000" dirty="0">
                <a:solidFill>
                  <a:schemeClr val="bg2"/>
                </a:solidFill>
              </a:rPr>
              <a:t>Phase 1 and 2 recap</a:t>
            </a:r>
            <a:endParaRPr lang="en-US" sz="2000" dirty="0"/>
          </a:p>
        </p:txBody>
      </p:sp>
      <p:sp>
        <p:nvSpPr>
          <p:cNvPr id="9" name="Members">
            <a:extLst>
              <a:ext uri="{FF2B5EF4-FFF2-40B4-BE49-F238E27FC236}">
                <a16:creationId xmlns:a16="http://schemas.microsoft.com/office/drawing/2014/main" id="{33CA2BEA-D51B-C9D9-84DF-C448CC633E43}"/>
              </a:ext>
            </a:extLst>
          </p:cNvPr>
          <p:cNvSpPr txBox="1"/>
          <p:nvPr/>
        </p:nvSpPr>
        <p:spPr>
          <a:xfrm>
            <a:off x="587829" y="2849162"/>
            <a:ext cx="4167051" cy="284148"/>
          </a:xfrm>
          <a:prstGeom prst="rect">
            <a:avLst/>
          </a:prstGeom>
          <a:noFill/>
          <a:ln/>
        </p:spPr>
        <p:txBody>
          <a:bodyPr wrap="square" lIns="0" tIns="0" rIns="0" bIns="0" rtlCol="0" anchor="t"/>
          <a:lstStyle/>
          <a:p>
            <a:pPr marL="0" indent="0">
              <a:buNone/>
            </a:pPr>
            <a:r>
              <a:rPr lang="en-US" sz="1200" dirty="0">
                <a:solidFill>
                  <a:schemeClr val="bg2"/>
                </a:solidFill>
              </a:rPr>
              <a:t>Stakeholder problem, project scope and requirements</a:t>
            </a:r>
            <a:endParaRPr lang="en-US" sz="1200" dirty="0"/>
          </a:p>
        </p:txBody>
      </p:sp>
    </p:spTree>
    <p:extLst>
      <p:ext uri="{BB962C8B-B14F-4D97-AF65-F5344CB8AC3E}">
        <p14:creationId xmlns:p14="http://schemas.microsoft.com/office/powerpoint/2010/main" val="846471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The problem we were asked to solve</a:t>
            </a:r>
            <a:endParaRPr lang="en-US" sz="2800" dirty="0"/>
          </a:p>
        </p:txBody>
      </p:sp>
      <p:sp>
        <p:nvSpPr>
          <p:cNvPr id="3" name="Process caption"/>
          <p:cNvSpPr txBox="1"/>
          <p:nvPr/>
        </p:nvSpPr>
        <p:spPr>
          <a:xfrm>
            <a:off x="457200" y="1005840"/>
            <a:ext cx="8229600" cy="274320"/>
          </a:xfrm>
          <a:prstGeom prst="rect">
            <a:avLst/>
          </a:prstGeom>
          <a:noFill/>
          <a:ln/>
        </p:spPr>
        <p:txBody>
          <a:bodyPr wrap="square" lIns="0" tIns="0" rIns="0" bIns="0" rtlCol="0" anchor="t"/>
          <a:lstStyle/>
          <a:p>
            <a:pPr marL="0" indent="0">
              <a:buNone/>
            </a:pPr>
            <a:r>
              <a:rPr lang="en-US" sz="1400" b="1" dirty="0">
                <a:solidFill>
                  <a:schemeClr val="accent5"/>
                </a:solidFill>
              </a:rPr>
              <a:t>Current process at Setshabelo Primary School, Welkom</a:t>
            </a:r>
            <a:endParaRPr lang="en-US" sz="1400" dirty="0"/>
          </a:p>
        </p:txBody>
      </p:sp>
      <p:sp>
        <p:nvSpPr>
          <p:cNvPr id="4" name="Process step 1"/>
          <p:cNvSpPr/>
          <p:nvPr/>
        </p:nvSpPr>
        <p:spPr>
          <a:xfrm>
            <a:off x="457200" y="1371600"/>
            <a:ext cx="1536192" cy="1051560"/>
          </a:xfrm>
          <a:prstGeom prst="roundRect">
            <a:avLst>
              <a:gd name="adj" fmla="val 6957"/>
            </a:avLst>
          </a:prstGeom>
          <a:solidFill>
            <a:schemeClr val="bg2"/>
          </a:solidFill>
          <a:ln w="12700">
            <a:solidFill>
              <a:schemeClr val="bg2"/>
            </a:solidFill>
            <a:prstDash val="solid"/>
          </a:ln>
        </p:spPr>
        <p:txBody>
          <a:bodyPr/>
          <a:lstStyle/>
          <a:p>
            <a:endParaRPr lang="en-ZA"/>
          </a:p>
        </p:txBody>
      </p:sp>
      <p:sp>
        <p:nvSpPr>
          <p:cNvPr id="5" name="Process number 1"/>
          <p:cNvSpPr txBox="1"/>
          <p:nvPr/>
        </p:nvSpPr>
        <p:spPr>
          <a:xfrm>
            <a:off x="548640" y="1417320"/>
            <a:ext cx="365760" cy="274320"/>
          </a:xfrm>
          <a:prstGeom prst="rect">
            <a:avLst/>
          </a:prstGeom>
          <a:noFill/>
          <a:ln/>
        </p:spPr>
        <p:txBody>
          <a:bodyPr wrap="square" lIns="0" tIns="0" rIns="0" bIns="0" rtlCol="0" anchor="t"/>
          <a:lstStyle/>
          <a:p>
            <a:pPr marL="0" indent="0">
              <a:buNone/>
            </a:pPr>
            <a:r>
              <a:rPr lang="en-US" sz="1500" b="1" dirty="0">
                <a:solidFill>
                  <a:schemeClr val="accent1"/>
                </a:solidFill>
              </a:rPr>
              <a:t>1</a:t>
            </a:r>
            <a:endParaRPr lang="en-US" sz="1500" dirty="0"/>
          </a:p>
        </p:txBody>
      </p:sp>
      <p:sp>
        <p:nvSpPr>
          <p:cNvPr id="6" name="Process text 1"/>
          <p:cNvSpPr txBox="1"/>
          <p:nvPr/>
        </p:nvSpPr>
        <p:spPr>
          <a:xfrm>
            <a:off x="548640" y="1691640"/>
            <a:ext cx="1353312" cy="685800"/>
          </a:xfrm>
          <a:prstGeom prst="rect">
            <a:avLst/>
          </a:prstGeom>
          <a:noFill/>
          <a:ln/>
        </p:spPr>
        <p:txBody>
          <a:bodyPr wrap="square" lIns="0" tIns="0" rIns="0" bIns="0" rtlCol="0" anchor="t"/>
          <a:lstStyle/>
          <a:p>
            <a:pPr marL="0" indent="0">
              <a:buNone/>
            </a:pPr>
            <a:r>
              <a:rPr lang="en-US" sz="1200" dirty="0">
                <a:solidFill>
                  <a:schemeClr val="tx1"/>
                </a:solidFill>
              </a:rPr>
              <a:t>Application period announced on social media or verbally</a:t>
            </a:r>
            <a:endParaRPr lang="en-US" sz="1200" dirty="0"/>
          </a:p>
        </p:txBody>
      </p:sp>
      <p:sp>
        <p:nvSpPr>
          <p:cNvPr id="7" name="Process arrow 1"/>
          <p:cNvSpPr/>
          <p:nvPr/>
        </p:nvSpPr>
        <p:spPr>
          <a:xfrm>
            <a:off x="2002536" y="1892808"/>
            <a:ext cx="118872" cy="0"/>
          </a:xfrm>
          <a:prstGeom prst="line">
            <a:avLst/>
          </a:prstGeom>
          <a:noFill/>
          <a:ln w="25400">
            <a:solidFill>
              <a:schemeClr val="accent5"/>
            </a:solidFill>
            <a:prstDash val="solid"/>
            <a:tailEnd type="triangle"/>
          </a:ln>
        </p:spPr>
        <p:txBody>
          <a:bodyPr/>
          <a:lstStyle/>
          <a:p>
            <a:endParaRPr lang="en-ZA"/>
          </a:p>
        </p:txBody>
      </p:sp>
      <p:sp>
        <p:nvSpPr>
          <p:cNvPr id="8" name="Process step 2"/>
          <p:cNvSpPr/>
          <p:nvPr/>
        </p:nvSpPr>
        <p:spPr>
          <a:xfrm>
            <a:off x="2130552" y="1371600"/>
            <a:ext cx="1536192" cy="1051560"/>
          </a:xfrm>
          <a:prstGeom prst="roundRect">
            <a:avLst>
              <a:gd name="adj" fmla="val 6957"/>
            </a:avLst>
          </a:prstGeom>
          <a:solidFill>
            <a:schemeClr val="bg2"/>
          </a:solidFill>
          <a:ln w="12700">
            <a:solidFill>
              <a:schemeClr val="bg2"/>
            </a:solidFill>
            <a:prstDash val="solid"/>
          </a:ln>
        </p:spPr>
        <p:txBody>
          <a:bodyPr/>
          <a:lstStyle/>
          <a:p>
            <a:endParaRPr lang="en-ZA"/>
          </a:p>
        </p:txBody>
      </p:sp>
      <p:sp>
        <p:nvSpPr>
          <p:cNvPr id="9" name="Process number 2"/>
          <p:cNvSpPr txBox="1"/>
          <p:nvPr/>
        </p:nvSpPr>
        <p:spPr>
          <a:xfrm>
            <a:off x="2221992" y="1417320"/>
            <a:ext cx="365760" cy="274320"/>
          </a:xfrm>
          <a:prstGeom prst="rect">
            <a:avLst/>
          </a:prstGeom>
          <a:noFill/>
          <a:ln/>
        </p:spPr>
        <p:txBody>
          <a:bodyPr wrap="square" lIns="0" tIns="0" rIns="0" bIns="0" rtlCol="0" anchor="t"/>
          <a:lstStyle/>
          <a:p>
            <a:pPr marL="0" indent="0">
              <a:buNone/>
            </a:pPr>
            <a:r>
              <a:rPr lang="en-US" sz="1500" b="1" dirty="0">
                <a:solidFill>
                  <a:schemeClr val="accent1"/>
                </a:solidFill>
              </a:rPr>
              <a:t>2</a:t>
            </a:r>
            <a:endParaRPr lang="en-US" sz="1500" dirty="0"/>
          </a:p>
        </p:txBody>
      </p:sp>
      <p:sp>
        <p:nvSpPr>
          <p:cNvPr id="10" name="Process text 2"/>
          <p:cNvSpPr txBox="1"/>
          <p:nvPr/>
        </p:nvSpPr>
        <p:spPr>
          <a:xfrm>
            <a:off x="2221992" y="1691640"/>
            <a:ext cx="1353312" cy="685800"/>
          </a:xfrm>
          <a:prstGeom prst="rect">
            <a:avLst/>
          </a:prstGeom>
          <a:noFill/>
          <a:ln/>
        </p:spPr>
        <p:txBody>
          <a:bodyPr wrap="square" lIns="0" tIns="0" rIns="0" bIns="0" rtlCol="0" anchor="t"/>
          <a:lstStyle/>
          <a:p>
            <a:pPr marL="0" indent="0">
              <a:buNone/>
            </a:pPr>
            <a:r>
              <a:rPr lang="en-US" sz="1200" dirty="0">
                <a:solidFill>
                  <a:schemeClr val="tx1"/>
                </a:solidFill>
              </a:rPr>
              <a:t>Parents travel to school and join long queues</a:t>
            </a:r>
            <a:endParaRPr lang="en-US" sz="1200" dirty="0"/>
          </a:p>
        </p:txBody>
      </p:sp>
      <p:sp>
        <p:nvSpPr>
          <p:cNvPr id="11" name="Process arrow 2"/>
          <p:cNvSpPr/>
          <p:nvPr/>
        </p:nvSpPr>
        <p:spPr>
          <a:xfrm>
            <a:off x="3675888" y="1892808"/>
            <a:ext cx="118872" cy="0"/>
          </a:xfrm>
          <a:prstGeom prst="line">
            <a:avLst/>
          </a:prstGeom>
          <a:noFill/>
          <a:ln w="25400">
            <a:solidFill>
              <a:schemeClr val="accent5"/>
            </a:solidFill>
            <a:prstDash val="solid"/>
            <a:tailEnd type="triangle"/>
          </a:ln>
        </p:spPr>
        <p:txBody>
          <a:bodyPr/>
          <a:lstStyle/>
          <a:p>
            <a:endParaRPr lang="en-ZA"/>
          </a:p>
        </p:txBody>
      </p:sp>
      <p:sp>
        <p:nvSpPr>
          <p:cNvPr id="12" name="Process step 3"/>
          <p:cNvSpPr/>
          <p:nvPr/>
        </p:nvSpPr>
        <p:spPr>
          <a:xfrm>
            <a:off x="3803904" y="1371600"/>
            <a:ext cx="1536192" cy="1051560"/>
          </a:xfrm>
          <a:prstGeom prst="roundRect">
            <a:avLst>
              <a:gd name="adj" fmla="val 6957"/>
            </a:avLst>
          </a:prstGeom>
          <a:solidFill>
            <a:schemeClr val="bg2"/>
          </a:solidFill>
          <a:ln w="12700">
            <a:solidFill>
              <a:schemeClr val="bg2"/>
            </a:solidFill>
            <a:prstDash val="solid"/>
          </a:ln>
        </p:spPr>
        <p:txBody>
          <a:bodyPr/>
          <a:lstStyle/>
          <a:p>
            <a:endParaRPr lang="en-ZA"/>
          </a:p>
        </p:txBody>
      </p:sp>
      <p:sp>
        <p:nvSpPr>
          <p:cNvPr id="13" name="Process number 3"/>
          <p:cNvSpPr txBox="1"/>
          <p:nvPr/>
        </p:nvSpPr>
        <p:spPr>
          <a:xfrm>
            <a:off x="3895344" y="1417320"/>
            <a:ext cx="365760" cy="274320"/>
          </a:xfrm>
          <a:prstGeom prst="rect">
            <a:avLst/>
          </a:prstGeom>
          <a:noFill/>
          <a:ln/>
        </p:spPr>
        <p:txBody>
          <a:bodyPr wrap="square" lIns="0" tIns="0" rIns="0" bIns="0" rtlCol="0" anchor="t"/>
          <a:lstStyle/>
          <a:p>
            <a:pPr marL="0" indent="0">
              <a:buNone/>
            </a:pPr>
            <a:r>
              <a:rPr lang="en-US" sz="1500" b="1" dirty="0">
                <a:solidFill>
                  <a:schemeClr val="accent1"/>
                </a:solidFill>
              </a:rPr>
              <a:t>3</a:t>
            </a:r>
            <a:endParaRPr lang="en-US" sz="1500" dirty="0"/>
          </a:p>
        </p:txBody>
      </p:sp>
      <p:sp>
        <p:nvSpPr>
          <p:cNvPr id="14" name="Process text 3"/>
          <p:cNvSpPr txBox="1"/>
          <p:nvPr/>
        </p:nvSpPr>
        <p:spPr>
          <a:xfrm>
            <a:off x="3895344" y="1691640"/>
            <a:ext cx="1353312" cy="685800"/>
          </a:xfrm>
          <a:prstGeom prst="rect">
            <a:avLst/>
          </a:prstGeom>
          <a:noFill/>
          <a:ln/>
        </p:spPr>
        <p:txBody>
          <a:bodyPr wrap="square" lIns="0" tIns="0" rIns="0" bIns="0" rtlCol="0" anchor="t"/>
          <a:lstStyle/>
          <a:p>
            <a:pPr marL="0" indent="0">
              <a:buNone/>
            </a:pPr>
            <a:r>
              <a:rPr lang="en-US" sz="1200" dirty="0">
                <a:solidFill>
                  <a:schemeClr val="tx1"/>
                </a:solidFill>
              </a:rPr>
              <a:t>Paper forms collected and filled in by hand</a:t>
            </a:r>
            <a:endParaRPr lang="en-US" sz="1200" dirty="0"/>
          </a:p>
        </p:txBody>
      </p:sp>
      <p:sp>
        <p:nvSpPr>
          <p:cNvPr id="15" name="Process arrow 3"/>
          <p:cNvSpPr/>
          <p:nvPr/>
        </p:nvSpPr>
        <p:spPr>
          <a:xfrm>
            <a:off x="5349240" y="1892808"/>
            <a:ext cx="118872" cy="0"/>
          </a:xfrm>
          <a:prstGeom prst="line">
            <a:avLst/>
          </a:prstGeom>
          <a:noFill/>
          <a:ln w="25400">
            <a:solidFill>
              <a:schemeClr val="accent5"/>
            </a:solidFill>
            <a:prstDash val="solid"/>
            <a:tailEnd type="triangle"/>
          </a:ln>
        </p:spPr>
        <p:txBody>
          <a:bodyPr/>
          <a:lstStyle/>
          <a:p>
            <a:endParaRPr lang="en-ZA"/>
          </a:p>
        </p:txBody>
      </p:sp>
      <p:sp>
        <p:nvSpPr>
          <p:cNvPr id="16" name="Process step 4"/>
          <p:cNvSpPr/>
          <p:nvPr/>
        </p:nvSpPr>
        <p:spPr>
          <a:xfrm>
            <a:off x="5477256" y="1371600"/>
            <a:ext cx="1536192" cy="1051560"/>
          </a:xfrm>
          <a:prstGeom prst="roundRect">
            <a:avLst>
              <a:gd name="adj" fmla="val 6957"/>
            </a:avLst>
          </a:prstGeom>
          <a:solidFill>
            <a:schemeClr val="bg2"/>
          </a:solidFill>
          <a:ln w="12700">
            <a:solidFill>
              <a:schemeClr val="bg2"/>
            </a:solidFill>
            <a:prstDash val="solid"/>
          </a:ln>
        </p:spPr>
        <p:txBody>
          <a:bodyPr/>
          <a:lstStyle/>
          <a:p>
            <a:endParaRPr lang="en-ZA"/>
          </a:p>
        </p:txBody>
      </p:sp>
      <p:sp>
        <p:nvSpPr>
          <p:cNvPr id="17" name="Process number 4"/>
          <p:cNvSpPr txBox="1"/>
          <p:nvPr/>
        </p:nvSpPr>
        <p:spPr>
          <a:xfrm>
            <a:off x="5568696" y="1417320"/>
            <a:ext cx="365760" cy="274320"/>
          </a:xfrm>
          <a:prstGeom prst="rect">
            <a:avLst/>
          </a:prstGeom>
          <a:noFill/>
          <a:ln/>
        </p:spPr>
        <p:txBody>
          <a:bodyPr wrap="square" lIns="0" tIns="0" rIns="0" bIns="0" rtlCol="0" anchor="t"/>
          <a:lstStyle/>
          <a:p>
            <a:pPr marL="0" indent="0">
              <a:buNone/>
            </a:pPr>
            <a:r>
              <a:rPr lang="en-US" sz="1500" b="1" dirty="0">
                <a:solidFill>
                  <a:schemeClr val="accent1"/>
                </a:solidFill>
              </a:rPr>
              <a:t>4</a:t>
            </a:r>
            <a:endParaRPr lang="en-US" sz="1500" dirty="0"/>
          </a:p>
        </p:txBody>
      </p:sp>
      <p:sp>
        <p:nvSpPr>
          <p:cNvPr id="18" name="Process text 4"/>
          <p:cNvSpPr txBox="1"/>
          <p:nvPr/>
        </p:nvSpPr>
        <p:spPr>
          <a:xfrm>
            <a:off x="5568696" y="1691640"/>
            <a:ext cx="1353312" cy="685800"/>
          </a:xfrm>
          <a:prstGeom prst="rect">
            <a:avLst/>
          </a:prstGeom>
          <a:noFill/>
          <a:ln/>
        </p:spPr>
        <p:txBody>
          <a:bodyPr wrap="square" lIns="0" tIns="0" rIns="0" bIns="0" rtlCol="0" anchor="t"/>
          <a:lstStyle/>
          <a:p>
            <a:pPr marL="0" indent="0">
              <a:buNone/>
            </a:pPr>
            <a:r>
              <a:rPr lang="en-US" sz="1200" dirty="0">
                <a:solidFill>
                  <a:schemeClr val="tx1"/>
                </a:solidFill>
              </a:rPr>
              <a:t>Admin staff pile up and process papers manually</a:t>
            </a:r>
            <a:endParaRPr lang="en-US" sz="1200" dirty="0"/>
          </a:p>
        </p:txBody>
      </p:sp>
      <p:sp>
        <p:nvSpPr>
          <p:cNvPr id="19" name="Process arrow 4"/>
          <p:cNvSpPr/>
          <p:nvPr/>
        </p:nvSpPr>
        <p:spPr>
          <a:xfrm>
            <a:off x="7022592" y="1892808"/>
            <a:ext cx="118872" cy="0"/>
          </a:xfrm>
          <a:prstGeom prst="line">
            <a:avLst/>
          </a:prstGeom>
          <a:noFill/>
          <a:ln w="25400">
            <a:solidFill>
              <a:schemeClr val="accent5"/>
            </a:solidFill>
            <a:prstDash val="solid"/>
            <a:tailEnd type="triangle"/>
          </a:ln>
        </p:spPr>
        <p:txBody>
          <a:bodyPr/>
          <a:lstStyle/>
          <a:p>
            <a:endParaRPr lang="en-ZA"/>
          </a:p>
        </p:txBody>
      </p:sp>
      <p:sp>
        <p:nvSpPr>
          <p:cNvPr id="20" name="Process step 5"/>
          <p:cNvSpPr/>
          <p:nvPr/>
        </p:nvSpPr>
        <p:spPr>
          <a:xfrm>
            <a:off x="7150608" y="1371600"/>
            <a:ext cx="1536192" cy="1051560"/>
          </a:xfrm>
          <a:prstGeom prst="roundRect">
            <a:avLst>
              <a:gd name="adj" fmla="val 6957"/>
            </a:avLst>
          </a:prstGeom>
          <a:solidFill>
            <a:schemeClr val="bg2"/>
          </a:solidFill>
          <a:ln w="12700">
            <a:solidFill>
              <a:schemeClr val="bg2"/>
            </a:solidFill>
            <a:prstDash val="solid"/>
          </a:ln>
        </p:spPr>
        <p:txBody>
          <a:bodyPr/>
          <a:lstStyle/>
          <a:p>
            <a:endParaRPr lang="en-ZA"/>
          </a:p>
        </p:txBody>
      </p:sp>
      <p:sp>
        <p:nvSpPr>
          <p:cNvPr id="21" name="Process number 5"/>
          <p:cNvSpPr txBox="1"/>
          <p:nvPr/>
        </p:nvSpPr>
        <p:spPr>
          <a:xfrm>
            <a:off x="7242048" y="1417320"/>
            <a:ext cx="365760" cy="274320"/>
          </a:xfrm>
          <a:prstGeom prst="rect">
            <a:avLst/>
          </a:prstGeom>
          <a:noFill/>
          <a:ln/>
        </p:spPr>
        <p:txBody>
          <a:bodyPr wrap="square" lIns="0" tIns="0" rIns="0" bIns="0" rtlCol="0" anchor="t"/>
          <a:lstStyle/>
          <a:p>
            <a:pPr marL="0" indent="0">
              <a:buNone/>
            </a:pPr>
            <a:r>
              <a:rPr lang="en-US" sz="1500" b="1" dirty="0">
                <a:solidFill>
                  <a:schemeClr val="accent1"/>
                </a:solidFill>
              </a:rPr>
              <a:t>5</a:t>
            </a:r>
            <a:endParaRPr lang="en-US" sz="1500" dirty="0"/>
          </a:p>
        </p:txBody>
      </p:sp>
      <p:sp>
        <p:nvSpPr>
          <p:cNvPr id="22" name="Process text 5"/>
          <p:cNvSpPr txBox="1"/>
          <p:nvPr/>
        </p:nvSpPr>
        <p:spPr>
          <a:xfrm>
            <a:off x="7242048" y="1691640"/>
            <a:ext cx="1353312" cy="685800"/>
          </a:xfrm>
          <a:prstGeom prst="rect">
            <a:avLst/>
          </a:prstGeom>
          <a:noFill/>
          <a:ln/>
        </p:spPr>
        <p:txBody>
          <a:bodyPr wrap="square" lIns="0" tIns="0" rIns="0" bIns="0" rtlCol="0" anchor="t"/>
          <a:lstStyle/>
          <a:p>
            <a:pPr marL="0" indent="0">
              <a:buNone/>
            </a:pPr>
            <a:r>
              <a:rPr lang="en-US" sz="1200" dirty="0">
                <a:solidFill>
                  <a:schemeClr val="tx1"/>
                </a:solidFill>
              </a:rPr>
              <a:t>Outcomes shared on social media</a:t>
            </a:r>
            <a:endParaRPr lang="en-US" sz="1200" dirty="0"/>
          </a:p>
        </p:txBody>
      </p:sp>
      <p:sp>
        <p:nvSpPr>
          <p:cNvPr id="23" name="Impact card 1"/>
          <p:cNvSpPr/>
          <p:nvPr/>
        </p:nvSpPr>
        <p:spPr>
          <a:xfrm>
            <a:off x="457200" y="2651760"/>
            <a:ext cx="2651760" cy="2011680"/>
          </a:xfrm>
          <a:prstGeom prst="roundRect">
            <a:avLst>
              <a:gd name="adj" fmla="val 3636"/>
            </a:avLst>
          </a:prstGeom>
          <a:solidFill>
            <a:schemeClr val="bg2"/>
          </a:solidFill>
          <a:ln w="12700">
            <a:solidFill>
              <a:schemeClr val="bg2"/>
            </a:solidFill>
            <a:prstDash val="solid"/>
          </a:ln>
        </p:spPr>
        <p:txBody>
          <a:bodyPr/>
          <a:lstStyle/>
          <a:p>
            <a:endParaRPr lang="en-ZA"/>
          </a:p>
        </p:txBody>
      </p:sp>
      <p:sp>
        <p:nvSpPr>
          <p:cNvPr id="24" name="Impact icon 1 circle"/>
          <p:cNvSpPr/>
          <p:nvPr/>
        </p:nvSpPr>
        <p:spPr>
          <a:xfrm>
            <a:off x="594360" y="274320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25" name="Impact icon 1" descr="Impact icon 1"/>
          <p:cNvPicPr>
            <a:picLocks noChangeAspect="1"/>
          </p:cNvPicPr>
          <p:nvPr/>
        </p:nvPicPr>
        <p:blipFill>
          <a:blip r:embed="rId3"/>
          <a:stretch>
            <a:fillRect/>
          </a:stretch>
        </p:blipFill>
        <p:spPr>
          <a:xfrm>
            <a:off x="713232" y="2862072"/>
            <a:ext cx="219456" cy="219456"/>
          </a:xfrm>
          <a:prstGeom prst="rect">
            <a:avLst/>
          </a:prstGeom>
        </p:spPr>
      </p:pic>
      <p:sp>
        <p:nvSpPr>
          <p:cNvPr id="26" name="Impact heading 1"/>
          <p:cNvSpPr txBox="1"/>
          <p:nvPr/>
        </p:nvSpPr>
        <p:spPr>
          <a:xfrm>
            <a:off x="1143000" y="2788920"/>
            <a:ext cx="1828800" cy="365760"/>
          </a:xfrm>
          <a:prstGeom prst="rect">
            <a:avLst/>
          </a:prstGeom>
          <a:noFill/>
          <a:ln/>
        </p:spPr>
        <p:txBody>
          <a:bodyPr wrap="square" lIns="0" tIns="0" rIns="0" bIns="0" rtlCol="0" anchor="ctr"/>
          <a:lstStyle/>
          <a:p>
            <a:pPr marL="0" indent="0">
              <a:buNone/>
            </a:pPr>
            <a:r>
              <a:rPr lang="en-US" sz="1500" b="1" dirty="0">
                <a:solidFill>
                  <a:schemeClr val="tx2"/>
                </a:solidFill>
              </a:rPr>
              <a:t>Parents</a:t>
            </a:r>
            <a:endParaRPr lang="en-US" sz="1500" dirty="0"/>
          </a:p>
        </p:txBody>
      </p:sp>
      <p:sp>
        <p:nvSpPr>
          <p:cNvPr id="27" name="Impact list 1"/>
          <p:cNvSpPr txBox="1"/>
          <p:nvPr/>
        </p:nvSpPr>
        <p:spPr>
          <a:xfrm>
            <a:off x="594360" y="3291840"/>
            <a:ext cx="2377440" cy="13258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Time off work or transport to the school</a:t>
            </a:r>
            <a:endParaRPr lang="en-US" sz="1200" dirty="0"/>
          </a:p>
          <a:p>
            <a:pPr marL="342900" indent="-342900">
              <a:spcAft>
                <a:spcPts val="300"/>
              </a:spcAft>
              <a:buSzPct val="100000"/>
              <a:buChar char="•"/>
            </a:pPr>
            <a:r>
              <a:rPr lang="en-US" sz="1200" dirty="0">
                <a:solidFill>
                  <a:schemeClr val="tx1"/>
                </a:solidFill>
              </a:rPr>
              <a:t>Long queues in the application window</a:t>
            </a:r>
            <a:endParaRPr lang="en-US" sz="1200" dirty="0"/>
          </a:p>
          <a:p>
            <a:pPr marL="342900" indent="-342900">
              <a:spcAft>
                <a:spcPts val="300"/>
              </a:spcAft>
              <a:buSzPct val="100000"/>
              <a:buChar char="•"/>
            </a:pPr>
            <a:r>
              <a:rPr lang="en-US" sz="1200" dirty="0">
                <a:solidFill>
                  <a:schemeClr val="tx1"/>
                </a:solidFill>
              </a:rPr>
              <a:t>Hand-filled forms often wrongly completed</a:t>
            </a:r>
            <a:endParaRPr lang="en-US" sz="1200" dirty="0"/>
          </a:p>
        </p:txBody>
      </p:sp>
      <p:sp>
        <p:nvSpPr>
          <p:cNvPr id="28" name="Impact card 2"/>
          <p:cNvSpPr/>
          <p:nvPr/>
        </p:nvSpPr>
        <p:spPr>
          <a:xfrm>
            <a:off x="3246120" y="2651760"/>
            <a:ext cx="2651760" cy="2011680"/>
          </a:xfrm>
          <a:prstGeom prst="roundRect">
            <a:avLst>
              <a:gd name="adj" fmla="val 3636"/>
            </a:avLst>
          </a:prstGeom>
          <a:solidFill>
            <a:schemeClr val="bg2"/>
          </a:solidFill>
          <a:ln w="12700">
            <a:solidFill>
              <a:schemeClr val="bg2"/>
            </a:solidFill>
            <a:prstDash val="solid"/>
          </a:ln>
        </p:spPr>
        <p:txBody>
          <a:bodyPr/>
          <a:lstStyle/>
          <a:p>
            <a:endParaRPr lang="en-ZA"/>
          </a:p>
        </p:txBody>
      </p:sp>
      <p:sp>
        <p:nvSpPr>
          <p:cNvPr id="29" name="Impact icon 2 circle"/>
          <p:cNvSpPr/>
          <p:nvPr/>
        </p:nvSpPr>
        <p:spPr>
          <a:xfrm>
            <a:off x="3383280" y="274320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30" name="Impact icon 2" descr="Impact icon 2"/>
          <p:cNvPicPr>
            <a:picLocks noChangeAspect="1"/>
          </p:cNvPicPr>
          <p:nvPr/>
        </p:nvPicPr>
        <p:blipFill>
          <a:blip r:embed="rId4"/>
          <a:stretch>
            <a:fillRect/>
          </a:stretch>
        </p:blipFill>
        <p:spPr>
          <a:xfrm>
            <a:off x="3502152" y="2862072"/>
            <a:ext cx="219456" cy="219456"/>
          </a:xfrm>
          <a:prstGeom prst="rect">
            <a:avLst/>
          </a:prstGeom>
        </p:spPr>
      </p:pic>
      <p:sp>
        <p:nvSpPr>
          <p:cNvPr id="31" name="Impact heading 2"/>
          <p:cNvSpPr txBox="1"/>
          <p:nvPr/>
        </p:nvSpPr>
        <p:spPr>
          <a:xfrm>
            <a:off x="3931920" y="2788920"/>
            <a:ext cx="1828800" cy="365760"/>
          </a:xfrm>
          <a:prstGeom prst="rect">
            <a:avLst/>
          </a:prstGeom>
          <a:noFill/>
          <a:ln/>
        </p:spPr>
        <p:txBody>
          <a:bodyPr wrap="square" lIns="0" tIns="0" rIns="0" bIns="0" rtlCol="0" anchor="ctr"/>
          <a:lstStyle/>
          <a:p>
            <a:pPr marL="0" indent="0">
              <a:buNone/>
            </a:pPr>
            <a:r>
              <a:rPr lang="en-US" sz="1500" b="1" dirty="0">
                <a:solidFill>
                  <a:schemeClr val="tx2"/>
                </a:solidFill>
              </a:rPr>
              <a:t>Admin staff</a:t>
            </a:r>
            <a:endParaRPr lang="en-US" sz="1500" dirty="0"/>
          </a:p>
        </p:txBody>
      </p:sp>
      <p:sp>
        <p:nvSpPr>
          <p:cNvPr id="32" name="Impact list 2"/>
          <p:cNvSpPr txBox="1"/>
          <p:nvPr/>
        </p:nvSpPr>
        <p:spPr>
          <a:xfrm>
            <a:off x="3383280" y="3291840"/>
            <a:ext cx="2377440" cy="13258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Many papers to process at once</a:t>
            </a:r>
            <a:endParaRPr lang="en-US" sz="1200" dirty="0"/>
          </a:p>
          <a:p>
            <a:pPr marL="342900" indent="-342900">
              <a:spcAft>
                <a:spcPts val="300"/>
              </a:spcAft>
              <a:buSzPct val="100000"/>
              <a:buChar char="•"/>
            </a:pPr>
            <a:r>
              <a:rPr lang="en-US" sz="1200" dirty="0">
                <a:solidFill>
                  <a:schemeClr val="tx1"/>
                </a:solidFill>
              </a:rPr>
              <a:t>Decisions made by reviewing each form manually</a:t>
            </a:r>
            <a:endParaRPr lang="en-US" sz="1200" dirty="0"/>
          </a:p>
          <a:p>
            <a:pPr marL="342900" indent="-342900">
              <a:spcAft>
                <a:spcPts val="300"/>
              </a:spcAft>
              <a:buSzPct val="100000"/>
              <a:buChar char="•"/>
            </a:pPr>
            <a:r>
              <a:rPr lang="en-US" sz="1200" dirty="0">
                <a:solidFill>
                  <a:schemeClr val="tx1"/>
                </a:solidFill>
              </a:rPr>
              <a:t>Missing information found late</a:t>
            </a:r>
            <a:endParaRPr lang="en-US" sz="1200" dirty="0"/>
          </a:p>
        </p:txBody>
      </p:sp>
      <p:sp>
        <p:nvSpPr>
          <p:cNvPr id="33" name="Impact card 3"/>
          <p:cNvSpPr/>
          <p:nvPr/>
        </p:nvSpPr>
        <p:spPr>
          <a:xfrm>
            <a:off x="6035040" y="2651760"/>
            <a:ext cx="2651760" cy="2011680"/>
          </a:xfrm>
          <a:prstGeom prst="roundRect">
            <a:avLst>
              <a:gd name="adj" fmla="val 3636"/>
            </a:avLst>
          </a:prstGeom>
          <a:solidFill>
            <a:schemeClr val="bg2"/>
          </a:solidFill>
          <a:ln w="12700">
            <a:solidFill>
              <a:schemeClr val="bg2"/>
            </a:solidFill>
            <a:prstDash val="solid"/>
          </a:ln>
        </p:spPr>
        <p:txBody>
          <a:bodyPr/>
          <a:lstStyle/>
          <a:p>
            <a:endParaRPr lang="en-ZA"/>
          </a:p>
        </p:txBody>
      </p:sp>
      <p:sp>
        <p:nvSpPr>
          <p:cNvPr id="34" name="Impact icon 3 circle"/>
          <p:cNvSpPr/>
          <p:nvPr/>
        </p:nvSpPr>
        <p:spPr>
          <a:xfrm>
            <a:off x="6172200" y="274320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35" name="Impact icon 3" descr="Impact icon 3"/>
          <p:cNvPicPr>
            <a:picLocks noChangeAspect="1"/>
          </p:cNvPicPr>
          <p:nvPr/>
        </p:nvPicPr>
        <p:blipFill>
          <a:blip r:embed="rId5"/>
          <a:stretch>
            <a:fillRect/>
          </a:stretch>
        </p:blipFill>
        <p:spPr>
          <a:xfrm>
            <a:off x="6291072" y="2862072"/>
            <a:ext cx="219456" cy="219456"/>
          </a:xfrm>
          <a:prstGeom prst="rect">
            <a:avLst/>
          </a:prstGeom>
        </p:spPr>
      </p:pic>
      <p:sp>
        <p:nvSpPr>
          <p:cNvPr id="36" name="Impact heading 3"/>
          <p:cNvSpPr txBox="1"/>
          <p:nvPr/>
        </p:nvSpPr>
        <p:spPr>
          <a:xfrm>
            <a:off x="6720840" y="2788920"/>
            <a:ext cx="1828800" cy="365760"/>
          </a:xfrm>
          <a:prstGeom prst="rect">
            <a:avLst/>
          </a:prstGeom>
          <a:noFill/>
          <a:ln/>
        </p:spPr>
        <p:txBody>
          <a:bodyPr wrap="square" lIns="0" tIns="0" rIns="0" bIns="0" rtlCol="0" anchor="ctr"/>
          <a:lstStyle/>
          <a:p>
            <a:pPr marL="0" indent="0">
              <a:buNone/>
            </a:pPr>
            <a:r>
              <a:rPr lang="en-US" sz="1500" b="1" dirty="0">
                <a:solidFill>
                  <a:schemeClr val="tx2"/>
                </a:solidFill>
              </a:rPr>
              <a:t>The school</a:t>
            </a:r>
            <a:endParaRPr lang="en-US" sz="1500" dirty="0"/>
          </a:p>
        </p:txBody>
      </p:sp>
      <p:sp>
        <p:nvSpPr>
          <p:cNvPr id="37" name="Impact list 3"/>
          <p:cNvSpPr txBox="1"/>
          <p:nvPr/>
        </p:nvSpPr>
        <p:spPr>
          <a:xfrm>
            <a:off x="6172200" y="3291840"/>
            <a:ext cx="2377440" cy="13258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Relies on social media for updates</a:t>
            </a:r>
            <a:endParaRPr lang="en-US" sz="1200" dirty="0"/>
          </a:p>
          <a:p>
            <a:pPr marL="342900" indent="-342900">
              <a:spcAft>
                <a:spcPts val="300"/>
              </a:spcAft>
              <a:buSzPct val="100000"/>
              <a:buChar char="•"/>
            </a:pPr>
            <a:r>
              <a:rPr lang="en-US" sz="1200" dirty="0">
                <a:solidFill>
                  <a:schemeClr val="tx1"/>
                </a:solidFill>
              </a:rPr>
              <a:t>Not every parent has access</a:t>
            </a:r>
            <a:endParaRPr lang="en-US" sz="1200" dirty="0"/>
          </a:p>
          <a:p>
            <a:pPr marL="342900" indent="-342900">
              <a:spcAft>
                <a:spcPts val="300"/>
              </a:spcAft>
              <a:buSzPct val="100000"/>
              <a:buChar char="•"/>
            </a:pPr>
            <a:r>
              <a:rPr lang="en-US" sz="1200" dirty="0">
                <a:solidFill>
                  <a:schemeClr val="tx1"/>
                </a:solidFill>
              </a:rPr>
              <a:t>Achievements not easily shared with the public</a:t>
            </a:r>
            <a:endParaRPr lang="en-US" sz="1200" dirty="0"/>
          </a:p>
        </p:txBody>
      </p:sp>
      <p:sp>
        <p:nvSpPr>
          <p:cNvPr id="38"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Our solution and its objectives</a:t>
            </a:r>
            <a:endParaRPr lang="en-US" sz="2800" dirty="0"/>
          </a:p>
        </p:txBody>
      </p:sp>
      <p:sp>
        <p:nvSpPr>
          <p:cNvPr id="3" name="Aim card"/>
          <p:cNvSpPr/>
          <p:nvPr/>
        </p:nvSpPr>
        <p:spPr>
          <a:xfrm>
            <a:off x="457200" y="1097280"/>
            <a:ext cx="8229600" cy="868680"/>
          </a:xfrm>
          <a:prstGeom prst="roundRect">
            <a:avLst>
              <a:gd name="adj" fmla="val 8421"/>
            </a:avLst>
          </a:prstGeom>
          <a:solidFill>
            <a:schemeClr val="tx2"/>
          </a:solidFill>
          <a:ln w="12700">
            <a:solidFill>
              <a:schemeClr val="tx2"/>
            </a:solidFill>
            <a:prstDash val="solid"/>
          </a:ln>
        </p:spPr>
        <p:txBody>
          <a:bodyPr/>
          <a:lstStyle/>
          <a:p>
            <a:endParaRPr lang="en-ZA"/>
          </a:p>
        </p:txBody>
      </p:sp>
      <p:sp>
        <p:nvSpPr>
          <p:cNvPr id="4" name="Aim text"/>
          <p:cNvSpPr txBox="1"/>
          <p:nvPr/>
        </p:nvSpPr>
        <p:spPr>
          <a:xfrm>
            <a:off x="640080" y="1170432"/>
            <a:ext cx="7863840" cy="731520"/>
          </a:xfrm>
          <a:prstGeom prst="rect">
            <a:avLst/>
          </a:prstGeom>
          <a:noFill/>
          <a:ln/>
        </p:spPr>
        <p:txBody>
          <a:bodyPr wrap="square" lIns="0" tIns="0" rIns="0" bIns="0" rtlCol="0" anchor="ctr"/>
          <a:lstStyle/>
          <a:p>
            <a:pPr marL="0" indent="0">
              <a:buNone/>
            </a:pPr>
            <a:r>
              <a:rPr lang="en-US" sz="1400" b="1" dirty="0">
                <a:solidFill>
                  <a:schemeClr val="accent4"/>
                </a:solidFill>
              </a:rPr>
              <a:t>Aim  </a:t>
            </a:r>
            <a:r>
              <a:rPr lang="en-US" sz="1400" dirty="0">
                <a:solidFill>
                  <a:schemeClr val="bg1"/>
                </a:solidFill>
              </a:rPr>
              <a:t>Develop an integrated prototype for creating and managing learner applications and school updates: a Flutter mobile app and an ASP.NET web app that share one Supabase backend.</a:t>
            </a:r>
            <a:endParaRPr lang="en-US" sz="1400" dirty="0"/>
          </a:p>
        </p:txBody>
      </p:sp>
      <p:sp>
        <p:nvSpPr>
          <p:cNvPr id="5" name="Objective card 1"/>
          <p:cNvSpPr/>
          <p:nvPr/>
        </p:nvSpPr>
        <p:spPr>
          <a:xfrm>
            <a:off x="457200" y="2148840"/>
            <a:ext cx="4023360" cy="960120"/>
          </a:xfrm>
          <a:prstGeom prst="roundRect">
            <a:avLst>
              <a:gd name="adj" fmla="val 7619"/>
            </a:avLst>
          </a:prstGeom>
          <a:solidFill>
            <a:schemeClr val="bg2"/>
          </a:solidFill>
          <a:ln w="12700">
            <a:solidFill>
              <a:schemeClr val="bg2"/>
            </a:solidFill>
            <a:prstDash val="solid"/>
          </a:ln>
        </p:spPr>
        <p:txBody>
          <a:bodyPr/>
          <a:lstStyle/>
          <a:p>
            <a:endParaRPr lang="en-ZA"/>
          </a:p>
        </p:txBody>
      </p:sp>
      <p:sp>
        <p:nvSpPr>
          <p:cNvPr id="6" name="Objective heading 1"/>
          <p:cNvSpPr txBox="1"/>
          <p:nvPr/>
        </p:nvSpPr>
        <p:spPr>
          <a:xfrm>
            <a:off x="640080" y="2240280"/>
            <a:ext cx="3657600" cy="274320"/>
          </a:xfrm>
          <a:prstGeom prst="rect">
            <a:avLst/>
          </a:prstGeom>
          <a:noFill/>
          <a:ln/>
        </p:spPr>
        <p:txBody>
          <a:bodyPr wrap="square" lIns="0" tIns="0" rIns="0" bIns="0" rtlCol="0" anchor="t"/>
          <a:lstStyle/>
          <a:p>
            <a:pPr marL="0" indent="0">
              <a:buNone/>
            </a:pPr>
            <a:r>
              <a:rPr lang="en-US" sz="1500" b="1" dirty="0">
                <a:solidFill>
                  <a:schemeClr val="tx2"/>
                </a:solidFill>
              </a:rPr>
              <a:t>Parents apply online</a:t>
            </a:r>
            <a:endParaRPr lang="en-US" sz="1500" dirty="0"/>
          </a:p>
        </p:txBody>
      </p:sp>
      <p:sp>
        <p:nvSpPr>
          <p:cNvPr id="7" name="Objective text 1"/>
          <p:cNvSpPr txBox="1"/>
          <p:nvPr/>
        </p:nvSpPr>
        <p:spPr>
          <a:xfrm>
            <a:off x="640080" y="2560320"/>
            <a:ext cx="3657600" cy="502920"/>
          </a:xfrm>
          <a:prstGeom prst="rect">
            <a:avLst/>
          </a:prstGeom>
          <a:noFill/>
          <a:ln/>
        </p:spPr>
        <p:txBody>
          <a:bodyPr wrap="square" lIns="0" tIns="0" rIns="0" bIns="0" rtlCol="0" anchor="t"/>
          <a:lstStyle/>
          <a:p>
            <a:pPr marL="0" indent="0">
              <a:buNone/>
            </a:pPr>
            <a:r>
              <a:rPr lang="en-US" sz="1200" dirty="0">
                <a:solidFill>
                  <a:schemeClr val="tx1"/>
                </a:solidFill>
              </a:rPr>
              <a:t>Create an account, apply for a child, upload documents and track the status</a:t>
            </a:r>
            <a:endParaRPr lang="en-US" sz="1200" dirty="0"/>
          </a:p>
        </p:txBody>
      </p:sp>
      <p:sp>
        <p:nvSpPr>
          <p:cNvPr id="8" name="Objective card 2"/>
          <p:cNvSpPr/>
          <p:nvPr/>
        </p:nvSpPr>
        <p:spPr>
          <a:xfrm>
            <a:off x="4663440" y="2148840"/>
            <a:ext cx="4023360" cy="960120"/>
          </a:xfrm>
          <a:prstGeom prst="roundRect">
            <a:avLst>
              <a:gd name="adj" fmla="val 7619"/>
            </a:avLst>
          </a:prstGeom>
          <a:solidFill>
            <a:schemeClr val="bg2"/>
          </a:solidFill>
          <a:ln w="12700">
            <a:solidFill>
              <a:schemeClr val="bg2"/>
            </a:solidFill>
            <a:prstDash val="solid"/>
          </a:ln>
        </p:spPr>
        <p:txBody>
          <a:bodyPr/>
          <a:lstStyle/>
          <a:p>
            <a:endParaRPr lang="en-ZA"/>
          </a:p>
        </p:txBody>
      </p:sp>
      <p:sp>
        <p:nvSpPr>
          <p:cNvPr id="9" name="Objective heading 2"/>
          <p:cNvSpPr txBox="1"/>
          <p:nvPr/>
        </p:nvSpPr>
        <p:spPr>
          <a:xfrm>
            <a:off x="4846320" y="2240280"/>
            <a:ext cx="3657600" cy="274320"/>
          </a:xfrm>
          <a:prstGeom prst="rect">
            <a:avLst/>
          </a:prstGeom>
          <a:noFill/>
          <a:ln/>
        </p:spPr>
        <p:txBody>
          <a:bodyPr wrap="square" lIns="0" tIns="0" rIns="0" bIns="0" rtlCol="0" anchor="t"/>
          <a:lstStyle/>
          <a:p>
            <a:pPr marL="0" indent="0">
              <a:buNone/>
            </a:pPr>
            <a:r>
              <a:rPr lang="en-US" sz="1500" b="1" dirty="0">
                <a:solidFill>
                  <a:schemeClr val="tx2"/>
                </a:solidFill>
              </a:rPr>
              <a:t>Admins decide</a:t>
            </a:r>
            <a:endParaRPr lang="en-US" sz="1500" dirty="0"/>
          </a:p>
        </p:txBody>
      </p:sp>
      <p:sp>
        <p:nvSpPr>
          <p:cNvPr id="10" name="Objective text 2"/>
          <p:cNvSpPr txBox="1"/>
          <p:nvPr/>
        </p:nvSpPr>
        <p:spPr>
          <a:xfrm>
            <a:off x="4846320" y="2560320"/>
            <a:ext cx="3657600" cy="502920"/>
          </a:xfrm>
          <a:prstGeom prst="rect">
            <a:avLst/>
          </a:prstGeom>
          <a:noFill/>
          <a:ln/>
        </p:spPr>
        <p:txBody>
          <a:bodyPr wrap="square" lIns="0" tIns="0" rIns="0" bIns="0" rtlCol="0" anchor="t"/>
          <a:lstStyle/>
          <a:p>
            <a:pPr marL="0" indent="0">
              <a:buNone/>
            </a:pPr>
            <a:r>
              <a:rPr lang="en-US" sz="1200" dirty="0">
                <a:solidFill>
                  <a:schemeClr val="tx1"/>
                </a:solidFill>
              </a:rPr>
              <a:t>Review applications, accept or reject, and leave comments for parents</a:t>
            </a:r>
            <a:endParaRPr lang="en-US" sz="1200" dirty="0"/>
          </a:p>
        </p:txBody>
      </p:sp>
      <p:sp>
        <p:nvSpPr>
          <p:cNvPr id="11" name="Objective card 3"/>
          <p:cNvSpPr/>
          <p:nvPr/>
        </p:nvSpPr>
        <p:spPr>
          <a:xfrm>
            <a:off x="457200" y="3246120"/>
            <a:ext cx="4023360" cy="960120"/>
          </a:xfrm>
          <a:prstGeom prst="roundRect">
            <a:avLst>
              <a:gd name="adj" fmla="val 7619"/>
            </a:avLst>
          </a:prstGeom>
          <a:solidFill>
            <a:schemeClr val="bg2"/>
          </a:solidFill>
          <a:ln w="12700">
            <a:solidFill>
              <a:schemeClr val="bg2"/>
            </a:solidFill>
            <a:prstDash val="solid"/>
          </a:ln>
        </p:spPr>
        <p:txBody>
          <a:bodyPr/>
          <a:lstStyle/>
          <a:p>
            <a:endParaRPr lang="en-ZA"/>
          </a:p>
        </p:txBody>
      </p:sp>
      <p:sp>
        <p:nvSpPr>
          <p:cNvPr id="12" name="Objective heading 3"/>
          <p:cNvSpPr txBox="1"/>
          <p:nvPr/>
        </p:nvSpPr>
        <p:spPr>
          <a:xfrm>
            <a:off x="640080" y="3337560"/>
            <a:ext cx="3657600" cy="274320"/>
          </a:xfrm>
          <a:prstGeom prst="rect">
            <a:avLst/>
          </a:prstGeom>
          <a:noFill/>
          <a:ln/>
        </p:spPr>
        <p:txBody>
          <a:bodyPr wrap="square" lIns="0" tIns="0" rIns="0" bIns="0" rtlCol="0" anchor="t"/>
          <a:lstStyle/>
          <a:p>
            <a:pPr marL="0" indent="0">
              <a:buNone/>
            </a:pPr>
            <a:r>
              <a:rPr lang="en-US" sz="1500" b="1" dirty="0">
                <a:solidFill>
                  <a:schemeClr val="tx2"/>
                </a:solidFill>
              </a:rPr>
              <a:t>Admins publish</a:t>
            </a:r>
            <a:endParaRPr lang="en-US" sz="1500" dirty="0"/>
          </a:p>
        </p:txBody>
      </p:sp>
      <p:sp>
        <p:nvSpPr>
          <p:cNvPr id="13" name="Objective text 3"/>
          <p:cNvSpPr txBox="1"/>
          <p:nvPr/>
        </p:nvSpPr>
        <p:spPr>
          <a:xfrm>
            <a:off x="640080" y="3657600"/>
            <a:ext cx="3657600" cy="502920"/>
          </a:xfrm>
          <a:prstGeom prst="rect">
            <a:avLst/>
          </a:prstGeom>
          <a:noFill/>
          <a:ln/>
        </p:spPr>
        <p:txBody>
          <a:bodyPr wrap="square" lIns="0" tIns="0" rIns="0" bIns="0" rtlCol="0" anchor="t"/>
          <a:lstStyle/>
          <a:p>
            <a:pPr marL="0" indent="0">
              <a:buNone/>
            </a:pPr>
            <a:r>
              <a:rPr lang="en-US" sz="1200" dirty="0">
                <a:solidFill>
                  <a:schemeClr val="tx1"/>
                </a:solidFill>
              </a:rPr>
              <a:t>School updates and achievements shared with parents and the public</a:t>
            </a:r>
            <a:endParaRPr lang="en-US" sz="1200" dirty="0"/>
          </a:p>
        </p:txBody>
      </p:sp>
      <p:sp>
        <p:nvSpPr>
          <p:cNvPr id="14" name="Objective card 4"/>
          <p:cNvSpPr/>
          <p:nvPr/>
        </p:nvSpPr>
        <p:spPr>
          <a:xfrm>
            <a:off x="4663440" y="3246120"/>
            <a:ext cx="4023360" cy="960120"/>
          </a:xfrm>
          <a:prstGeom prst="roundRect">
            <a:avLst>
              <a:gd name="adj" fmla="val 7619"/>
            </a:avLst>
          </a:prstGeom>
          <a:solidFill>
            <a:schemeClr val="bg2"/>
          </a:solidFill>
          <a:ln w="12700">
            <a:solidFill>
              <a:schemeClr val="bg2"/>
            </a:solidFill>
            <a:prstDash val="solid"/>
          </a:ln>
        </p:spPr>
        <p:txBody>
          <a:bodyPr/>
          <a:lstStyle/>
          <a:p>
            <a:endParaRPr lang="en-ZA"/>
          </a:p>
        </p:txBody>
      </p:sp>
      <p:sp>
        <p:nvSpPr>
          <p:cNvPr id="15" name="Objective heading 4"/>
          <p:cNvSpPr txBox="1"/>
          <p:nvPr/>
        </p:nvSpPr>
        <p:spPr>
          <a:xfrm>
            <a:off x="4846320" y="3337560"/>
            <a:ext cx="3657600" cy="274320"/>
          </a:xfrm>
          <a:prstGeom prst="rect">
            <a:avLst/>
          </a:prstGeom>
          <a:noFill/>
          <a:ln/>
        </p:spPr>
        <p:txBody>
          <a:bodyPr wrap="square" lIns="0" tIns="0" rIns="0" bIns="0" rtlCol="0" anchor="t"/>
          <a:lstStyle/>
          <a:p>
            <a:pPr marL="0" indent="0">
              <a:buNone/>
            </a:pPr>
            <a:r>
              <a:rPr lang="en-US" sz="1500" b="1" dirty="0">
                <a:solidFill>
                  <a:schemeClr val="tx2"/>
                </a:solidFill>
              </a:rPr>
              <a:t>Everyone stays informed</a:t>
            </a:r>
            <a:endParaRPr lang="en-US" sz="1500" dirty="0"/>
          </a:p>
        </p:txBody>
      </p:sp>
      <p:sp>
        <p:nvSpPr>
          <p:cNvPr id="16" name="Objective text 4"/>
          <p:cNvSpPr txBox="1"/>
          <p:nvPr/>
        </p:nvSpPr>
        <p:spPr>
          <a:xfrm>
            <a:off x="4846320" y="3657600"/>
            <a:ext cx="3657600" cy="502920"/>
          </a:xfrm>
          <a:prstGeom prst="rect">
            <a:avLst/>
          </a:prstGeom>
          <a:noFill/>
          <a:ln/>
        </p:spPr>
        <p:txBody>
          <a:bodyPr wrap="square" lIns="0" tIns="0" rIns="0" bIns="0" rtlCol="0" anchor="t"/>
          <a:lstStyle/>
          <a:p>
            <a:pPr marL="0" indent="0">
              <a:buNone/>
            </a:pPr>
            <a:r>
              <a:rPr lang="en-US" sz="1200" dirty="0">
                <a:solidFill>
                  <a:schemeClr val="tx1"/>
                </a:solidFill>
              </a:rPr>
              <a:t>Parents view updates and achievements on mobile or web</a:t>
            </a:r>
            <a:endParaRPr lang="en-US" sz="1200" dirty="0"/>
          </a:p>
        </p:txBody>
      </p:sp>
      <p:sp>
        <p:nvSpPr>
          <p:cNvPr id="17" name="Acceptance"/>
          <p:cNvSpPr txBox="1"/>
          <p:nvPr/>
        </p:nvSpPr>
        <p:spPr>
          <a:xfrm>
            <a:off x="457200" y="4389120"/>
            <a:ext cx="8229600" cy="320040"/>
          </a:xfrm>
          <a:prstGeom prst="rect">
            <a:avLst/>
          </a:prstGeom>
          <a:noFill/>
          <a:ln/>
        </p:spPr>
        <p:txBody>
          <a:bodyPr wrap="square" lIns="0" tIns="0" rIns="0" bIns="0" rtlCol="0" anchor="ctr"/>
          <a:lstStyle/>
          <a:p>
            <a:pPr marL="0" indent="0">
              <a:buNone/>
            </a:pPr>
            <a:r>
              <a:rPr lang="en-US" sz="1300" b="1" dirty="0">
                <a:solidFill>
                  <a:schemeClr val="tx2"/>
                </a:solidFill>
              </a:rPr>
              <a:t>Acceptance criteria  </a:t>
            </a:r>
            <a:r>
              <a:rPr lang="en-US" sz="1300" dirty="0">
                <a:solidFill>
                  <a:schemeClr val="tx1"/>
                </a:solidFill>
              </a:rPr>
              <a:t>Flutter and ASP.NET share the same backend. Users can perform the same actions on mobile and web.</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Scope decisions and feasibility</a:t>
            </a:r>
            <a:endParaRPr lang="en-US" sz="2800" dirty="0"/>
          </a:p>
        </p:txBody>
      </p:sp>
      <p:sp>
        <p:nvSpPr>
          <p:cNvPr id="3" name="Scope card"/>
          <p:cNvSpPr/>
          <p:nvPr/>
        </p:nvSpPr>
        <p:spPr>
          <a:xfrm>
            <a:off x="457200" y="1097280"/>
            <a:ext cx="4023360" cy="3474720"/>
          </a:xfrm>
          <a:prstGeom prst="roundRect">
            <a:avLst>
              <a:gd name="adj" fmla="val 2105"/>
            </a:avLst>
          </a:prstGeom>
          <a:solidFill>
            <a:schemeClr val="bg2"/>
          </a:solidFill>
          <a:ln w="12700">
            <a:solidFill>
              <a:schemeClr val="bg2"/>
            </a:solidFill>
            <a:prstDash val="solid"/>
          </a:ln>
        </p:spPr>
        <p:txBody>
          <a:bodyPr/>
          <a:lstStyle/>
          <a:p>
            <a:endParaRPr lang="en-ZA"/>
          </a:p>
        </p:txBody>
      </p:sp>
      <p:sp>
        <p:nvSpPr>
          <p:cNvPr id="4" name="Scope heading"/>
          <p:cNvSpPr txBox="1"/>
          <p:nvPr/>
        </p:nvSpPr>
        <p:spPr>
          <a:xfrm>
            <a:off x="640080" y="1188720"/>
            <a:ext cx="3657600" cy="320040"/>
          </a:xfrm>
          <a:prstGeom prst="rect">
            <a:avLst/>
          </a:prstGeom>
          <a:noFill/>
          <a:ln/>
        </p:spPr>
        <p:txBody>
          <a:bodyPr wrap="square" lIns="0" tIns="0" rIns="0" bIns="0" rtlCol="0" anchor="t"/>
          <a:lstStyle/>
          <a:p>
            <a:pPr marL="0" indent="0">
              <a:buNone/>
            </a:pPr>
            <a:r>
              <a:rPr lang="en-US" sz="1600" b="1" dirty="0">
                <a:solidFill>
                  <a:schemeClr val="tx2"/>
                </a:solidFill>
              </a:rPr>
              <a:t>What we removed, and why</a:t>
            </a:r>
            <a:endParaRPr lang="en-US" sz="1600" dirty="0"/>
          </a:p>
        </p:txBody>
      </p:sp>
      <p:sp>
        <p:nvSpPr>
          <p:cNvPr id="5" name="Removed 1 pill"/>
          <p:cNvSpPr/>
          <p:nvPr/>
        </p:nvSpPr>
        <p:spPr>
          <a:xfrm>
            <a:off x="640080" y="1645920"/>
            <a:ext cx="1280160" cy="292608"/>
          </a:xfrm>
          <a:prstGeom prst="roundRect">
            <a:avLst>
              <a:gd name="adj" fmla="val 50000"/>
            </a:avLst>
          </a:prstGeom>
          <a:solidFill>
            <a:schemeClr val="accent6"/>
          </a:solidFill>
          <a:ln w="12700">
            <a:solidFill>
              <a:schemeClr val="accent6"/>
            </a:solidFill>
            <a:prstDash val="solid"/>
          </a:ln>
        </p:spPr>
        <p:txBody>
          <a:bodyPr/>
          <a:lstStyle/>
          <a:p>
            <a:endParaRPr lang="en-ZA"/>
          </a:p>
        </p:txBody>
      </p:sp>
      <p:sp>
        <p:nvSpPr>
          <p:cNvPr id="6" name="Removed 1 label"/>
          <p:cNvSpPr txBox="1"/>
          <p:nvPr/>
        </p:nvSpPr>
        <p:spPr>
          <a:xfrm>
            <a:off x="640080" y="1645920"/>
            <a:ext cx="1280160" cy="292608"/>
          </a:xfrm>
          <a:prstGeom prst="rect">
            <a:avLst/>
          </a:prstGeom>
          <a:noFill/>
          <a:ln/>
        </p:spPr>
        <p:txBody>
          <a:bodyPr wrap="square" lIns="0" tIns="0" rIns="0" bIns="0" rtlCol="0" anchor="ctr"/>
          <a:lstStyle/>
          <a:p>
            <a:pPr marL="0" indent="0" algn="ctr">
              <a:buNone/>
            </a:pPr>
            <a:r>
              <a:rPr lang="en-US" sz="1100" b="1" dirty="0">
                <a:solidFill>
                  <a:schemeClr val="bg1"/>
                </a:solidFill>
              </a:rPr>
              <a:t>Bulk SMS</a:t>
            </a:r>
            <a:endParaRPr lang="en-US" sz="1100" dirty="0"/>
          </a:p>
        </p:txBody>
      </p:sp>
      <p:sp>
        <p:nvSpPr>
          <p:cNvPr id="7" name="Removed reason 1"/>
          <p:cNvSpPr txBox="1"/>
          <p:nvPr/>
        </p:nvSpPr>
        <p:spPr>
          <a:xfrm>
            <a:off x="2057400" y="1645920"/>
            <a:ext cx="2286000" cy="457200"/>
          </a:xfrm>
          <a:prstGeom prst="rect">
            <a:avLst/>
          </a:prstGeom>
          <a:noFill/>
          <a:ln/>
        </p:spPr>
        <p:txBody>
          <a:bodyPr wrap="square" lIns="0" tIns="0" rIns="0" bIns="0" rtlCol="0" anchor="t"/>
          <a:lstStyle/>
          <a:p>
            <a:pPr marL="0" indent="0">
              <a:buNone/>
            </a:pPr>
            <a:r>
              <a:rPr lang="en-US" sz="1200" dirty="0">
                <a:solidFill>
                  <a:schemeClr val="tx1"/>
                </a:solidFill>
              </a:rPr>
              <a:t>Too complex for one semester</a:t>
            </a:r>
            <a:endParaRPr lang="en-US" sz="1200" dirty="0"/>
          </a:p>
        </p:txBody>
      </p:sp>
      <p:sp>
        <p:nvSpPr>
          <p:cNvPr id="8" name="Removed 2 pill"/>
          <p:cNvSpPr/>
          <p:nvPr/>
        </p:nvSpPr>
        <p:spPr>
          <a:xfrm>
            <a:off x="640080" y="2286000"/>
            <a:ext cx="1280160" cy="292608"/>
          </a:xfrm>
          <a:prstGeom prst="roundRect">
            <a:avLst>
              <a:gd name="adj" fmla="val 50000"/>
            </a:avLst>
          </a:prstGeom>
          <a:solidFill>
            <a:schemeClr val="accent6"/>
          </a:solidFill>
          <a:ln w="12700">
            <a:solidFill>
              <a:schemeClr val="accent6"/>
            </a:solidFill>
            <a:prstDash val="solid"/>
          </a:ln>
        </p:spPr>
        <p:txBody>
          <a:bodyPr/>
          <a:lstStyle/>
          <a:p>
            <a:endParaRPr lang="en-ZA"/>
          </a:p>
        </p:txBody>
      </p:sp>
      <p:sp>
        <p:nvSpPr>
          <p:cNvPr id="9" name="Removed 2 label"/>
          <p:cNvSpPr txBox="1"/>
          <p:nvPr/>
        </p:nvSpPr>
        <p:spPr>
          <a:xfrm>
            <a:off x="640080" y="2286000"/>
            <a:ext cx="1280160" cy="292608"/>
          </a:xfrm>
          <a:prstGeom prst="rect">
            <a:avLst/>
          </a:prstGeom>
          <a:noFill/>
          <a:ln/>
        </p:spPr>
        <p:txBody>
          <a:bodyPr wrap="square" lIns="0" tIns="0" rIns="0" bIns="0" rtlCol="0" anchor="ctr"/>
          <a:lstStyle/>
          <a:p>
            <a:pPr marL="0" indent="0" algn="ctr">
              <a:buNone/>
            </a:pPr>
            <a:r>
              <a:rPr lang="en-US" sz="1100" b="1" dirty="0">
                <a:solidFill>
                  <a:schemeClr val="bg1"/>
                </a:solidFill>
              </a:rPr>
              <a:t>Uniform shop</a:t>
            </a:r>
            <a:endParaRPr lang="en-US" sz="1100" dirty="0"/>
          </a:p>
        </p:txBody>
      </p:sp>
      <p:sp>
        <p:nvSpPr>
          <p:cNvPr id="10" name="Removed reason 2"/>
          <p:cNvSpPr txBox="1"/>
          <p:nvPr/>
        </p:nvSpPr>
        <p:spPr>
          <a:xfrm>
            <a:off x="2057400" y="2286000"/>
            <a:ext cx="2286000" cy="457200"/>
          </a:xfrm>
          <a:prstGeom prst="rect">
            <a:avLst/>
          </a:prstGeom>
          <a:noFill/>
          <a:ln/>
        </p:spPr>
        <p:txBody>
          <a:bodyPr wrap="square" lIns="0" tIns="0" rIns="0" bIns="0" rtlCol="0" anchor="t"/>
          <a:lstStyle/>
          <a:p>
            <a:pPr marL="0" indent="0">
              <a:buNone/>
            </a:pPr>
            <a:r>
              <a:rPr lang="en-US" sz="1200" dirty="0">
                <a:solidFill>
                  <a:schemeClr val="tx1"/>
                </a:solidFill>
              </a:rPr>
              <a:t>School already partners with Atlas</a:t>
            </a:r>
            <a:endParaRPr lang="en-US" sz="1200" dirty="0"/>
          </a:p>
        </p:txBody>
      </p:sp>
      <p:sp>
        <p:nvSpPr>
          <p:cNvPr id="11" name="Removed 3 pill"/>
          <p:cNvSpPr/>
          <p:nvPr/>
        </p:nvSpPr>
        <p:spPr>
          <a:xfrm>
            <a:off x="640080" y="2926080"/>
            <a:ext cx="1280160" cy="292608"/>
          </a:xfrm>
          <a:prstGeom prst="roundRect">
            <a:avLst>
              <a:gd name="adj" fmla="val 50000"/>
            </a:avLst>
          </a:prstGeom>
          <a:solidFill>
            <a:schemeClr val="accent6"/>
          </a:solidFill>
          <a:ln w="12700">
            <a:solidFill>
              <a:schemeClr val="accent6"/>
            </a:solidFill>
            <a:prstDash val="solid"/>
          </a:ln>
        </p:spPr>
        <p:txBody>
          <a:bodyPr/>
          <a:lstStyle/>
          <a:p>
            <a:endParaRPr lang="en-ZA"/>
          </a:p>
        </p:txBody>
      </p:sp>
      <p:sp>
        <p:nvSpPr>
          <p:cNvPr id="12" name="Removed 3 label"/>
          <p:cNvSpPr txBox="1"/>
          <p:nvPr/>
        </p:nvSpPr>
        <p:spPr>
          <a:xfrm>
            <a:off x="640080" y="2926080"/>
            <a:ext cx="1280160" cy="292608"/>
          </a:xfrm>
          <a:prstGeom prst="rect">
            <a:avLst/>
          </a:prstGeom>
          <a:noFill/>
          <a:ln/>
        </p:spPr>
        <p:txBody>
          <a:bodyPr wrap="square" lIns="0" tIns="0" rIns="0" bIns="0" rtlCol="0" anchor="ctr"/>
          <a:lstStyle/>
          <a:p>
            <a:pPr marL="0" indent="0" algn="ctr">
              <a:buNone/>
            </a:pPr>
            <a:r>
              <a:rPr lang="en-US" sz="1100" b="1" dirty="0">
                <a:solidFill>
                  <a:schemeClr val="bg1"/>
                </a:solidFill>
              </a:rPr>
              <a:t>E-textbooks</a:t>
            </a:r>
            <a:endParaRPr lang="en-US" sz="1100" dirty="0"/>
          </a:p>
        </p:txBody>
      </p:sp>
      <p:sp>
        <p:nvSpPr>
          <p:cNvPr id="13" name="Removed reason 3"/>
          <p:cNvSpPr txBox="1"/>
          <p:nvPr/>
        </p:nvSpPr>
        <p:spPr>
          <a:xfrm>
            <a:off x="2057400" y="2926080"/>
            <a:ext cx="2286000" cy="457200"/>
          </a:xfrm>
          <a:prstGeom prst="rect">
            <a:avLst/>
          </a:prstGeom>
          <a:noFill/>
          <a:ln/>
        </p:spPr>
        <p:txBody>
          <a:bodyPr wrap="square" lIns="0" tIns="0" rIns="0" bIns="0" rtlCol="0" anchor="t"/>
          <a:lstStyle/>
          <a:p>
            <a:pPr marL="0" indent="0">
              <a:buNone/>
            </a:pPr>
            <a:r>
              <a:rPr lang="en-US" sz="1200" dirty="0">
                <a:solidFill>
                  <a:schemeClr val="tx1"/>
                </a:solidFill>
              </a:rPr>
              <a:t>Online distribution raises copyright issues</a:t>
            </a:r>
            <a:endParaRPr lang="en-US" sz="1200" dirty="0"/>
          </a:p>
        </p:txBody>
      </p:sp>
      <p:sp>
        <p:nvSpPr>
          <p:cNvPr id="14" name="Kept text"/>
          <p:cNvSpPr txBox="1"/>
          <p:nvPr/>
        </p:nvSpPr>
        <p:spPr>
          <a:xfrm>
            <a:off x="640080" y="3611880"/>
            <a:ext cx="3657600" cy="914400"/>
          </a:xfrm>
          <a:prstGeom prst="rect">
            <a:avLst/>
          </a:prstGeom>
          <a:noFill/>
          <a:ln/>
        </p:spPr>
        <p:txBody>
          <a:bodyPr wrap="square" lIns="0" tIns="0" rIns="0" bIns="0" rtlCol="0" anchor="t"/>
          <a:lstStyle/>
          <a:p>
            <a:pPr marL="0" indent="0">
              <a:buNone/>
            </a:pPr>
            <a:r>
              <a:rPr lang="en-US" sz="1200" dirty="0">
                <a:solidFill>
                  <a:schemeClr val="tx1"/>
                </a:solidFill>
              </a:rPr>
              <a:t>Kept: account creation, applications, status tracking, admin decisions, updates, achievements and role separation. The stakeholder was informed of every change.</a:t>
            </a:r>
            <a:endParaRPr lang="en-US" sz="1200" dirty="0"/>
          </a:p>
        </p:txBody>
      </p:sp>
      <p:sp>
        <p:nvSpPr>
          <p:cNvPr id="15" name="Feasibility card"/>
          <p:cNvSpPr/>
          <p:nvPr/>
        </p:nvSpPr>
        <p:spPr>
          <a:xfrm>
            <a:off x="4663440" y="1097280"/>
            <a:ext cx="4023360" cy="3474720"/>
          </a:xfrm>
          <a:prstGeom prst="roundRect">
            <a:avLst>
              <a:gd name="adj" fmla="val 2105"/>
            </a:avLst>
          </a:prstGeom>
          <a:solidFill>
            <a:schemeClr val="bg2"/>
          </a:solidFill>
          <a:ln w="12700">
            <a:solidFill>
              <a:schemeClr val="bg2"/>
            </a:solidFill>
            <a:prstDash val="solid"/>
          </a:ln>
        </p:spPr>
        <p:txBody>
          <a:bodyPr/>
          <a:lstStyle/>
          <a:p>
            <a:endParaRPr lang="en-ZA"/>
          </a:p>
        </p:txBody>
      </p:sp>
      <p:sp>
        <p:nvSpPr>
          <p:cNvPr id="16" name="Feasibility heading"/>
          <p:cNvSpPr txBox="1"/>
          <p:nvPr/>
        </p:nvSpPr>
        <p:spPr>
          <a:xfrm>
            <a:off x="4846320" y="1188720"/>
            <a:ext cx="3657600" cy="320040"/>
          </a:xfrm>
          <a:prstGeom prst="rect">
            <a:avLst/>
          </a:prstGeom>
          <a:noFill/>
          <a:ln/>
        </p:spPr>
        <p:txBody>
          <a:bodyPr wrap="square" lIns="0" tIns="0" rIns="0" bIns="0" rtlCol="0" anchor="t"/>
          <a:lstStyle/>
          <a:p>
            <a:pPr marL="0" indent="0">
              <a:buNone/>
            </a:pPr>
            <a:r>
              <a:rPr lang="en-US" sz="1600" b="1" dirty="0">
                <a:solidFill>
                  <a:schemeClr val="tx2"/>
                </a:solidFill>
              </a:rPr>
              <a:t>Feasibility result: feasible with changes</a:t>
            </a:r>
            <a:endParaRPr lang="en-US" sz="1600" dirty="0"/>
          </a:p>
        </p:txBody>
      </p:sp>
      <p:sp>
        <p:nvSpPr>
          <p:cNvPr id="17" name="Feasibility area 1"/>
          <p:cNvSpPr txBox="1"/>
          <p:nvPr/>
        </p:nvSpPr>
        <p:spPr>
          <a:xfrm>
            <a:off x="4846320" y="1645920"/>
            <a:ext cx="1005840" cy="320040"/>
          </a:xfrm>
          <a:prstGeom prst="rect">
            <a:avLst/>
          </a:prstGeom>
          <a:noFill/>
          <a:ln/>
        </p:spPr>
        <p:txBody>
          <a:bodyPr wrap="square" lIns="0" tIns="0" rIns="0" bIns="0" rtlCol="0" anchor="ctr"/>
          <a:lstStyle/>
          <a:p>
            <a:pPr marL="0" indent="0">
              <a:buNone/>
            </a:pPr>
            <a:r>
              <a:rPr lang="en-US" sz="1300" b="1" dirty="0">
                <a:solidFill>
                  <a:schemeClr val="tx1"/>
                </a:solidFill>
              </a:rPr>
              <a:t>Technical</a:t>
            </a:r>
            <a:endParaRPr lang="en-US" sz="1300" dirty="0"/>
          </a:p>
        </p:txBody>
      </p:sp>
      <p:sp>
        <p:nvSpPr>
          <p:cNvPr id="18" name="Feasibility 1 pill"/>
          <p:cNvSpPr/>
          <p:nvPr/>
        </p:nvSpPr>
        <p:spPr>
          <a:xfrm>
            <a:off x="5852160" y="1664208"/>
            <a:ext cx="1051560" cy="292608"/>
          </a:xfrm>
          <a:prstGeom prst="roundRect">
            <a:avLst>
              <a:gd name="adj" fmla="val 50000"/>
            </a:avLst>
          </a:prstGeom>
          <a:solidFill>
            <a:schemeClr val="accent2"/>
          </a:solidFill>
          <a:ln w="12700">
            <a:solidFill>
              <a:schemeClr val="accent2"/>
            </a:solidFill>
            <a:prstDash val="solid"/>
          </a:ln>
        </p:spPr>
        <p:txBody>
          <a:bodyPr/>
          <a:lstStyle/>
          <a:p>
            <a:endParaRPr lang="en-ZA"/>
          </a:p>
        </p:txBody>
      </p:sp>
      <p:sp>
        <p:nvSpPr>
          <p:cNvPr id="19" name="Feasibility 1 label"/>
          <p:cNvSpPr txBox="1"/>
          <p:nvPr/>
        </p:nvSpPr>
        <p:spPr>
          <a:xfrm>
            <a:off x="5852160" y="1664208"/>
            <a:ext cx="1051560" cy="292608"/>
          </a:xfrm>
          <a:prstGeom prst="rect">
            <a:avLst/>
          </a:prstGeom>
          <a:noFill/>
          <a:ln/>
        </p:spPr>
        <p:txBody>
          <a:bodyPr wrap="square" lIns="0" tIns="0" rIns="0" bIns="0" rtlCol="0" anchor="ctr"/>
          <a:lstStyle/>
          <a:p>
            <a:pPr marL="0" indent="0" algn="ctr">
              <a:buNone/>
            </a:pPr>
            <a:r>
              <a:rPr lang="en-US" sz="1100" b="1" dirty="0">
                <a:solidFill>
                  <a:schemeClr val="bg1"/>
                </a:solidFill>
              </a:rPr>
              <a:t>With changes</a:t>
            </a:r>
            <a:endParaRPr lang="en-US" sz="1100" dirty="0"/>
          </a:p>
        </p:txBody>
      </p:sp>
      <p:sp>
        <p:nvSpPr>
          <p:cNvPr id="20" name="Feasibility note 1"/>
          <p:cNvSpPr txBox="1"/>
          <p:nvPr/>
        </p:nvSpPr>
        <p:spPr>
          <a:xfrm>
            <a:off x="6995160" y="1645920"/>
            <a:ext cx="1645920" cy="365760"/>
          </a:xfrm>
          <a:prstGeom prst="rect">
            <a:avLst/>
          </a:prstGeom>
          <a:noFill/>
          <a:ln/>
        </p:spPr>
        <p:txBody>
          <a:bodyPr wrap="square" lIns="0" tIns="0" rIns="0" bIns="0" rtlCol="0" anchor="ctr"/>
          <a:lstStyle/>
          <a:p>
            <a:pPr marL="0" indent="0">
              <a:buNone/>
            </a:pPr>
            <a:r>
              <a:rPr lang="en-US" sz="1100" dirty="0">
                <a:solidFill>
                  <a:schemeClr val="tx1"/>
                </a:solidFill>
              </a:rPr>
              <a:t>Learn Supabase early</a:t>
            </a:r>
            <a:endParaRPr lang="en-US" sz="1100" dirty="0"/>
          </a:p>
        </p:txBody>
      </p:sp>
      <p:sp>
        <p:nvSpPr>
          <p:cNvPr id="21" name="Feasibility area 2"/>
          <p:cNvSpPr txBox="1"/>
          <p:nvPr/>
        </p:nvSpPr>
        <p:spPr>
          <a:xfrm>
            <a:off x="4846320" y="2121408"/>
            <a:ext cx="1005840" cy="320040"/>
          </a:xfrm>
          <a:prstGeom prst="rect">
            <a:avLst/>
          </a:prstGeom>
          <a:noFill/>
          <a:ln/>
        </p:spPr>
        <p:txBody>
          <a:bodyPr wrap="square" lIns="0" tIns="0" rIns="0" bIns="0" rtlCol="0" anchor="ctr"/>
          <a:lstStyle/>
          <a:p>
            <a:pPr marL="0" indent="0">
              <a:buNone/>
            </a:pPr>
            <a:r>
              <a:rPr lang="en-US" sz="1300" b="1" dirty="0">
                <a:solidFill>
                  <a:schemeClr val="tx1"/>
                </a:solidFill>
              </a:rPr>
              <a:t>Operational</a:t>
            </a:r>
            <a:endParaRPr lang="en-US" sz="1300" dirty="0"/>
          </a:p>
        </p:txBody>
      </p:sp>
      <p:sp>
        <p:nvSpPr>
          <p:cNvPr id="22" name="Feasibility 2 pill"/>
          <p:cNvSpPr/>
          <p:nvPr/>
        </p:nvSpPr>
        <p:spPr>
          <a:xfrm>
            <a:off x="5852160" y="2139696"/>
            <a:ext cx="1051560" cy="292608"/>
          </a:xfrm>
          <a:prstGeom prst="roundRect">
            <a:avLst>
              <a:gd name="adj" fmla="val 50000"/>
            </a:avLst>
          </a:prstGeom>
          <a:solidFill>
            <a:schemeClr val="accent1"/>
          </a:solidFill>
          <a:ln w="12700">
            <a:solidFill>
              <a:schemeClr val="accent1"/>
            </a:solidFill>
            <a:prstDash val="solid"/>
          </a:ln>
        </p:spPr>
        <p:txBody>
          <a:bodyPr/>
          <a:lstStyle/>
          <a:p>
            <a:endParaRPr lang="en-ZA"/>
          </a:p>
        </p:txBody>
      </p:sp>
      <p:sp>
        <p:nvSpPr>
          <p:cNvPr id="23" name="Feasibility 2 label"/>
          <p:cNvSpPr txBox="1"/>
          <p:nvPr/>
        </p:nvSpPr>
        <p:spPr>
          <a:xfrm>
            <a:off x="5852160" y="2139696"/>
            <a:ext cx="1051560" cy="292608"/>
          </a:xfrm>
          <a:prstGeom prst="rect">
            <a:avLst/>
          </a:prstGeom>
          <a:noFill/>
          <a:ln/>
        </p:spPr>
        <p:txBody>
          <a:bodyPr wrap="square" lIns="0" tIns="0" rIns="0" bIns="0" rtlCol="0" anchor="ctr"/>
          <a:lstStyle/>
          <a:p>
            <a:pPr marL="0" indent="0" algn="ctr">
              <a:buNone/>
            </a:pPr>
            <a:r>
              <a:rPr lang="en-US" sz="1100" b="1" dirty="0">
                <a:solidFill>
                  <a:schemeClr val="bg1"/>
                </a:solidFill>
              </a:rPr>
              <a:t>Feasible</a:t>
            </a:r>
            <a:endParaRPr lang="en-US" sz="1100" dirty="0"/>
          </a:p>
        </p:txBody>
      </p:sp>
      <p:sp>
        <p:nvSpPr>
          <p:cNvPr id="24" name="Feasibility note 2"/>
          <p:cNvSpPr txBox="1"/>
          <p:nvPr/>
        </p:nvSpPr>
        <p:spPr>
          <a:xfrm>
            <a:off x="6995160" y="2121408"/>
            <a:ext cx="1645920" cy="365760"/>
          </a:xfrm>
          <a:prstGeom prst="rect">
            <a:avLst/>
          </a:prstGeom>
          <a:noFill/>
          <a:ln/>
        </p:spPr>
        <p:txBody>
          <a:bodyPr wrap="square" lIns="0" tIns="0" rIns="0" bIns="0" rtlCol="0" anchor="ctr"/>
          <a:lstStyle/>
          <a:p>
            <a:pPr marL="0" indent="0">
              <a:buNone/>
            </a:pPr>
            <a:r>
              <a:rPr lang="en-US" sz="1100" dirty="0">
                <a:solidFill>
                  <a:schemeClr val="tx1"/>
                </a:solidFill>
              </a:rPr>
              <a:t>Simple UI, little training</a:t>
            </a:r>
            <a:endParaRPr lang="en-US" sz="1100" dirty="0"/>
          </a:p>
        </p:txBody>
      </p:sp>
      <p:sp>
        <p:nvSpPr>
          <p:cNvPr id="25" name="Feasibility area 3"/>
          <p:cNvSpPr txBox="1"/>
          <p:nvPr/>
        </p:nvSpPr>
        <p:spPr>
          <a:xfrm>
            <a:off x="4846320" y="2596896"/>
            <a:ext cx="1005840" cy="320040"/>
          </a:xfrm>
          <a:prstGeom prst="rect">
            <a:avLst/>
          </a:prstGeom>
          <a:noFill/>
          <a:ln/>
        </p:spPr>
        <p:txBody>
          <a:bodyPr wrap="square" lIns="0" tIns="0" rIns="0" bIns="0" rtlCol="0" anchor="ctr"/>
          <a:lstStyle/>
          <a:p>
            <a:pPr marL="0" indent="0">
              <a:buNone/>
            </a:pPr>
            <a:r>
              <a:rPr lang="en-US" sz="1300" b="1" dirty="0">
                <a:solidFill>
                  <a:schemeClr val="tx1"/>
                </a:solidFill>
              </a:rPr>
              <a:t>Economic</a:t>
            </a:r>
            <a:endParaRPr lang="en-US" sz="1300" dirty="0"/>
          </a:p>
        </p:txBody>
      </p:sp>
      <p:sp>
        <p:nvSpPr>
          <p:cNvPr id="26" name="Feasibility 3 pill"/>
          <p:cNvSpPr/>
          <p:nvPr/>
        </p:nvSpPr>
        <p:spPr>
          <a:xfrm>
            <a:off x="5852160" y="2615184"/>
            <a:ext cx="1051560" cy="292608"/>
          </a:xfrm>
          <a:prstGeom prst="roundRect">
            <a:avLst>
              <a:gd name="adj" fmla="val 50000"/>
            </a:avLst>
          </a:prstGeom>
          <a:solidFill>
            <a:schemeClr val="accent1"/>
          </a:solidFill>
          <a:ln w="12700">
            <a:solidFill>
              <a:schemeClr val="accent1"/>
            </a:solidFill>
            <a:prstDash val="solid"/>
          </a:ln>
        </p:spPr>
        <p:txBody>
          <a:bodyPr/>
          <a:lstStyle/>
          <a:p>
            <a:endParaRPr lang="en-ZA"/>
          </a:p>
        </p:txBody>
      </p:sp>
      <p:sp>
        <p:nvSpPr>
          <p:cNvPr id="27" name="Feasibility 3 label"/>
          <p:cNvSpPr txBox="1"/>
          <p:nvPr/>
        </p:nvSpPr>
        <p:spPr>
          <a:xfrm>
            <a:off x="5852160" y="2615184"/>
            <a:ext cx="1051560" cy="292608"/>
          </a:xfrm>
          <a:prstGeom prst="rect">
            <a:avLst/>
          </a:prstGeom>
          <a:noFill/>
          <a:ln/>
        </p:spPr>
        <p:txBody>
          <a:bodyPr wrap="square" lIns="0" tIns="0" rIns="0" bIns="0" rtlCol="0" anchor="ctr"/>
          <a:lstStyle/>
          <a:p>
            <a:pPr marL="0" indent="0" algn="ctr">
              <a:buNone/>
            </a:pPr>
            <a:r>
              <a:rPr lang="en-US" sz="1100" b="1" dirty="0">
                <a:solidFill>
                  <a:schemeClr val="bg1"/>
                </a:solidFill>
              </a:rPr>
              <a:t>Feasible</a:t>
            </a:r>
            <a:endParaRPr lang="en-US" sz="1100" dirty="0"/>
          </a:p>
        </p:txBody>
      </p:sp>
      <p:sp>
        <p:nvSpPr>
          <p:cNvPr id="28" name="Feasibility note 3"/>
          <p:cNvSpPr txBox="1"/>
          <p:nvPr/>
        </p:nvSpPr>
        <p:spPr>
          <a:xfrm>
            <a:off x="6995160" y="2596896"/>
            <a:ext cx="1645920" cy="365760"/>
          </a:xfrm>
          <a:prstGeom prst="rect">
            <a:avLst/>
          </a:prstGeom>
          <a:noFill/>
          <a:ln/>
        </p:spPr>
        <p:txBody>
          <a:bodyPr wrap="square" lIns="0" tIns="0" rIns="0" bIns="0" rtlCol="0" anchor="ctr"/>
          <a:lstStyle/>
          <a:p>
            <a:pPr marL="0" indent="0">
              <a:buNone/>
            </a:pPr>
            <a:r>
              <a:rPr lang="en-US" sz="1100" dirty="0">
                <a:solidFill>
                  <a:schemeClr val="tx1"/>
                </a:solidFill>
              </a:rPr>
              <a:t>Free tiers are enough</a:t>
            </a:r>
            <a:endParaRPr lang="en-US" sz="1100" dirty="0"/>
          </a:p>
        </p:txBody>
      </p:sp>
      <p:sp>
        <p:nvSpPr>
          <p:cNvPr id="29" name="Feasibility area 4"/>
          <p:cNvSpPr txBox="1"/>
          <p:nvPr/>
        </p:nvSpPr>
        <p:spPr>
          <a:xfrm>
            <a:off x="4846320" y="3072384"/>
            <a:ext cx="1005840" cy="320040"/>
          </a:xfrm>
          <a:prstGeom prst="rect">
            <a:avLst/>
          </a:prstGeom>
          <a:noFill/>
          <a:ln/>
        </p:spPr>
        <p:txBody>
          <a:bodyPr wrap="square" lIns="0" tIns="0" rIns="0" bIns="0" rtlCol="0" anchor="ctr"/>
          <a:lstStyle/>
          <a:p>
            <a:pPr marL="0" indent="0">
              <a:buNone/>
            </a:pPr>
            <a:r>
              <a:rPr lang="en-US" sz="1300" b="1" dirty="0">
                <a:solidFill>
                  <a:schemeClr val="tx1"/>
                </a:solidFill>
              </a:rPr>
              <a:t>Schedule</a:t>
            </a:r>
            <a:endParaRPr lang="en-US" sz="1300" dirty="0"/>
          </a:p>
        </p:txBody>
      </p:sp>
      <p:sp>
        <p:nvSpPr>
          <p:cNvPr id="30" name="Feasibility 4 pill"/>
          <p:cNvSpPr/>
          <p:nvPr/>
        </p:nvSpPr>
        <p:spPr>
          <a:xfrm>
            <a:off x="5852160" y="3090672"/>
            <a:ext cx="1051560" cy="292608"/>
          </a:xfrm>
          <a:prstGeom prst="roundRect">
            <a:avLst>
              <a:gd name="adj" fmla="val 50000"/>
            </a:avLst>
          </a:prstGeom>
          <a:solidFill>
            <a:schemeClr val="accent2"/>
          </a:solidFill>
          <a:ln w="12700">
            <a:solidFill>
              <a:schemeClr val="accent2"/>
            </a:solidFill>
            <a:prstDash val="solid"/>
          </a:ln>
        </p:spPr>
        <p:txBody>
          <a:bodyPr/>
          <a:lstStyle/>
          <a:p>
            <a:endParaRPr lang="en-ZA"/>
          </a:p>
        </p:txBody>
      </p:sp>
      <p:sp>
        <p:nvSpPr>
          <p:cNvPr id="31" name="Feasibility 4 label"/>
          <p:cNvSpPr txBox="1"/>
          <p:nvPr/>
        </p:nvSpPr>
        <p:spPr>
          <a:xfrm>
            <a:off x="5852160" y="3090672"/>
            <a:ext cx="1051560" cy="292608"/>
          </a:xfrm>
          <a:prstGeom prst="rect">
            <a:avLst/>
          </a:prstGeom>
          <a:noFill/>
          <a:ln/>
        </p:spPr>
        <p:txBody>
          <a:bodyPr wrap="square" lIns="0" tIns="0" rIns="0" bIns="0" rtlCol="0" anchor="ctr"/>
          <a:lstStyle/>
          <a:p>
            <a:pPr marL="0" indent="0" algn="ctr">
              <a:buNone/>
            </a:pPr>
            <a:r>
              <a:rPr lang="en-US" sz="1100" b="1" dirty="0">
                <a:solidFill>
                  <a:schemeClr val="bg1"/>
                </a:solidFill>
              </a:rPr>
              <a:t>With changes</a:t>
            </a:r>
            <a:endParaRPr lang="en-US" sz="1100" dirty="0"/>
          </a:p>
        </p:txBody>
      </p:sp>
      <p:sp>
        <p:nvSpPr>
          <p:cNvPr id="32" name="Feasibility note 4"/>
          <p:cNvSpPr txBox="1"/>
          <p:nvPr/>
        </p:nvSpPr>
        <p:spPr>
          <a:xfrm>
            <a:off x="6995160" y="3072384"/>
            <a:ext cx="1645920" cy="365760"/>
          </a:xfrm>
          <a:prstGeom prst="rect">
            <a:avLst/>
          </a:prstGeom>
          <a:noFill/>
          <a:ln/>
        </p:spPr>
        <p:txBody>
          <a:bodyPr wrap="square" lIns="0" tIns="0" rIns="0" bIns="0" rtlCol="0" anchor="ctr"/>
          <a:lstStyle/>
          <a:p>
            <a:pPr marL="0" indent="0">
              <a:buNone/>
            </a:pPr>
            <a:r>
              <a:rPr lang="en-US" sz="1100" dirty="0">
                <a:solidFill>
                  <a:schemeClr val="tx1"/>
                </a:solidFill>
              </a:rPr>
              <a:t>Start integration early</a:t>
            </a:r>
            <a:endParaRPr lang="en-US" sz="1100" dirty="0"/>
          </a:p>
        </p:txBody>
      </p:sp>
      <p:sp>
        <p:nvSpPr>
          <p:cNvPr id="33" name="Feasibility area 5"/>
          <p:cNvSpPr txBox="1"/>
          <p:nvPr/>
        </p:nvSpPr>
        <p:spPr>
          <a:xfrm>
            <a:off x="4846320" y="3547872"/>
            <a:ext cx="1005840" cy="320040"/>
          </a:xfrm>
          <a:prstGeom prst="rect">
            <a:avLst/>
          </a:prstGeom>
          <a:noFill/>
          <a:ln/>
        </p:spPr>
        <p:txBody>
          <a:bodyPr wrap="square" lIns="0" tIns="0" rIns="0" bIns="0" rtlCol="0" anchor="ctr"/>
          <a:lstStyle/>
          <a:p>
            <a:pPr marL="0" indent="0">
              <a:buNone/>
            </a:pPr>
            <a:r>
              <a:rPr lang="en-US" sz="1300" b="1" dirty="0">
                <a:solidFill>
                  <a:schemeClr val="tx1"/>
                </a:solidFill>
              </a:rPr>
              <a:t>Legal</a:t>
            </a:r>
            <a:endParaRPr lang="en-US" sz="1300" dirty="0"/>
          </a:p>
        </p:txBody>
      </p:sp>
      <p:sp>
        <p:nvSpPr>
          <p:cNvPr id="34" name="Feasibility 5 pill"/>
          <p:cNvSpPr/>
          <p:nvPr/>
        </p:nvSpPr>
        <p:spPr>
          <a:xfrm>
            <a:off x="5852160" y="3566160"/>
            <a:ext cx="1051560" cy="292608"/>
          </a:xfrm>
          <a:prstGeom prst="roundRect">
            <a:avLst>
              <a:gd name="adj" fmla="val 50000"/>
            </a:avLst>
          </a:prstGeom>
          <a:solidFill>
            <a:schemeClr val="accent1"/>
          </a:solidFill>
          <a:ln w="12700">
            <a:solidFill>
              <a:schemeClr val="accent1"/>
            </a:solidFill>
            <a:prstDash val="solid"/>
          </a:ln>
        </p:spPr>
        <p:txBody>
          <a:bodyPr/>
          <a:lstStyle/>
          <a:p>
            <a:endParaRPr lang="en-ZA"/>
          </a:p>
        </p:txBody>
      </p:sp>
      <p:sp>
        <p:nvSpPr>
          <p:cNvPr id="35" name="Feasibility 5 label"/>
          <p:cNvSpPr txBox="1"/>
          <p:nvPr/>
        </p:nvSpPr>
        <p:spPr>
          <a:xfrm>
            <a:off x="5852160" y="3566160"/>
            <a:ext cx="1051560" cy="292608"/>
          </a:xfrm>
          <a:prstGeom prst="rect">
            <a:avLst/>
          </a:prstGeom>
          <a:noFill/>
          <a:ln/>
        </p:spPr>
        <p:txBody>
          <a:bodyPr wrap="square" lIns="0" tIns="0" rIns="0" bIns="0" rtlCol="0" anchor="ctr"/>
          <a:lstStyle/>
          <a:p>
            <a:pPr marL="0" indent="0" algn="ctr">
              <a:buNone/>
            </a:pPr>
            <a:r>
              <a:rPr lang="en-US" sz="1100" b="1" dirty="0">
                <a:solidFill>
                  <a:schemeClr val="bg1"/>
                </a:solidFill>
              </a:rPr>
              <a:t>Feasible</a:t>
            </a:r>
            <a:endParaRPr lang="en-US" sz="1100" dirty="0"/>
          </a:p>
        </p:txBody>
      </p:sp>
      <p:sp>
        <p:nvSpPr>
          <p:cNvPr id="36" name="Feasibility note 5"/>
          <p:cNvSpPr txBox="1"/>
          <p:nvPr/>
        </p:nvSpPr>
        <p:spPr>
          <a:xfrm>
            <a:off x="6995160" y="3547872"/>
            <a:ext cx="1645920" cy="365760"/>
          </a:xfrm>
          <a:prstGeom prst="rect">
            <a:avLst/>
          </a:prstGeom>
          <a:noFill/>
          <a:ln/>
        </p:spPr>
        <p:txBody>
          <a:bodyPr wrap="square" lIns="0" tIns="0" rIns="0" bIns="0" rtlCol="0" anchor="ctr"/>
          <a:lstStyle/>
          <a:p>
            <a:pPr marL="0" indent="0">
              <a:buNone/>
            </a:pPr>
            <a:r>
              <a:rPr lang="en-US" sz="1100" dirty="0">
                <a:solidFill>
                  <a:schemeClr val="tx1"/>
                </a:solidFill>
              </a:rPr>
              <a:t>Test data, no secrets in GitHub</a:t>
            </a:r>
            <a:endParaRPr lang="en-US" sz="1100" dirty="0"/>
          </a:p>
        </p:txBody>
      </p:sp>
      <p:sp>
        <p:nvSpPr>
          <p:cNvPr id="37" name="Feasibility area 6"/>
          <p:cNvSpPr txBox="1"/>
          <p:nvPr/>
        </p:nvSpPr>
        <p:spPr>
          <a:xfrm>
            <a:off x="4846320" y="4023360"/>
            <a:ext cx="1005840" cy="320040"/>
          </a:xfrm>
          <a:prstGeom prst="rect">
            <a:avLst/>
          </a:prstGeom>
          <a:noFill/>
          <a:ln/>
        </p:spPr>
        <p:txBody>
          <a:bodyPr wrap="square" lIns="0" tIns="0" rIns="0" bIns="0" rtlCol="0" anchor="ctr"/>
          <a:lstStyle/>
          <a:p>
            <a:pPr marL="0" indent="0">
              <a:buNone/>
            </a:pPr>
            <a:r>
              <a:rPr lang="en-US" sz="1300" b="1" dirty="0">
                <a:solidFill>
                  <a:schemeClr val="tx1"/>
                </a:solidFill>
              </a:rPr>
              <a:t>Ethical</a:t>
            </a:r>
            <a:endParaRPr lang="en-US" sz="1300" dirty="0"/>
          </a:p>
        </p:txBody>
      </p:sp>
      <p:sp>
        <p:nvSpPr>
          <p:cNvPr id="38" name="Feasibility 6 pill"/>
          <p:cNvSpPr/>
          <p:nvPr/>
        </p:nvSpPr>
        <p:spPr>
          <a:xfrm>
            <a:off x="5852160" y="4041648"/>
            <a:ext cx="1051560" cy="292608"/>
          </a:xfrm>
          <a:prstGeom prst="roundRect">
            <a:avLst>
              <a:gd name="adj" fmla="val 50000"/>
            </a:avLst>
          </a:prstGeom>
          <a:solidFill>
            <a:schemeClr val="accent1"/>
          </a:solidFill>
          <a:ln w="12700">
            <a:solidFill>
              <a:schemeClr val="accent1"/>
            </a:solidFill>
            <a:prstDash val="solid"/>
          </a:ln>
        </p:spPr>
        <p:txBody>
          <a:bodyPr/>
          <a:lstStyle/>
          <a:p>
            <a:endParaRPr lang="en-ZA"/>
          </a:p>
        </p:txBody>
      </p:sp>
      <p:sp>
        <p:nvSpPr>
          <p:cNvPr id="39" name="Feasibility 6 label"/>
          <p:cNvSpPr txBox="1"/>
          <p:nvPr/>
        </p:nvSpPr>
        <p:spPr>
          <a:xfrm>
            <a:off x="5852160" y="4041648"/>
            <a:ext cx="1051560" cy="292608"/>
          </a:xfrm>
          <a:prstGeom prst="rect">
            <a:avLst/>
          </a:prstGeom>
          <a:noFill/>
          <a:ln/>
        </p:spPr>
        <p:txBody>
          <a:bodyPr wrap="square" lIns="0" tIns="0" rIns="0" bIns="0" rtlCol="0" anchor="ctr"/>
          <a:lstStyle/>
          <a:p>
            <a:pPr marL="0" indent="0" algn="ctr">
              <a:buNone/>
            </a:pPr>
            <a:r>
              <a:rPr lang="en-US" sz="1100" b="1" dirty="0">
                <a:solidFill>
                  <a:schemeClr val="bg1"/>
                </a:solidFill>
              </a:rPr>
              <a:t>Feasible</a:t>
            </a:r>
            <a:endParaRPr lang="en-US" sz="1100" dirty="0"/>
          </a:p>
        </p:txBody>
      </p:sp>
      <p:sp>
        <p:nvSpPr>
          <p:cNvPr id="40" name="Feasibility note 6"/>
          <p:cNvSpPr txBox="1"/>
          <p:nvPr/>
        </p:nvSpPr>
        <p:spPr>
          <a:xfrm>
            <a:off x="6995160" y="4023360"/>
            <a:ext cx="1645920" cy="365760"/>
          </a:xfrm>
          <a:prstGeom prst="rect">
            <a:avLst/>
          </a:prstGeom>
          <a:noFill/>
          <a:ln/>
        </p:spPr>
        <p:txBody>
          <a:bodyPr wrap="square" lIns="0" tIns="0" rIns="0" bIns="0" rtlCol="0" anchor="ctr"/>
          <a:lstStyle/>
          <a:p>
            <a:pPr marL="0" indent="0">
              <a:buNone/>
            </a:pPr>
            <a:r>
              <a:rPr lang="en-US" sz="1100" dirty="0">
                <a:solidFill>
                  <a:schemeClr val="tx1"/>
                </a:solidFill>
              </a:rPr>
              <a:t>Only necessary data collected</a:t>
            </a:r>
            <a:endParaRPr lang="en-US" sz="1100" dirty="0"/>
          </a:p>
        </p:txBody>
      </p:sp>
      <p:sp>
        <p:nvSpPr>
          <p:cNvPr id="4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How the project progressed</a:t>
            </a:r>
            <a:endParaRPr lang="en-US" sz="2800" dirty="0"/>
          </a:p>
        </p:txBody>
      </p:sp>
      <p:sp>
        <p:nvSpPr>
          <p:cNvPr id="3" name="Phase card 1"/>
          <p:cNvSpPr/>
          <p:nvPr/>
        </p:nvSpPr>
        <p:spPr>
          <a:xfrm>
            <a:off x="457200" y="1097280"/>
            <a:ext cx="1554480" cy="1691640"/>
          </a:xfrm>
          <a:prstGeom prst="roundRect">
            <a:avLst>
              <a:gd name="adj" fmla="val 4706"/>
            </a:avLst>
          </a:prstGeom>
          <a:solidFill>
            <a:schemeClr val="bg2"/>
          </a:solidFill>
          <a:ln w="12700">
            <a:solidFill>
              <a:schemeClr val="bg2"/>
            </a:solidFill>
            <a:prstDash val="solid"/>
          </a:ln>
        </p:spPr>
        <p:txBody>
          <a:bodyPr/>
          <a:lstStyle/>
          <a:p>
            <a:endParaRPr lang="en-ZA"/>
          </a:p>
        </p:txBody>
      </p:sp>
      <p:sp>
        <p:nvSpPr>
          <p:cNvPr id="4" name="Phase date 1"/>
          <p:cNvSpPr txBox="1"/>
          <p:nvPr/>
        </p:nvSpPr>
        <p:spPr>
          <a:xfrm>
            <a:off x="566928" y="1170432"/>
            <a:ext cx="1335024" cy="274320"/>
          </a:xfrm>
          <a:prstGeom prst="rect">
            <a:avLst/>
          </a:prstGeom>
          <a:noFill/>
          <a:ln/>
        </p:spPr>
        <p:txBody>
          <a:bodyPr wrap="square" lIns="0" tIns="0" rIns="0" bIns="0" rtlCol="0" anchor="t"/>
          <a:lstStyle/>
          <a:p>
            <a:pPr marL="0" indent="0">
              <a:buNone/>
            </a:pPr>
            <a:r>
              <a:rPr lang="en-US" sz="1200" b="1" dirty="0">
                <a:solidFill>
                  <a:schemeClr val="accent1"/>
                </a:solidFill>
              </a:rPr>
              <a:t>31 Aug 2026</a:t>
            </a:r>
            <a:endParaRPr lang="en-US" sz="1200" dirty="0"/>
          </a:p>
        </p:txBody>
      </p:sp>
      <p:sp>
        <p:nvSpPr>
          <p:cNvPr id="5" name="Phase name 1"/>
          <p:cNvSpPr txBox="1"/>
          <p:nvPr/>
        </p:nvSpPr>
        <p:spPr>
          <a:xfrm>
            <a:off x="566928" y="1444752"/>
            <a:ext cx="1335024" cy="457200"/>
          </a:xfrm>
          <a:prstGeom prst="rect">
            <a:avLst/>
          </a:prstGeom>
          <a:noFill/>
          <a:ln/>
        </p:spPr>
        <p:txBody>
          <a:bodyPr wrap="square" lIns="0" tIns="0" rIns="0" bIns="0" rtlCol="0" anchor="t"/>
          <a:lstStyle/>
          <a:p>
            <a:pPr marL="0" indent="0">
              <a:buNone/>
            </a:pPr>
            <a:r>
              <a:rPr lang="en-US" sz="1300" b="1" dirty="0">
                <a:solidFill>
                  <a:schemeClr val="tx2"/>
                </a:solidFill>
              </a:rPr>
              <a:t>Phase 1  ·  SRS v2.0</a:t>
            </a:r>
            <a:endParaRPr lang="en-US" sz="1300" dirty="0"/>
          </a:p>
        </p:txBody>
      </p:sp>
      <p:sp>
        <p:nvSpPr>
          <p:cNvPr id="6" name="Phase detail 1"/>
          <p:cNvSpPr txBox="1"/>
          <p:nvPr/>
        </p:nvSpPr>
        <p:spPr>
          <a:xfrm>
            <a:off x="566928" y="1920240"/>
            <a:ext cx="1335024" cy="822960"/>
          </a:xfrm>
          <a:prstGeom prst="rect">
            <a:avLst/>
          </a:prstGeom>
          <a:noFill/>
          <a:ln/>
        </p:spPr>
        <p:txBody>
          <a:bodyPr wrap="square" lIns="0" tIns="0" rIns="0" bIns="0" rtlCol="0" anchor="t"/>
          <a:lstStyle/>
          <a:p>
            <a:pPr marL="0" indent="0">
              <a:buNone/>
            </a:pPr>
            <a:r>
              <a:rPr lang="en-US" sz="1100" dirty="0">
                <a:solidFill>
                  <a:schemeClr val="tx1"/>
                </a:solidFill>
              </a:rPr>
              <a:t>Requirements, feasibility, risk register, SWOT</a:t>
            </a:r>
            <a:endParaRPr lang="en-US" sz="1100" dirty="0"/>
          </a:p>
        </p:txBody>
      </p:sp>
      <p:sp>
        <p:nvSpPr>
          <p:cNvPr id="7" name="Phase card 2"/>
          <p:cNvSpPr/>
          <p:nvPr/>
        </p:nvSpPr>
        <p:spPr>
          <a:xfrm>
            <a:off x="2125980" y="1097280"/>
            <a:ext cx="1554480" cy="1691640"/>
          </a:xfrm>
          <a:prstGeom prst="roundRect">
            <a:avLst>
              <a:gd name="adj" fmla="val 4706"/>
            </a:avLst>
          </a:prstGeom>
          <a:solidFill>
            <a:schemeClr val="bg2"/>
          </a:solidFill>
          <a:ln w="12700">
            <a:solidFill>
              <a:schemeClr val="bg2"/>
            </a:solidFill>
            <a:prstDash val="solid"/>
          </a:ln>
        </p:spPr>
        <p:txBody>
          <a:bodyPr/>
          <a:lstStyle/>
          <a:p>
            <a:endParaRPr lang="en-ZA"/>
          </a:p>
        </p:txBody>
      </p:sp>
      <p:sp>
        <p:nvSpPr>
          <p:cNvPr id="8" name="Phase date 2"/>
          <p:cNvSpPr txBox="1"/>
          <p:nvPr/>
        </p:nvSpPr>
        <p:spPr>
          <a:xfrm>
            <a:off x="2235708" y="1170432"/>
            <a:ext cx="1335024" cy="274320"/>
          </a:xfrm>
          <a:prstGeom prst="rect">
            <a:avLst/>
          </a:prstGeom>
          <a:noFill/>
          <a:ln/>
        </p:spPr>
        <p:txBody>
          <a:bodyPr wrap="square" lIns="0" tIns="0" rIns="0" bIns="0" rtlCol="0" anchor="t"/>
          <a:lstStyle/>
          <a:p>
            <a:pPr marL="0" indent="0">
              <a:buNone/>
            </a:pPr>
            <a:r>
              <a:rPr lang="en-US" sz="1200" b="1" dirty="0">
                <a:solidFill>
                  <a:schemeClr val="accent1"/>
                </a:solidFill>
              </a:rPr>
              <a:t>16 Sep 2026</a:t>
            </a:r>
            <a:endParaRPr lang="en-US" sz="1200" dirty="0"/>
          </a:p>
        </p:txBody>
      </p:sp>
      <p:sp>
        <p:nvSpPr>
          <p:cNvPr id="9" name="Phase name 2"/>
          <p:cNvSpPr txBox="1"/>
          <p:nvPr/>
        </p:nvSpPr>
        <p:spPr>
          <a:xfrm>
            <a:off x="2235708" y="1444752"/>
            <a:ext cx="1335024" cy="457200"/>
          </a:xfrm>
          <a:prstGeom prst="rect">
            <a:avLst/>
          </a:prstGeom>
          <a:noFill/>
          <a:ln/>
        </p:spPr>
        <p:txBody>
          <a:bodyPr wrap="square" lIns="0" tIns="0" rIns="0" bIns="0" rtlCol="0" anchor="t"/>
          <a:lstStyle/>
          <a:p>
            <a:pPr marL="0" indent="0">
              <a:buNone/>
            </a:pPr>
            <a:r>
              <a:rPr lang="en-US" sz="1300" b="1" dirty="0">
                <a:solidFill>
                  <a:schemeClr val="tx2"/>
                </a:solidFill>
              </a:rPr>
              <a:t>Stakeholder  ·  Design feedback</a:t>
            </a:r>
            <a:endParaRPr lang="en-US" sz="1300" dirty="0"/>
          </a:p>
        </p:txBody>
      </p:sp>
      <p:sp>
        <p:nvSpPr>
          <p:cNvPr id="10" name="Phase detail 2"/>
          <p:cNvSpPr txBox="1"/>
          <p:nvPr/>
        </p:nvSpPr>
        <p:spPr>
          <a:xfrm>
            <a:off x="2235708" y="1920240"/>
            <a:ext cx="1335024" cy="822960"/>
          </a:xfrm>
          <a:prstGeom prst="rect">
            <a:avLst/>
          </a:prstGeom>
          <a:noFill/>
          <a:ln/>
        </p:spPr>
        <p:txBody>
          <a:bodyPr wrap="square" lIns="0" tIns="0" rIns="0" bIns="0" rtlCol="0" anchor="t"/>
          <a:lstStyle/>
          <a:p>
            <a:pPr marL="0" indent="0">
              <a:buNone/>
            </a:pPr>
            <a:r>
              <a:rPr lang="en-US" sz="1100" dirty="0">
                <a:solidFill>
                  <a:schemeClr val="tx1"/>
                </a:solidFill>
              </a:rPr>
              <a:t>Wireframes approved, emblem background removed</a:t>
            </a:r>
            <a:endParaRPr lang="en-US" sz="1100" dirty="0"/>
          </a:p>
        </p:txBody>
      </p:sp>
      <p:sp>
        <p:nvSpPr>
          <p:cNvPr id="11" name="Phase card 3"/>
          <p:cNvSpPr/>
          <p:nvPr/>
        </p:nvSpPr>
        <p:spPr>
          <a:xfrm>
            <a:off x="3794760" y="1097280"/>
            <a:ext cx="1554480" cy="1691640"/>
          </a:xfrm>
          <a:prstGeom prst="roundRect">
            <a:avLst>
              <a:gd name="adj" fmla="val 4706"/>
            </a:avLst>
          </a:prstGeom>
          <a:solidFill>
            <a:schemeClr val="bg2"/>
          </a:solidFill>
          <a:ln w="12700">
            <a:solidFill>
              <a:schemeClr val="bg2"/>
            </a:solidFill>
            <a:prstDash val="solid"/>
          </a:ln>
        </p:spPr>
        <p:txBody>
          <a:bodyPr/>
          <a:lstStyle/>
          <a:p>
            <a:endParaRPr lang="en-ZA"/>
          </a:p>
        </p:txBody>
      </p:sp>
      <p:sp>
        <p:nvSpPr>
          <p:cNvPr id="12" name="Phase date 3"/>
          <p:cNvSpPr txBox="1"/>
          <p:nvPr/>
        </p:nvSpPr>
        <p:spPr>
          <a:xfrm>
            <a:off x="3904488" y="1170432"/>
            <a:ext cx="1335024" cy="274320"/>
          </a:xfrm>
          <a:prstGeom prst="rect">
            <a:avLst/>
          </a:prstGeom>
          <a:noFill/>
          <a:ln/>
        </p:spPr>
        <p:txBody>
          <a:bodyPr wrap="square" lIns="0" tIns="0" rIns="0" bIns="0" rtlCol="0" anchor="t"/>
          <a:lstStyle/>
          <a:p>
            <a:pPr marL="0" indent="0">
              <a:buNone/>
            </a:pPr>
            <a:r>
              <a:rPr lang="en-US" sz="1200" b="1" dirty="0">
                <a:solidFill>
                  <a:schemeClr val="accent1"/>
                </a:solidFill>
              </a:rPr>
              <a:t>25 Sep 2026</a:t>
            </a:r>
            <a:endParaRPr lang="en-US" sz="1200" dirty="0"/>
          </a:p>
        </p:txBody>
      </p:sp>
      <p:sp>
        <p:nvSpPr>
          <p:cNvPr id="13" name="Phase name 3"/>
          <p:cNvSpPr txBox="1"/>
          <p:nvPr/>
        </p:nvSpPr>
        <p:spPr>
          <a:xfrm>
            <a:off x="3904488" y="1444752"/>
            <a:ext cx="1335024" cy="457200"/>
          </a:xfrm>
          <a:prstGeom prst="rect">
            <a:avLst/>
          </a:prstGeom>
          <a:noFill/>
          <a:ln/>
        </p:spPr>
        <p:txBody>
          <a:bodyPr wrap="square" lIns="0" tIns="0" rIns="0" bIns="0" rtlCol="0" anchor="t"/>
          <a:lstStyle/>
          <a:p>
            <a:pPr marL="0" indent="0">
              <a:buNone/>
            </a:pPr>
            <a:r>
              <a:rPr lang="en-US" sz="1300" b="1" dirty="0">
                <a:solidFill>
                  <a:schemeClr val="tx2"/>
                </a:solidFill>
              </a:rPr>
              <a:t>Phase 2  ·  SRS v3.0</a:t>
            </a:r>
            <a:endParaRPr lang="en-US" sz="1300" dirty="0"/>
          </a:p>
        </p:txBody>
      </p:sp>
      <p:sp>
        <p:nvSpPr>
          <p:cNvPr id="14" name="Phase detail 3"/>
          <p:cNvSpPr txBox="1"/>
          <p:nvPr/>
        </p:nvSpPr>
        <p:spPr>
          <a:xfrm>
            <a:off x="3904488" y="1920240"/>
            <a:ext cx="1335024" cy="822960"/>
          </a:xfrm>
          <a:prstGeom prst="rect">
            <a:avLst/>
          </a:prstGeom>
          <a:noFill/>
          <a:ln/>
        </p:spPr>
        <p:txBody>
          <a:bodyPr wrap="square" lIns="0" tIns="0" rIns="0" bIns="0" rtlCol="0" anchor="t"/>
          <a:lstStyle/>
          <a:p>
            <a:pPr marL="0" indent="0">
              <a:buNone/>
            </a:pPr>
            <a:r>
              <a:rPr lang="en-US" sz="1100" dirty="0">
                <a:solidFill>
                  <a:schemeClr val="tx1"/>
                </a:solidFill>
              </a:rPr>
              <a:t>Architecture, UML, ERD, Figma designs</a:t>
            </a:r>
            <a:endParaRPr lang="en-US" sz="1100" dirty="0"/>
          </a:p>
        </p:txBody>
      </p:sp>
      <p:sp>
        <p:nvSpPr>
          <p:cNvPr id="15" name="Phase card 4"/>
          <p:cNvSpPr/>
          <p:nvPr/>
        </p:nvSpPr>
        <p:spPr>
          <a:xfrm>
            <a:off x="5463540" y="1097280"/>
            <a:ext cx="1554480" cy="1691640"/>
          </a:xfrm>
          <a:prstGeom prst="roundRect">
            <a:avLst>
              <a:gd name="adj" fmla="val 4706"/>
            </a:avLst>
          </a:prstGeom>
          <a:solidFill>
            <a:schemeClr val="bg2"/>
          </a:solidFill>
          <a:ln w="12700">
            <a:solidFill>
              <a:schemeClr val="bg2"/>
            </a:solidFill>
            <a:prstDash val="solid"/>
          </a:ln>
        </p:spPr>
        <p:txBody>
          <a:bodyPr/>
          <a:lstStyle/>
          <a:p>
            <a:endParaRPr lang="en-ZA"/>
          </a:p>
        </p:txBody>
      </p:sp>
      <p:sp>
        <p:nvSpPr>
          <p:cNvPr id="16" name="Phase date 4"/>
          <p:cNvSpPr txBox="1"/>
          <p:nvPr/>
        </p:nvSpPr>
        <p:spPr>
          <a:xfrm>
            <a:off x="5573268" y="1170432"/>
            <a:ext cx="1335024" cy="274320"/>
          </a:xfrm>
          <a:prstGeom prst="rect">
            <a:avLst/>
          </a:prstGeom>
          <a:noFill/>
          <a:ln/>
        </p:spPr>
        <p:txBody>
          <a:bodyPr wrap="square" lIns="0" tIns="0" rIns="0" bIns="0" rtlCol="0" anchor="t"/>
          <a:lstStyle/>
          <a:p>
            <a:pPr marL="0" indent="0">
              <a:buNone/>
            </a:pPr>
            <a:r>
              <a:rPr lang="en-US" sz="1200" b="1" dirty="0">
                <a:solidFill>
                  <a:schemeClr val="accent1"/>
                </a:solidFill>
              </a:rPr>
              <a:t>2 Oct 2026</a:t>
            </a:r>
            <a:endParaRPr lang="en-US" sz="1200" dirty="0"/>
          </a:p>
        </p:txBody>
      </p:sp>
      <p:sp>
        <p:nvSpPr>
          <p:cNvPr id="17" name="Phase name 4"/>
          <p:cNvSpPr txBox="1"/>
          <p:nvPr/>
        </p:nvSpPr>
        <p:spPr>
          <a:xfrm>
            <a:off x="5573268" y="1444752"/>
            <a:ext cx="1335024" cy="457200"/>
          </a:xfrm>
          <a:prstGeom prst="rect">
            <a:avLst/>
          </a:prstGeom>
          <a:noFill/>
          <a:ln/>
        </p:spPr>
        <p:txBody>
          <a:bodyPr wrap="square" lIns="0" tIns="0" rIns="0" bIns="0" rtlCol="0" anchor="t"/>
          <a:lstStyle/>
          <a:p>
            <a:pPr marL="0" indent="0">
              <a:buNone/>
            </a:pPr>
            <a:r>
              <a:rPr lang="en-US" sz="1300" b="1" dirty="0">
                <a:solidFill>
                  <a:schemeClr val="tx2"/>
                </a:solidFill>
              </a:rPr>
              <a:t>Phase 2  ·  Presentation</a:t>
            </a:r>
            <a:endParaRPr lang="en-US" sz="1300" dirty="0"/>
          </a:p>
        </p:txBody>
      </p:sp>
      <p:sp>
        <p:nvSpPr>
          <p:cNvPr id="18" name="Phase detail 4"/>
          <p:cNvSpPr txBox="1"/>
          <p:nvPr/>
        </p:nvSpPr>
        <p:spPr>
          <a:xfrm>
            <a:off x="5573268" y="1920240"/>
            <a:ext cx="1335024" cy="822960"/>
          </a:xfrm>
          <a:prstGeom prst="rect">
            <a:avLst/>
          </a:prstGeom>
          <a:noFill/>
          <a:ln/>
        </p:spPr>
        <p:txBody>
          <a:bodyPr wrap="square" lIns="0" tIns="0" rIns="0" bIns="0" rtlCol="0" anchor="t"/>
          <a:lstStyle/>
          <a:p>
            <a:pPr marL="0" indent="0">
              <a:buNone/>
            </a:pPr>
            <a:r>
              <a:rPr lang="en-US" sz="1100" dirty="0">
                <a:solidFill>
                  <a:schemeClr val="tx1"/>
                </a:solidFill>
              </a:rPr>
              <a:t>Design presented, risk register refined</a:t>
            </a:r>
            <a:endParaRPr lang="en-US" sz="1100" dirty="0"/>
          </a:p>
        </p:txBody>
      </p:sp>
      <p:sp>
        <p:nvSpPr>
          <p:cNvPr id="19" name="Phase card 5"/>
          <p:cNvSpPr/>
          <p:nvPr/>
        </p:nvSpPr>
        <p:spPr>
          <a:xfrm>
            <a:off x="7132320" y="1097280"/>
            <a:ext cx="1554480" cy="1691640"/>
          </a:xfrm>
          <a:prstGeom prst="roundRect">
            <a:avLst>
              <a:gd name="adj" fmla="val 4706"/>
            </a:avLst>
          </a:prstGeom>
          <a:solidFill>
            <a:schemeClr val="accent1"/>
          </a:solidFill>
          <a:ln w="12700">
            <a:solidFill>
              <a:schemeClr val="accent1"/>
            </a:solidFill>
            <a:prstDash val="solid"/>
          </a:ln>
        </p:spPr>
        <p:txBody>
          <a:bodyPr/>
          <a:lstStyle/>
          <a:p>
            <a:endParaRPr lang="en-ZA"/>
          </a:p>
        </p:txBody>
      </p:sp>
      <p:sp>
        <p:nvSpPr>
          <p:cNvPr id="20" name="Phase date 5"/>
          <p:cNvSpPr txBox="1"/>
          <p:nvPr/>
        </p:nvSpPr>
        <p:spPr>
          <a:xfrm>
            <a:off x="7242048" y="1170432"/>
            <a:ext cx="1335024" cy="274320"/>
          </a:xfrm>
          <a:prstGeom prst="rect">
            <a:avLst/>
          </a:prstGeom>
          <a:noFill/>
          <a:ln/>
        </p:spPr>
        <p:txBody>
          <a:bodyPr wrap="square" lIns="0" tIns="0" rIns="0" bIns="0" rtlCol="0" anchor="t"/>
          <a:lstStyle/>
          <a:p>
            <a:pPr marL="0" indent="0">
              <a:buNone/>
            </a:pPr>
            <a:r>
              <a:rPr lang="en-US" sz="1200" b="1" dirty="0">
                <a:solidFill>
                  <a:schemeClr val="bg2"/>
                </a:solidFill>
              </a:rPr>
              <a:t>Oct 2026</a:t>
            </a:r>
            <a:endParaRPr lang="en-US" sz="1200" dirty="0"/>
          </a:p>
        </p:txBody>
      </p:sp>
      <p:sp>
        <p:nvSpPr>
          <p:cNvPr id="21" name="Phase name 5"/>
          <p:cNvSpPr txBox="1"/>
          <p:nvPr/>
        </p:nvSpPr>
        <p:spPr>
          <a:xfrm>
            <a:off x="7242048" y="1444752"/>
            <a:ext cx="1335024" cy="457200"/>
          </a:xfrm>
          <a:prstGeom prst="rect">
            <a:avLst/>
          </a:prstGeom>
          <a:noFill/>
          <a:ln/>
        </p:spPr>
        <p:txBody>
          <a:bodyPr wrap="square" lIns="0" tIns="0" rIns="0" bIns="0" rtlCol="0" anchor="t"/>
          <a:lstStyle/>
          <a:p>
            <a:pPr marL="0" indent="0">
              <a:buNone/>
            </a:pPr>
            <a:r>
              <a:rPr lang="en-US" sz="1300" b="1" dirty="0">
                <a:solidFill>
                  <a:schemeClr val="bg1"/>
                </a:solidFill>
              </a:rPr>
              <a:t>Phase 3  ·  Build</a:t>
            </a:r>
            <a:endParaRPr lang="en-US" sz="1300" dirty="0"/>
          </a:p>
        </p:txBody>
      </p:sp>
      <p:sp>
        <p:nvSpPr>
          <p:cNvPr id="22" name="Phase detail 5"/>
          <p:cNvSpPr txBox="1"/>
          <p:nvPr/>
        </p:nvSpPr>
        <p:spPr>
          <a:xfrm>
            <a:off x="7242048" y="1920240"/>
            <a:ext cx="1335024" cy="822960"/>
          </a:xfrm>
          <a:prstGeom prst="rect">
            <a:avLst/>
          </a:prstGeom>
          <a:noFill/>
          <a:ln/>
        </p:spPr>
        <p:txBody>
          <a:bodyPr wrap="square" lIns="0" tIns="0" rIns="0" bIns="0" rtlCol="0" anchor="t"/>
          <a:lstStyle/>
          <a:p>
            <a:pPr marL="0" indent="0">
              <a:buNone/>
            </a:pPr>
            <a:r>
              <a:rPr lang="en-US" sz="1100" dirty="0">
                <a:solidFill>
                  <a:schemeClr val="bg1"/>
                </a:solidFill>
              </a:rPr>
              <a:t>Supabase backend, both apps, integration</a:t>
            </a:r>
            <a:endParaRPr lang="en-US" sz="1100" dirty="0"/>
          </a:p>
        </p:txBody>
      </p:sp>
      <p:sp>
        <p:nvSpPr>
          <p:cNvPr id="23" name="Risk caption"/>
          <p:cNvSpPr txBox="1"/>
          <p:nvPr/>
        </p:nvSpPr>
        <p:spPr>
          <a:xfrm>
            <a:off x="457200" y="2971800"/>
            <a:ext cx="8229600" cy="274320"/>
          </a:xfrm>
          <a:prstGeom prst="rect">
            <a:avLst/>
          </a:prstGeom>
          <a:noFill/>
          <a:ln/>
        </p:spPr>
        <p:txBody>
          <a:bodyPr wrap="square" lIns="0" tIns="0" rIns="0" bIns="0" rtlCol="0" anchor="t"/>
          <a:lstStyle/>
          <a:p>
            <a:pPr marL="0" indent="0">
              <a:buNone/>
            </a:pPr>
            <a:r>
              <a:rPr lang="en-US" sz="1400" b="1" dirty="0">
                <a:solidFill>
                  <a:schemeClr val="tx2"/>
                </a:solidFill>
              </a:rPr>
              <a:t>Top risks in the final risk register</a:t>
            </a:r>
            <a:endParaRPr lang="en-US" sz="1400" dirty="0"/>
          </a:p>
        </p:txBody>
      </p:sp>
      <p:sp>
        <p:nvSpPr>
          <p:cNvPr id="24" name="Risk card 1"/>
          <p:cNvSpPr/>
          <p:nvPr/>
        </p:nvSpPr>
        <p:spPr>
          <a:xfrm>
            <a:off x="457200" y="3291840"/>
            <a:ext cx="2651760" cy="1325880"/>
          </a:xfrm>
          <a:prstGeom prst="roundRect">
            <a:avLst>
              <a:gd name="adj" fmla="val 5517"/>
            </a:avLst>
          </a:prstGeom>
          <a:solidFill>
            <a:schemeClr val="bg2"/>
          </a:solidFill>
          <a:ln w="12700">
            <a:solidFill>
              <a:schemeClr val="bg2"/>
            </a:solidFill>
            <a:prstDash val="solid"/>
          </a:ln>
        </p:spPr>
        <p:txBody>
          <a:bodyPr/>
          <a:lstStyle/>
          <a:p>
            <a:endParaRPr lang="en-ZA"/>
          </a:p>
        </p:txBody>
      </p:sp>
      <p:sp>
        <p:nvSpPr>
          <p:cNvPr id="25" name="Risk title 1"/>
          <p:cNvSpPr txBox="1"/>
          <p:nvPr/>
        </p:nvSpPr>
        <p:spPr>
          <a:xfrm>
            <a:off x="594360" y="3364992"/>
            <a:ext cx="2377440" cy="274320"/>
          </a:xfrm>
          <a:prstGeom prst="rect">
            <a:avLst/>
          </a:prstGeom>
          <a:noFill/>
          <a:ln/>
        </p:spPr>
        <p:txBody>
          <a:bodyPr wrap="square" lIns="0" tIns="0" rIns="0" bIns="0" rtlCol="0" anchor="t"/>
          <a:lstStyle/>
          <a:p>
            <a:pPr marL="0" indent="0">
              <a:buNone/>
            </a:pPr>
            <a:r>
              <a:rPr lang="en-US" sz="1300" b="1" dirty="0">
                <a:solidFill>
                  <a:schemeClr val="tx2"/>
                </a:solidFill>
              </a:rPr>
              <a:t>R1  Integration too hard</a:t>
            </a:r>
            <a:endParaRPr lang="en-US" sz="1300" dirty="0"/>
          </a:p>
        </p:txBody>
      </p:sp>
      <p:sp>
        <p:nvSpPr>
          <p:cNvPr id="26" name="Risk score 1"/>
          <p:cNvSpPr txBox="1"/>
          <p:nvPr/>
        </p:nvSpPr>
        <p:spPr>
          <a:xfrm>
            <a:off x="594360" y="3639312"/>
            <a:ext cx="2377440" cy="228600"/>
          </a:xfrm>
          <a:prstGeom prst="rect">
            <a:avLst/>
          </a:prstGeom>
          <a:noFill/>
          <a:ln/>
        </p:spPr>
        <p:txBody>
          <a:bodyPr wrap="square" lIns="0" tIns="0" rIns="0" bIns="0" rtlCol="0" anchor="t"/>
          <a:lstStyle/>
          <a:p>
            <a:pPr marL="0" indent="0">
              <a:buNone/>
            </a:pPr>
            <a:r>
              <a:rPr lang="en-US" sz="1100" b="1" dirty="0">
                <a:solidFill>
                  <a:schemeClr val="accent6"/>
                </a:solidFill>
              </a:rPr>
              <a:t>Score 9</a:t>
            </a:r>
            <a:endParaRPr lang="en-US" sz="1100" dirty="0"/>
          </a:p>
        </p:txBody>
      </p:sp>
      <p:sp>
        <p:nvSpPr>
          <p:cNvPr id="27" name="Risk mitigation 1"/>
          <p:cNvSpPr txBox="1"/>
          <p:nvPr/>
        </p:nvSpPr>
        <p:spPr>
          <a:xfrm>
            <a:off x="594360" y="3886200"/>
            <a:ext cx="2377440" cy="685800"/>
          </a:xfrm>
          <a:prstGeom prst="rect">
            <a:avLst/>
          </a:prstGeom>
          <a:noFill/>
          <a:ln/>
        </p:spPr>
        <p:txBody>
          <a:bodyPr wrap="square" lIns="0" tIns="0" rIns="0" bIns="0" rtlCol="0" anchor="t"/>
          <a:lstStyle/>
          <a:p>
            <a:pPr marL="0" indent="0">
              <a:buNone/>
            </a:pPr>
            <a:r>
              <a:rPr lang="en-US" sz="1200" dirty="0">
                <a:solidFill>
                  <a:schemeClr val="tx1"/>
                </a:solidFill>
              </a:rPr>
              <a:t>Research Supabase early, consult the lecturer if stuck</a:t>
            </a:r>
            <a:endParaRPr lang="en-US" sz="1200" dirty="0"/>
          </a:p>
        </p:txBody>
      </p:sp>
      <p:sp>
        <p:nvSpPr>
          <p:cNvPr id="28" name="Risk card 2"/>
          <p:cNvSpPr/>
          <p:nvPr/>
        </p:nvSpPr>
        <p:spPr>
          <a:xfrm>
            <a:off x="3246120" y="3291840"/>
            <a:ext cx="2651760" cy="1325880"/>
          </a:xfrm>
          <a:prstGeom prst="roundRect">
            <a:avLst>
              <a:gd name="adj" fmla="val 5517"/>
            </a:avLst>
          </a:prstGeom>
          <a:solidFill>
            <a:schemeClr val="bg2"/>
          </a:solidFill>
          <a:ln w="12700">
            <a:solidFill>
              <a:schemeClr val="bg2"/>
            </a:solidFill>
            <a:prstDash val="solid"/>
          </a:ln>
        </p:spPr>
        <p:txBody>
          <a:bodyPr/>
          <a:lstStyle/>
          <a:p>
            <a:endParaRPr lang="en-ZA"/>
          </a:p>
        </p:txBody>
      </p:sp>
      <p:sp>
        <p:nvSpPr>
          <p:cNvPr id="29" name="Risk title 2"/>
          <p:cNvSpPr txBox="1"/>
          <p:nvPr/>
        </p:nvSpPr>
        <p:spPr>
          <a:xfrm>
            <a:off x="3383280" y="3364992"/>
            <a:ext cx="2377440" cy="274320"/>
          </a:xfrm>
          <a:prstGeom prst="rect">
            <a:avLst/>
          </a:prstGeom>
          <a:noFill/>
          <a:ln/>
        </p:spPr>
        <p:txBody>
          <a:bodyPr wrap="square" lIns="0" tIns="0" rIns="0" bIns="0" rtlCol="0" anchor="t"/>
          <a:lstStyle/>
          <a:p>
            <a:pPr marL="0" indent="0">
              <a:buNone/>
            </a:pPr>
            <a:r>
              <a:rPr lang="en-US" sz="1300" b="1" dirty="0">
                <a:solidFill>
                  <a:schemeClr val="tx2"/>
                </a:solidFill>
              </a:rPr>
              <a:t>R6  Core functions late</a:t>
            </a:r>
            <a:endParaRPr lang="en-US" sz="1300" dirty="0"/>
          </a:p>
        </p:txBody>
      </p:sp>
      <p:sp>
        <p:nvSpPr>
          <p:cNvPr id="30" name="Risk score 2"/>
          <p:cNvSpPr txBox="1"/>
          <p:nvPr/>
        </p:nvSpPr>
        <p:spPr>
          <a:xfrm>
            <a:off x="3383280" y="3639312"/>
            <a:ext cx="2377440" cy="228600"/>
          </a:xfrm>
          <a:prstGeom prst="rect">
            <a:avLst/>
          </a:prstGeom>
          <a:noFill/>
          <a:ln/>
        </p:spPr>
        <p:txBody>
          <a:bodyPr wrap="square" lIns="0" tIns="0" rIns="0" bIns="0" rtlCol="0" anchor="t"/>
          <a:lstStyle/>
          <a:p>
            <a:pPr marL="0" indent="0">
              <a:buNone/>
            </a:pPr>
            <a:r>
              <a:rPr lang="en-US" sz="1100" b="1" dirty="0">
                <a:solidFill>
                  <a:schemeClr val="accent6"/>
                </a:solidFill>
              </a:rPr>
              <a:t>Score 9</a:t>
            </a:r>
            <a:endParaRPr lang="en-US" sz="1100" dirty="0"/>
          </a:p>
        </p:txBody>
      </p:sp>
      <p:sp>
        <p:nvSpPr>
          <p:cNvPr id="31" name="Risk mitigation 2"/>
          <p:cNvSpPr txBox="1"/>
          <p:nvPr/>
        </p:nvSpPr>
        <p:spPr>
          <a:xfrm>
            <a:off x="3383280" y="3886200"/>
            <a:ext cx="2377440" cy="685800"/>
          </a:xfrm>
          <a:prstGeom prst="rect">
            <a:avLst/>
          </a:prstGeom>
          <a:noFill/>
          <a:ln/>
        </p:spPr>
        <p:txBody>
          <a:bodyPr wrap="square" lIns="0" tIns="0" rIns="0" bIns="0" rtlCol="0" anchor="t"/>
          <a:lstStyle/>
          <a:p>
            <a:pPr marL="0" indent="0">
              <a:buNone/>
            </a:pPr>
            <a:r>
              <a:rPr lang="en-US" sz="1200" dirty="0">
                <a:solidFill>
                  <a:schemeClr val="tx1"/>
                </a:solidFill>
              </a:rPr>
              <a:t>Implement the top-level functions first</a:t>
            </a:r>
            <a:endParaRPr lang="en-US" sz="1200" dirty="0"/>
          </a:p>
        </p:txBody>
      </p:sp>
      <p:sp>
        <p:nvSpPr>
          <p:cNvPr id="32" name="Risk card 3"/>
          <p:cNvSpPr/>
          <p:nvPr/>
        </p:nvSpPr>
        <p:spPr>
          <a:xfrm>
            <a:off x="6035040" y="3291840"/>
            <a:ext cx="2651760" cy="1325880"/>
          </a:xfrm>
          <a:prstGeom prst="roundRect">
            <a:avLst>
              <a:gd name="adj" fmla="val 5517"/>
            </a:avLst>
          </a:prstGeom>
          <a:solidFill>
            <a:schemeClr val="bg2"/>
          </a:solidFill>
          <a:ln w="12700">
            <a:solidFill>
              <a:schemeClr val="bg2"/>
            </a:solidFill>
            <a:prstDash val="solid"/>
          </a:ln>
        </p:spPr>
        <p:txBody>
          <a:bodyPr/>
          <a:lstStyle/>
          <a:p>
            <a:endParaRPr lang="en-ZA"/>
          </a:p>
        </p:txBody>
      </p:sp>
      <p:sp>
        <p:nvSpPr>
          <p:cNvPr id="33" name="Risk title 3"/>
          <p:cNvSpPr txBox="1"/>
          <p:nvPr/>
        </p:nvSpPr>
        <p:spPr>
          <a:xfrm>
            <a:off x="6172200" y="3364992"/>
            <a:ext cx="2377440" cy="274320"/>
          </a:xfrm>
          <a:prstGeom prst="rect">
            <a:avLst/>
          </a:prstGeom>
          <a:noFill/>
          <a:ln/>
        </p:spPr>
        <p:txBody>
          <a:bodyPr wrap="square" lIns="0" tIns="0" rIns="0" bIns="0" rtlCol="0" anchor="t"/>
          <a:lstStyle/>
          <a:p>
            <a:pPr marL="0" indent="0">
              <a:buNone/>
            </a:pPr>
            <a:r>
              <a:rPr lang="en-US" sz="1300" b="1" dirty="0">
                <a:solidFill>
                  <a:schemeClr val="tx2"/>
                </a:solidFill>
              </a:rPr>
              <a:t>R3  Group coordination</a:t>
            </a:r>
            <a:endParaRPr lang="en-US" sz="1300" dirty="0"/>
          </a:p>
        </p:txBody>
      </p:sp>
      <p:sp>
        <p:nvSpPr>
          <p:cNvPr id="34" name="Risk score 3"/>
          <p:cNvSpPr txBox="1"/>
          <p:nvPr/>
        </p:nvSpPr>
        <p:spPr>
          <a:xfrm>
            <a:off x="6172200" y="3639312"/>
            <a:ext cx="2377440" cy="228600"/>
          </a:xfrm>
          <a:prstGeom prst="rect">
            <a:avLst/>
          </a:prstGeom>
          <a:noFill/>
          <a:ln/>
        </p:spPr>
        <p:txBody>
          <a:bodyPr wrap="square" lIns="0" tIns="0" rIns="0" bIns="0" rtlCol="0" anchor="t"/>
          <a:lstStyle/>
          <a:p>
            <a:pPr marL="0" indent="0">
              <a:buNone/>
            </a:pPr>
            <a:r>
              <a:rPr lang="en-US" sz="1100" b="1" dirty="0">
                <a:solidFill>
                  <a:schemeClr val="accent6"/>
                </a:solidFill>
              </a:rPr>
              <a:t>Score 6</a:t>
            </a:r>
            <a:endParaRPr lang="en-US" sz="1100" dirty="0"/>
          </a:p>
        </p:txBody>
      </p:sp>
      <p:sp>
        <p:nvSpPr>
          <p:cNvPr id="35" name="Risk mitigation 3"/>
          <p:cNvSpPr txBox="1"/>
          <p:nvPr/>
        </p:nvSpPr>
        <p:spPr>
          <a:xfrm>
            <a:off x="6172200" y="3886200"/>
            <a:ext cx="2377440" cy="685800"/>
          </a:xfrm>
          <a:prstGeom prst="rect">
            <a:avLst/>
          </a:prstGeom>
          <a:noFill/>
          <a:ln/>
        </p:spPr>
        <p:txBody>
          <a:bodyPr wrap="square" lIns="0" tIns="0" rIns="0" bIns="0" rtlCol="0" anchor="t"/>
          <a:lstStyle/>
          <a:p>
            <a:pPr marL="0" indent="0">
              <a:buNone/>
            </a:pPr>
            <a:r>
              <a:rPr lang="en-US" sz="1200" dirty="0">
                <a:solidFill>
                  <a:schemeClr val="tx1"/>
                </a:solidFill>
              </a:rPr>
              <a:t>Regular team meetings, reassign tasks when needed</a:t>
            </a:r>
            <a:endParaRPr lang="en-US" sz="1200" dirty="0"/>
          </a:p>
        </p:txBody>
      </p:sp>
      <p:sp>
        <p:nvSpPr>
          <p:cNvPr id="36"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Recap of Phase 1: requirements and analysis</a:t>
            </a:r>
            <a:endParaRPr lang="en-US" sz="2800" dirty="0"/>
          </a:p>
        </p:txBody>
      </p:sp>
      <p:sp>
        <p:nvSpPr>
          <p:cNvPr id="3" name="Stat card 1"/>
          <p:cNvSpPr/>
          <p:nvPr/>
        </p:nvSpPr>
        <p:spPr>
          <a:xfrm>
            <a:off x="457200" y="1097280"/>
            <a:ext cx="1965960" cy="1463040"/>
          </a:xfrm>
          <a:prstGeom prst="roundRect">
            <a:avLst>
              <a:gd name="adj" fmla="val 5000"/>
            </a:avLst>
          </a:prstGeom>
          <a:solidFill>
            <a:schemeClr val="bg2"/>
          </a:solidFill>
          <a:ln w="12700">
            <a:solidFill>
              <a:schemeClr val="bg2"/>
            </a:solidFill>
            <a:prstDash val="solid"/>
          </a:ln>
        </p:spPr>
        <p:txBody>
          <a:bodyPr/>
          <a:lstStyle/>
          <a:p>
            <a:endParaRPr lang="en-ZA"/>
          </a:p>
        </p:txBody>
      </p:sp>
      <p:sp>
        <p:nvSpPr>
          <p:cNvPr id="4" name="Stat number 1"/>
          <p:cNvSpPr txBox="1"/>
          <p:nvPr/>
        </p:nvSpPr>
        <p:spPr>
          <a:xfrm>
            <a:off x="457200" y="1143000"/>
            <a:ext cx="1965960" cy="64008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8</a:t>
            </a:r>
            <a:endParaRPr lang="en-US" sz="4000" dirty="0"/>
          </a:p>
        </p:txBody>
      </p:sp>
      <p:sp>
        <p:nvSpPr>
          <p:cNvPr id="5" name="Stat label 1"/>
          <p:cNvSpPr txBox="1"/>
          <p:nvPr/>
        </p:nvSpPr>
        <p:spPr>
          <a:xfrm>
            <a:off x="548640" y="1783080"/>
            <a:ext cx="1783080" cy="320040"/>
          </a:xfrm>
          <a:prstGeom prst="rect">
            <a:avLst/>
          </a:prstGeom>
          <a:noFill/>
          <a:ln/>
        </p:spPr>
        <p:txBody>
          <a:bodyPr wrap="square" lIns="0" tIns="0" rIns="0" bIns="0" rtlCol="0" anchor="t"/>
          <a:lstStyle/>
          <a:p>
            <a:pPr marL="0" indent="0" algn="ctr">
              <a:buNone/>
            </a:pPr>
            <a:r>
              <a:rPr lang="en-US" sz="1300" b="1" dirty="0">
                <a:solidFill>
                  <a:schemeClr val="tx2"/>
                </a:solidFill>
              </a:rPr>
              <a:t>Functional requirements</a:t>
            </a:r>
            <a:endParaRPr lang="en-US" sz="1300" dirty="0"/>
          </a:p>
        </p:txBody>
      </p:sp>
      <p:sp>
        <p:nvSpPr>
          <p:cNvPr id="6" name="Stat sub 1"/>
          <p:cNvSpPr txBox="1"/>
          <p:nvPr/>
        </p:nvSpPr>
        <p:spPr>
          <a:xfrm>
            <a:off x="548640" y="2103120"/>
            <a:ext cx="1783080" cy="411480"/>
          </a:xfrm>
          <a:prstGeom prst="rect">
            <a:avLst/>
          </a:prstGeom>
          <a:noFill/>
          <a:ln/>
        </p:spPr>
        <p:txBody>
          <a:bodyPr wrap="square" lIns="0" tIns="0" rIns="0" bIns="0" rtlCol="0" anchor="t"/>
          <a:lstStyle/>
          <a:p>
            <a:pPr marL="0" indent="0" algn="ctr">
              <a:buNone/>
            </a:pPr>
            <a:r>
              <a:rPr lang="en-US" sz="1100" dirty="0">
                <a:solidFill>
                  <a:schemeClr val="tx1"/>
                </a:solidFill>
              </a:rPr>
              <a:t>All must have</a:t>
            </a:r>
            <a:endParaRPr lang="en-US" sz="1100" dirty="0"/>
          </a:p>
        </p:txBody>
      </p:sp>
      <p:sp>
        <p:nvSpPr>
          <p:cNvPr id="7" name="Stat card 2"/>
          <p:cNvSpPr/>
          <p:nvPr/>
        </p:nvSpPr>
        <p:spPr>
          <a:xfrm>
            <a:off x="2542032" y="1097280"/>
            <a:ext cx="1965960" cy="1463040"/>
          </a:xfrm>
          <a:prstGeom prst="roundRect">
            <a:avLst>
              <a:gd name="adj" fmla="val 5000"/>
            </a:avLst>
          </a:prstGeom>
          <a:solidFill>
            <a:schemeClr val="bg2"/>
          </a:solidFill>
          <a:ln w="12700">
            <a:solidFill>
              <a:schemeClr val="bg2"/>
            </a:solidFill>
            <a:prstDash val="solid"/>
          </a:ln>
        </p:spPr>
        <p:txBody>
          <a:bodyPr/>
          <a:lstStyle/>
          <a:p>
            <a:endParaRPr lang="en-ZA"/>
          </a:p>
        </p:txBody>
      </p:sp>
      <p:sp>
        <p:nvSpPr>
          <p:cNvPr id="8" name="Stat number 2"/>
          <p:cNvSpPr txBox="1"/>
          <p:nvPr/>
        </p:nvSpPr>
        <p:spPr>
          <a:xfrm>
            <a:off x="2542032" y="1143000"/>
            <a:ext cx="1965960" cy="64008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4</a:t>
            </a:r>
            <a:endParaRPr lang="en-US" sz="4000" dirty="0"/>
          </a:p>
        </p:txBody>
      </p:sp>
      <p:sp>
        <p:nvSpPr>
          <p:cNvPr id="9" name="Stat label 2"/>
          <p:cNvSpPr txBox="1"/>
          <p:nvPr/>
        </p:nvSpPr>
        <p:spPr>
          <a:xfrm>
            <a:off x="2633472" y="1783080"/>
            <a:ext cx="1783080" cy="320040"/>
          </a:xfrm>
          <a:prstGeom prst="rect">
            <a:avLst/>
          </a:prstGeom>
          <a:noFill/>
          <a:ln/>
        </p:spPr>
        <p:txBody>
          <a:bodyPr wrap="square" lIns="0" tIns="0" rIns="0" bIns="0" rtlCol="0" anchor="t"/>
          <a:lstStyle/>
          <a:p>
            <a:pPr marL="0" indent="0" algn="ctr">
              <a:buNone/>
            </a:pPr>
            <a:r>
              <a:rPr lang="en-US" sz="1300" b="1" dirty="0">
                <a:solidFill>
                  <a:schemeClr val="tx2"/>
                </a:solidFill>
              </a:rPr>
              <a:t>Non-functional kept</a:t>
            </a:r>
            <a:endParaRPr lang="en-US" sz="1300" dirty="0"/>
          </a:p>
        </p:txBody>
      </p:sp>
      <p:sp>
        <p:nvSpPr>
          <p:cNvPr id="10" name="Stat sub 2"/>
          <p:cNvSpPr txBox="1"/>
          <p:nvPr/>
        </p:nvSpPr>
        <p:spPr>
          <a:xfrm>
            <a:off x="2633472" y="2103120"/>
            <a:ext cx="1783080" cy="411480"/>
          </a:xfrm>
          <a:prstGeom prst="rect">
            <a:avLst/>
          </a:prstGeom>
          <a:noFill/>
          <a:ln/>
        </p:spPr>
        <p:txBody>
          <a:bodyPr wrap="square" lIns="0" tIns="0" rIns="0" bIns="0" rtlCol="0" anchor="t"/>
          <a:lstStyle/>
          <a:p>
            <a:pPr marL="0" indent="0" algn="ctr">
              <a:buNone/>
            </a:pPr>
            <a:r>
              <a:rPr lang="en-US" sz="1100" dirty="0">
                <a:solidFill>
                  <a:schemeClr val="tx1"/>
                </a:solidFill>
              </a:rPr>
              <a:t>NR1 to NR4</a:t>
            </a:r>
            <a:endParaRPr lang="en-US" sz="1100" dirty="0"/>
          </a:p>
        </p:txBody>
      </p:sp>
      <p:sp>
        <p:nvSpPr>
          <p:cNvPr id="11" name="Stat card 3"/>
          <p:cNvSpPr/>
          <p:nvPr/>
        </p:nvSpPr>
        <p:spPr>
          <a:xfrm>
            <a:off x="4626864" y="1097280"/>
            <a:ext cx="1965960" cy="1463040"/>
          </a:xfrm>
          <a:prstGeom prst="roundRect">
            <a:avLst>
              <a:gd name="adj" fmla="val 5000"/>
            </a:avLst>
          </a:prstGeom>
          <a:solidFill>
            <a:schemeClr val="bg2"/>
          </a:solidFill>
          <a:ln w="12700">
            <a:solidFill>
              <a:schemeClr val="bg2"/>
            </a:solidFill>
            <a:prstDash val="solid"/>
          </a:ln>
        </p:spPr>
        <p:txBody>
          <a:bodyPr/>
          <a:lstStyle/>
          <a:p>
            <a:endParaRPr lang="en-ZA"/>
          </a:p>
        </p:txBody>
      </p:sp>
      <p:sp>
        <p:nvSpPr>
          <p:cNvPr id="12" name="Stat number 3"/>
          <p:cNvSpPr txBox="1"/>
          <p:nvPr/>
        </p:nvSpPr>
        <p:spPr>
          <a:xfrm>
            <a:off x="4626864" y="1143000"/>
            <a:ext cx="1965960" cy="64008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4</a:t>
            </a:r>
            <a:endParaRPr lang="en-US" sz="4000" dirty="0"/>
          </a:p>
        </p:txBody>
      </p:sp>
      <p:sp>
        <p:nvSpPr>
          <p:cNvPr id="13" name="Stat label 3"/>
          <p:cNvSpPr txBox="1"/>
          <p:nvPr/>
        </p:nvSpPr>
        <p:spPr>
          <a:xfrm>
            <a:off x="4718304" y="1783080"/>
            <a:ext cx="1783080" cy="320040"/>
          </a:xfrm>
          <a:prstGeom prst="rect">
            <a:avLst/>
          </a:prstGeom>
          <a:noFill/>
          <a:ln/>
        </p:spPr>
        <p:txBody>
          <a:bodyPr wrap="square" lIns="0" tIns="0" rIns="0" bIns="0" rtlCol="0" anchor="t"/>
          <a:lstStyle/>
          <a:p>
            <a:pPr marL="0" indent="0" algn="ctr">
              <a:buNone/>
            </a:pPr>
            <a:r>
              <a:rPr lang="en-US" sz="1300" b="1" dirty="0">
                <a:solidFill>
                  <a:schemeClr val="tx2"/>
                </a:solidFill>
              </a:rPr>
              <a:t>System requirements</a:t>
            </a:r>
            <a:endParaRPr lang="en-US" sz="1300" dirty="0"/>
          </a:p>
        </p:txBody>
      </p:sp>
      <p:sp>
        <p:nvSpPr>
          <p:cNvPr id="14" name="Stat sub 3"/>
          <p:cNvSpPr txBox="1"/>
          <p:nvPr/>
        </p:nvSpPr>
        <p:spPr>
          <a:xfrm>
            <a:off x="4718304" y="2103120"/>
            <a:ext cx="1783080" cy="411480"/>
          </a:xfrm>
          <a:prstGeom prst="rect">
            <a:avLst/>
          </a:prstGeom>
          <a:noFill/>
          <a:ln/>
        </p:spPr>
        <p:txBody>
          <a:bodyPr wrap="square" lIns="0" tIns="0" rIns="0" bIns="0" rtlCol="0" anchor="t"/>
          <a:lstStyle/>
          <a:p>
            <a:pPr marL="0" indent="0" algn="ctr">
              <a:buNone/>
            </a:pPr>
            <a:r>
              <a:rPr lang="en-US" sz="1100" dirty="0">
                <a:solidFill>
                  <a:schemeClr val="tx1"/>
                </a:solidFill>
              </a:rPr>
              <a:t>ASP.NET, Flutter, Supabase, browsers</a:t>
            </a:r>
            <a:endParaRPr lang="en-US" sz="1100" dirty="0"/>
          </a:p>
        </p:txBody>
      </p:sp>
      <p:sp>
        <p:nvSpPr>
          <p:cNvPr id="15" name="Stat card 4"/>
          <p:cNvSpPr/>
          <p:nvPr/>
        </p:nvSpPr>
        <p:spPr>
          <a:xfrm>
            <a:off x="6711696" y="1097280"/>
            <a:ext cx="1965960" cy="1463040"/>
          </a:xfrm>
          <a:prstGeom prst="roundRect">
            <a:avLst>
              <a:gd name="adj" fmla="val 5000"/>
            </a:avLst>
          </a:prstGeom>
          <a:solidFill>
            <a:schemeClr val="bg2"/>
          </a:solidFill>
          <a:ln w="12700">
            <a:solidFill>
              <a:schemeClr val="bg2"/>
            </a:solidFill>
            <a:prstDash val="solid"/>
          </a:ln>
        </p:spPr>
        <p:txBody>
          <a:bodyPr/>
          <a:lstStyle/>
          <a:p>
            <a:endParaRPr lang="en-ZA"/>
          </a:p>
        </p:txBody>
      </p:sp>
      <p:sp>
        <p:nvSpPr>
          <p:cNvPr id="16" name="Stat number 4"/>
          <p:cNvSpPr txBox="1"/>
          <p:nvPr/>
        </p:nvSpPr>
        <p:spPr>
          <a:xfrm>
            <a:off x="6711696" y="1143000"/>
            <a:ext cx="1965960" cy="64008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4</a:t>
            </a:r>
            <a:endParaRPr lang="en-US" sz="4000" dirty="0"/>
          </a:p>
        </p:txBody>
      </p:sp>
      <p:sp>
        <p:nvSpPr>
          <p:cNvPr id="17" name="Stat label 4"/>
          <p:cNvSpPr txBox="1"/>
          <p:nvPr/>
        </p:nvSpPr>
        <p:spPr>
          <a:xfrm>
            <a:off x="6803136" y="1783080"/>
            <a:ext cx="1783080" cy="320040"/>
          </a:xfrm>
          <a:prstGeom prst="rect">
            <a:avLst/>
          </a:prstGeom>
          <a:noFill/>
          <a:ln/>
        </p:spPr>
        <p:txBody>
          <a:bodyPr wrap="square" lIns="0" tIns="0" rIns="0" bIns="0" rtlCol="0" anchor="t"/>
          <a:lstStyle/>
          <a:p>
            <a:pPr marL="0" indent="0" algn="ctr">
              <a:buNone/>
            </a:pPr>
            <a:r>
              <a:rPr lang="en-US" sz="1300" b="1" dirty="0">
                <a:solidFill>
                  <a:schemeClr val="tx2"/>
                </a:solidFill>
              </a:rPr>
              <a:t>Integration requirements</a:t>
            </a:r>
            <a:endParaRPr lang="en-US" sz="1300" dirty="0"/>
          </a:p>
        </p:txBody>
      </p:sp>
      <p:sp>
        <p:nvSpPr>
          <p:cNvPr id="18" name="Stat sub 4"/>
          <p:cNvSpPr txBox="1"/>
          <p:nvPr/>
        </p:nvSpPr>
        <p:spPr>
          <a:xfrm>
            <a:off x="6803136" y="2103120"/>
            <a:ext cx="1783080" cy="411480"/>
          </a:xfrm>
          <a:prstGeom prst="rect">
            <a:avLst/>
          </a:prstGeom>
          <a:noFill/>
          <a:ln/>
        </p:spPr>
        <p:txBody>
          <a:bodyPr wrap="square" lIns="0" tIns="0" rIns="0" bIns="0" rtlCol="0" anchor="t"/>
          <a:lstStyle/>
          <a:p>
            <a:pPr marL="0" indent="0" algn="ctr">
              <a:buNone/>
            </a:pPr>
            <a:r>
              <a:rPr lang="en-US" sz="1100" dirty="0">
                <a:solidFill>
                  <a:schemeClr val="tx1"/>
                </a:solidFill>
              </a:rPr>
              <a:t>Shared backend and Auth</a:t>
            </a:r>
            <a:endParaRPr lang="en-US" sz="1100" dirty="0"/>
          </a:p>
        </p:txBody>
      </p:sp>
      <p:sp>
        <p:nvSpPr>
          <p:cNvPr id="19" name="Phase 1 analysis card"/>
          <p:cNvSpPr/>
          <p:nvPr/>
        </p:nvSpPr>
        <p:spPr>
          <a:xfrm>
            <a:off x="457200" y="2743200"/>
            <a:ext cx="4023360" cy="1874520"/>
          </a:xfrm>
          <a:prstGeom prst="roundRect">
            <a:avLst>
              <a:gd name="adj" fmla="val 3902"/>
            </a:avLst>
          </a:prstGeom>
          <a:solidFill>
            <a:schemeClr val="bg2"/>
          </a:solidFill>
          <a:ln w="12700">
            <a:solidFill>
              <a:schemeClr val="bg2"/>
            </a:solidFill>
            <a:prstDash val="solid"/>
          </a:ln>
        </p:spPr>
        <p:txBody>
          <a:bodyPr/>
          <a:lstStyle/>
          <a:p>
            <a:endParaRPr lang="en-ZA"/>
          </a:p>
        </p:txBody>
      </p:sp>
      <p:sp>
        <p:nvSpPr>
          <p:cNvPr id="20" name="Analysis heading"/>
          <p:cNvSpPr txBox="1"/>
          <p:nvPr/>
        </p:nvSpPr>
        <p:spPr>
          <a:xfrm>
            <a:off x="640080" y="2816352"/>
            <a:ext cx="3657600" cy="274320"/>
          </a:xfrm>
          <a:prstGeom prst="rect">
            <a:avLst/>
          </a:prstGeom>
          <a:noFill/>
          <a:ln/>
        </p:spPr>
        <p:txBody>
          <a:bodyPr wrap="square" lIns="0" tIns="0" rIns="0" bIns="0" rtlCol="0" anchor="t"/>
          <a:lstStyle/>
          <a:p>
            <a:pPr marL="0" indent="0">
              <a:buNone/>
            </a:pPr>
            <a:r>
              <a:rPr lang="en-US" sz="1400" b="1" dirty="0">
                <a:solidFill>
                  <a:schemeClr val="tx2"/>
                </a:solidFill>
              </a:rPr>
              <a:t>Analysis we completed</a:t>
            </a:r>
            <a:endParaRPr lang="en-US" sz="1400" dirty="0"/>
          </a:p>
        </p:txBody>
      </p:sp>
      <p:sp>
        <p:nvSpPr>
          <p:cNvPr id="21" name="Analysis list"/>
          <p:cNvSpPr txBox="1"/>
          <p:nvPr/>
        </p:nvSpPr>
        <p:spPr>
          <a:xfrm>
            <a:off x="640080" y="3127248"/>
            <a:ext cx="3657600" cy="14630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Six-factor feasibility: technical, operational, economic, schedule, legal and ethical</a:t>
            </a:r>
            <a:endParaRPr lang="en-US" sz="1200" dirty="0"/>
          </a:p>
          <a:p>
            <a:pPr marL="342900" indent="-342900">
              <a:spcAft>
                <a:spcPts val="300"/>
              </a:spcAft>
              <a:buSzPct val="100000"/>
              <a:buChar char="•"/>
            </a:pPr>
            <a:r>
              <a:rPr lang="en-US" sz="1200" dirty="0">
                <a:solidFill>
                  <a:schemeClr val="tx1"/>
                </a:solidFill>
              </a:rPr>
              <a:t>13 risks scored by likelihood and impact</a:t>
            </a:r>
            <a:endParaRPr lang="en-US" sz="1200" dirty="0"/>
          </a:p>
          <a:p>
            <a:pPr marL="342900" indent="-342900">
              <a:spcAft>
                <a:spcPts val="300"/>
              </a:spcAft>
              <a:buSzPct val="100000"/>
              <a:buChar char="•"/>
            </a:pPr>
            <a:r>
              <a:rPr lang="en-US" sz="1200" dirty="0">
                <a:solidFill>
                  <a:schemeClr val="tx1"/>
                </a:solidFill>
              </a:rPr>
              <a:t>Critical risks: limited testing time, late core functions, date projections</a:t>
            </a:r>
            <a:endParaRPr lang="en-US" sz="1200" dirty="0"/>
          </a:p>
          <a:p>
            <a:pPr marL="342900" indent="-342900">
              <a:spcAft>
                <a:spcPts val="300"/>
              </a:spcAft>
              <a:buSzPct val="100000"/>
              <a:buChar char="•"/>
            </a:pPr>
            <a:r>
              <a:rPr lang="en-US" sz="1200" dirty="0">
                <a:solidFill>
                  <a:schemeClr val="tx1"/>
                </a:solidFill>
              </a:rPr>
              <a:t>Scope refined with the stakeholder</a:t>
            </a:r>
            <a:endParaRPr lang="en-US" sz="1200" dirty="0"/>
          </a:p>
        </p:txBody>
      </p:sp>
      <p:sp>
        <p:nvSpPr>
          <p:cNvPr id="22" name="SWOT card"/>
          <p:cNvSpPr/>
          <p:nvPr/>
        </p:nvSpPr>
        <p:spPr>
          <a:xfrm>
            <a:off x="4663440" y="2743200"/>
            <a:ext cx="4023360" cy="1874520"/>
          </a:xfrm>
          <a:prstGeom prst="roundRect">
            <a:avLst>
              <a:gd name="adj" fmla="val 3902"/>
            </a:avLst>
          </a:prstGeom>
          <a:solidFill>
            <a:schemeClr val="bg2"/>
          </a:solidFill>
          <a:ln w="12700">
            <a:solidFill>
              <a:schemeClr val="bg2"/>
            </a:solidFill>
            <a:prstDash val="solid"/>
          </a:ln>
        </p:spPr>
        <p:txBody>
          <a:bodyPr/>
          <a:lstStyle/>
          <a:p>
            <a:endParaRPr lang="en-ZA"/>
          </a:p>
        </p:txBody>
      </p:sp>
      <p:sp>
        <p:nvSpPr>
          <p:cNvPr id="23" name="SWOT heading"/>
          <p:cNvSpPr txBox="1"/>
          <p:nvPr/>
        </p:nvSpPr>
        <p:spPr>
          <a:xfrm>
            <a:off x="4846320" y="2816352"/>
            <a:ext cx="3657600" cy="274320"/>
          </a:xfrm>
          <a:prstGeom prst="rect">
            <a:avLst/>
          </a:prstGeom>
          <a:noFill/>
          <a:ln/>
        </p:spPr>
        <p:txBody>
          <a:bodyPr wrap="square" lIns="0" tIns="0" rIns="0" bIns="0" rtlCol="0" anchor="t"/>
          <a:lstStyle/>
          <a:p>
            <a:pPr marL="0" indent="0">
              <a:buNone/>
            </a:pPr>
            <a:r>
              <a:rPr lang="en-US" sz="1400" b="1" dirty="0">
                <a:solidFill>
                  <a:schemeClr val="tx2"/>
                </a:solidFill>
              </a:rPr>
              <a:t>SWOT highlights</a:t>
            </a:r>
            <a:endParaRPr lang="en-US" sz="1400" dirty="0"/>
          </a:p>
        </p:txBody>
      </p:sp>
      <p:sp>
        <p:nvSpPr>
          <p:cNvPr id="24" name="SWOT list"/>
          <p:cNvSpPr txBox="1"/>
          <p:nvPr/>
        </p:nvSpPr>
        <p:spPr>
          <a:xfrm>
            <a:off x="4846320" y="3127248"/>
            <a:ext cx="3657600" cy="1463040"/>
          </a:xfrm>
          <a:prstGeom prst="rect">
            <a:avLst/>
          </a:prstGeom>
          <a:noFill/>
          <a:ln/>
        </p:spPr>
        <p:txBody>
          <a:bodyPr wrap="square" lIns="0" tIns="0" rIns="0" bIns="0" rtlCol="0" anchor="t"/>
          <a:lstStyle/>
          <a:p>
            <a:pPr marL="0" indent="0">
              <a:spcAft>
                <a:spcPts val="400"/>
              </a:spcAft>
              <a:buNone/>
            </a:pPr>
            <a:r>
              <a:rPr lang="en-US" sz="1200" b="1" dirty="0">
                <a:solidFill>
                  <a:schemeClr val="accent1"/>
                </a:solidFill>
              </a:rPr>
              <a:t>Strength  </a:t>
            </a:r>
            <a:r>
              <a:rPr lang="en-US" sz="1200" dirty="0">
                <a:solidFill>
                  <a:schemeClr val="tx1"/>
                </a:solidFill>
              </a:rPr>
              <a:t>Engaged stakeholder; free tools; core features match real pain points</a:t>
            </a:r>
            <a:endParaRPr lang="en-US" sz="1200" dirty="0"/>
          </a:p>
          <a:p>
            <a:pPr marL="0" indent="0">
              <a:spcAft>
                <a:spcPts val="400"/>
              </a:spcAft>
              <a:buNone/>
            </a:pPr>
            <a:r>
              <a:rPr lang="en-US" sz="1200" b="1" dirty="0">
                <a:solidFill>
                  <a:schemeClr val="accent6"/>
                </a:solidFill>
              </a:rPr>
              <a:t>Weakness  </a:t>
            </a:r>
            <a:r>
              <a:rPr lang="en-US" sz="1200" dirty="0">
                <a:solidFill>
                  <a:schemeClr val="tx1"/>
                </a:solidFill>
              </a:rPr>
              <a:t>Supabase was a new skill; tight testing window</a:t>
            </a:r>
            <a:endParaRPr lang="en-US" sz="1200" dirty="0"/>
          </a:p>
          <a:p>
            <a:pPr marL="0" indent="0">
              <a:spcAft>
                <a:spcPts val="400"/>
              </a:spcAft>
              <a:buNone/>
            </a:pPr>
            <a:r>
              <a:rPr lang="en-US" sz="1200" b="1" dirty="0">
                <a:solidFill>
                  <a:schemeClr val="accent3"/>
                </a:solidFill>
              </a:rPr>
              <a:t>Opportunity  </a:t>
            </a:r>
            <a:r>
              <a:rPr lang="en-US" sz="1200" dirty="0">
                <a:solidFill>
                  <a:schemeClr val="tx1"/>
                </a:solidFill>
              </a:rPr>
              <a:t>Achievements page doubles as marketing; reusable for other schools</a:t>
            </a:r>
            <a:endParaRPr lang="en-US" sz="1200" dirty="0"/>
          </a:p>
          <a:p>
            <a:pPr marL="0" indent="0">
              <a:spcAft>
                <a:spcPts val="400"/>
              </a:spcAft>
              <a:buNone/>
            </a:pPr>
            <a:r>
              <a:rPr lang="en-US" sz="1200" b="1" dirty="0">
                <a:solidFill>
                  <a:schemeClr val="accent2"/>
                </a:solidFill>
              </a:rPr>
              <a:t>Threat  </a:t>
            </a:r>
            <a:r>
              <a:rPr lang="en-US" sz="1200" dirty="0">
                <a:solidFill>
                  <a:schemeClr val="tx1"/>
                </a:solidFill>
              </a:rPr>
              <a:t>Supabase downtime; some parents lack digital access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Recap of Phase 2: system design</a:t>
            </a:r>
            <a:endParaRPr lang="en-US" sz="2800" dirty="0"/>
          </a:p>
        </p:txBody>
      </p:sp>
      <p:sp>
        <p:nvSpPr>
          <p:cNvPr id="3" name="Recap card 1"/>
          <p:cNvSpPr/>
          <p:nvPr/>
        </p:nvSpPr>
        <p:spPr>
          <a:xfrm>
            <a:off x="457200" y="1097280"/>
            <a:ext cx="4023360" cy="1645920"/>
          </a:xfrm>
          <a:prstGeom prst="roundRect">
            <a:avLst>
              <a:gd name="adj" fmla="val 4444"/>
            </a:avLst>
          </a:prstGeom>
          <a:solidFill>
            <a:schemeClr val="bg2"/>
          </a:solidFill>
          <a:ln w="12700">
            <a:solidFill>
              <a:schemeClr val="bg2"/>
            </a:solidFill>
            <a:prstDash val="solid"/>
          </a:ln>
        </p:spPr>
        <p:txBody>
          <a:bodyPr/>
          <a:lstStyle/>
          <a:p>
            <a:endParaRPr lang="en-ZA"/>
          </a:p>
        </p:txBody>
      </p:sp>
      <p:sp>
        <p:nvSpPr>
          <p:cNvPr id="4" name="Recap icon 1 circle"/>
          <p:cNvSpPr/>
          <p:nvPr/>
        </p:nvSpPr>
        <p:spPr>
          <a:xfrm>
            <a:off x="594360" y="123444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5" name="Recap icon 1" descr="Recap icon 1"/>
          <p:cNvPicPr>
            <a:picLocks noChangeAspect="1"/>
          </p:cNvPicPr>
          <p:nvPr/>
        </p:nvPicPr>
        <p:blipFill>
          <a:blip r:embed="rId3"/>
          <a:stretch>
            <a:fillRect/>
          </a:stretch>
        </p:blipFill>
        <p:spPr>
          <a:xfrm>
            <a:off x="713232" y="1353312"/>
            <a:ext cx="219456" cy="219456"/>
          </a:xfrm>
          <a:prstGeom prst="rect">
            <a:avLst/>
          </a:prstGeom>
        </p:spPr>
      </p:pic>
      <p:sp>
        <p:nvSpPr>
          <p:cNvPr id="6" name="Recap heading 1"/>
          <p:cNvSpPr txBox="1"/>
          <p:nvPr/>
        </p:nvSpPr>
        <p:spPr>
          <a:xfrm>
            <a:off x="1188720" y="1234440"/>
            <a:ext cx="3108960" cy="457200"/>
          </a:xfrm>
          <a:prstGeom prst="rect">
            <a:avLst/>
          </a:prstGeom>
          <a:noFill/>
          <a:ln/>
        </p:spPr>
        <p:txBody>
          <a:bodyPr wrap="square" lIns="0" tIns="0" rIns="0" bIns="0" rtlCol="0" anchor="ctr"/>
          <a:lstStyle/>
          <a:p>
            <a:pPr marL="0" indent="0">
              <a:buNone/>
            </a:pPr>
            <a:r>
              <a:rPr lang="en-US" sz="1500" b="1" dirty="0">
                <a:solidFill>
                  <a:schemeClr val="tx2"/>
                </a:solidFill>
              </a:rPr>
              <a:t>Architecture</a:t>
            </a:r>
            <a:endParaRPr lang="en-US" sz="1500" dirty="0"/>
          </a:p>
        </p:txBody>
      </p:sp>
      <p:sp>
        <p:nvSpPr>
          <p:cNvPr id="7" name="Recap list 1"/>
          <p:cNvSpPr txBox="1"/>
          <p:nvPr/>
        </p:nvSpPr>
        <p:spPr>
          <a:xfrm>
            <a:off x="640080" y="1783080"/>
            <a:ext cx="3657600" cy="91440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chemeClr val="tx1"/>
                </a:solidFill>
              </a:rPr>
              <a:t>Flutter app with MVVM for parents</a:t>
            </a:r>
            <a:endParaRPr lang="en-US" sz="1100" dirty="0"/>
          </a:p>
          <a:p>
            <a:pPr marL="342900" indent="-342900">
              <a:spcAft>
                <a:spcPts val="200"/>
              </a:spcAft>
              <a:buSzPct val="100000"/>
              <a:buChar char="•"/>
            </a:pPr>
            <a:r>
              <a:rPr lang="en-US" sz="1100" dirty="0">
                <a:solidFill>
                  <a:schemeClr val="tx1"/>
                </a:solidFill>
              </a:rPr>
              <a:t>ASP.NET web app with MVC for admins</a:t>
            </a:r>
            <a:endParaRPr lang="en-US" sz="1100" dirty="0"/>
          </a:p>
          <a:p>
            <a:pPr marL="342900" indent="-342900">
              <a:spcAft>
                <a:spcPts val="200"/>
              </a:spcAft>
              <a:buSzPct val="100000"/>
              <a:buChar char="•"/>
            </a:pPr>
            <a:r>
              <a:rPr lang="en-US" sz="1100" dirty="0">
                <a:solidFill>
                  <a:schemeClr val="tx1"/>
                </a:solidFill>
              </a:rPr>
              <a:t>Supabase Auth, database and storage in the middle</a:t>
            </a:r>
            <a:endParaRPr lang="en-US" sz="1100" dirty="0"/>
          </a:p>
        </p:txBody>
      </p:sp>
      <p:sp>
        <p:nvSpPr>
          <p:cNvPr id="8" name="Recap card 2"/>
          <p:cNvSpPr/>
          <p:nvPr/>
        </p:nvSpPr>
        <p:spPr>
          <a:xfrm>
            <a:off x="4663440" y="1097280"/>
            <a:ext cx="4023360" cy="1645920"/>
          </a:xfrm>
          <a:prstGeom prst="roundRect">
            <a:avLst>
              <a:gd name="adj" fmla="val 4444"/>
            </a:avLst>
          </a:prstGeom>
          <a:solidFill>
            <a:schemeClr val="bg2"/>
          </a:solidFill>
          <a:ln w="12700">
            <a:solidFill>
              <a:schemeClr val="bg2"/>
            </a:solidFill>
            <a:prstDash val="solid"/>
          </a:ln>
        </p:spPr>
        <p:txBody>
          <a:bodyPr/>
          <a:lstStyle/>
          <a:p>
            <a:endParaRPr lang="en-ZA"/>
          </a:p>
        </p:txBody>
      </p:sp>
      <p:sp>
        <p:nvSpPr>
          <p:cNvPr id="9" name="Recap icon 2 circle"/>
          <p:cNvSpPr/>
          <p:nvPr/>
        </p:nvSpPr>
        <p:spPr>
          <a:xfrm>
            <a:off x="4800600" y="123444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10" name="Recap icon 2" descr="Recap icon 2"/>
          <p:cNvPicPr>
            <a:picLocks noChangeAspect="1"/>
          </p:cNvPicPr>
          <p:nvPr/>
        </p:nvPicPr>
        <p:blipFill>
          <a:blip r:embed="rId4"/>
          <a:stretch>
            <a:fillRect/>
          </a:stretch>
        </p:blipFill>
        <p:spPr>
          <a:xfrm>
            <a:off x="4919472" y="1353312"/>
            <a:ext cx="219456" cy="219456"/>
          </a:xfrm>
          <a:prstGeom prst="rect">
            <a:avLst/>
          </a:prstGeom>
        </p:spPr>
      </p:pic>
      <p:sp>
        <p:nvSpPr>
          <p:cNvPr id="11" name="Recap heading 2"/>
          <p:cNvSpPr txBox="1"/>
          <p:nvPr/>
        </p:nvSpPr>
        <p:spPr>
          <a:xfrm>
            <a:off x="5394960" y="1234440"/>
            <a:ext cx="3108960" cy="457200"/>
          </a:xfrm>
          <a:prstGeom prst="rect">
            <a:avLst/>
          </a:prstGeom>
          <a:noFill/>
          <a:ln/>
        </p:spPr>
        <p:txBody>
          <a:bodyPr wrap="square" lIns="0" tIns="0" rIns="0" bIns="0" rtlCol="0" anchor="ctr"/>
          <a:lstStyle/>
          <a:p>
            <a:pPr marL="0" indent="0">
              <a:buNone/>
            </a:pPr>
            <a:r>
              <a:rPr lang="en-US" sz="1500" b="1" dirty="0">
                <a:solidFill>
                  <a:schemeClr val="tx2"/>
                </a:solidFill>
              </a:rPr>
              <a:t>Use cases</a:t>
            </a:r>
            <a:endParaRPr lang="en-US" sz="1500" dirty="0"/>
          </a:p>
        </p:txBody>
      </p:sp>
      <p:sp>
        <p:nvSpPr>
          <p:cNvPr id="12" name="Recap list 2"/>
          <p:cNvSpPr txBox="1"/>
          <p:nvPr/>
        </p:nvSpPr>
        <p:spPr>
          <a:xfrm>
            <a:off x="4846320" y="1783080"/>
            <a:ext cx="3657600" cy="91440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chemeClr val="tx1"/>
                </a:solidFill>
              </a:rPr>
              <a:t>Parent: 7 use cases, from account to viewing updates</a:t>
            </a:r>
            <a:endParaRPr lang="en-US" sz="1100" dirty="0"/>
          </a:p>
          <a:p>
            <a:pPr marL="342900" indent="-342900">
              <a:spcAft>
                <a:spcPts val="200"/>
              </a:spcAft>
              <a:buSzPct val="100000"/>
              <a:buChar char="•"/>
            </a:pPr>
            <a:r>
              <a:rPr lang="en-US" sz="1100" dirty="0">
                <a:solidFill>
                  <a:schemeClr val="tx1"/>
                </a:solidFill>
              </a:rPr>
              <a:t>Administrator: 4 use cases: account, login, review, publish</a:t>
            </a:r>
            <a:endParaRPr lang="en-US" sz="1100" dirty="0"/>
          </a:p>
          <a:p>
            <a:pPr marL="342900" indent="-342900">
              <a:spcAft>
                <a:spcPts val="200"/>
              </a:spcAft>
              <a:buSzPct val="100000"/>
              <a:buChar char="•"/>
            </a:pPr>
            <a:r>
              <a:rPr lang="en-US" sz="1100" dirty="0">
                <a:solidFill>
                  <a:schemeClr val="tx1"/>
                </a:solidFill>
              </a:rPr>
              <a:t>Submit includes validation; decisions extend review</a:t>
            </a:r>
            <a:endParaRPr lang="en-US" sz="1100" dirty="0"/>
          </a:p>
        </p:txBody>
      </p:sp>
      <p:sp>
        <p:nvSpPr>
          <p:cNvPr id="13" name="Recap card 3"/>
          <p:cNvSpPr/>
          <p:nvPr/>
        </p:nvSpPr>
        <p:spPr>
          <a:xfrm>
            <a:off x="457200" y="2880360"/>
            <a:ext cx="4023360" cy="1645920"/>
          </a:xfrm>
          <a:prstGeom prst="roundRect">
            <a:avLst>
              <a:gd name="adj" fmla="val 4444"/>
            </a:avLst>
          </a:prstGeom>
          <a:solidFill>
            <a:schemeClr val="bg2"/>
          </a:solidFill>
          <a:ln w="12700">
            <a:solidFill>
              <a:schemeClr val="bg2"/>
            </a:solidFill>
            <a:prstDash val="solid"/>
          </a:ln>
        </p:spPr>
        <p:txBody>
          <a:bodyPr/>
          <a:lstStyle/>
          <a:p>
            <a:endParaRPr lang="en-ZA"/>
          </a:p>
        </p:txBody>
      </p:sp>
      <p:sp>
        <p:nvSpPr>
          <p:cNvPr id="14" name="Recap icon 3 circle"/>
          <p:cNvSpPr/>
          <p:nvPr/>
        </p:nvSpPr>
        <p:spPr>
          <a:xfrm>
            <a:off x="594360" y="301752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15" name="Recap icon 3" descr="Recap icon 3"/>
          <p:cNvPicPr>
            <a:picLocks noChangeAspect="1"/>
          </p:cNvPicPr>
          <p:nvPr/>
        </p:nvPicPr>
        <p:blipFill>
          <a:blip r:embed="rId5"/>
          <a:stretch>
            <a:fillRect/>
          </a:stretch>
        </p:blipFill>
        <p:spPr>
          <a:xfrm>
            <a:off x="713232" y="3136392"/>
            <a:ext cx="219456" cy="219456"/>
          </a:xfrm>
          <a:prstGeom prst="rect">
            <a:avLst/>
          </a:prstGeom>
        </p:spPr>
      </p:pic>
      <p:sp>
        <p:nvSpPr>
          <p:cNvPr id="16" name="Recap heading 3"/>
          <p:cNvSpPr txBox="1"/>
          <p:nvPr/>
        </p:nvSpPr>
        <p:spPr>
          <a:xfrm>
            <a:off x="1188720" y="3017520"/>
            <a:ext cx="3108960" cy="457200"/>
          </a:xfrm>
          <a:prstGeom prst="rect">
            <a:avLst/>
          </a:prstGeom>
          <a:noFill/>
          <a:ln/>
        </p:spPr>
        <p:txBody>
          <a:bodyPr wrap="square" lIns="0" tIns="0" rIns="0" bIns="0" rtlCol="0" anchor="ctr"/>
          <a:lstStyle/>
          <a:p>
            <a:pPr marL="0" indent="0">
              <a:buNone/>
            </a:pPr>
            <a:r>
              <a:rPr lang="en-US" sz="1500" b="1" dirty="0">
                <a:solidFill>
                  <a:schemeClr val="tx2"/>
                </a:solidFill>
              </a:rPr>
              <a:t>Sequence diagrams</a:t>
            </a:r>
            <a:endParaRPr lang="en-US" sz="1500" dirty="0"/>
          </a:p>
        </p:txBody>
      </p:sp>
      <p:sp>
        <p:nvSpPr>
          <p:cNvPr id="17" name="Recap list 3"/>
          <p:cNvSpPr txBox="1"/>
          <p:nvPr/>
        </p:nvSpPr>
        <p:spPr>
          <a:xfrm>
            <a:off x="640080" y="3566160"/>
            <a:ext cx="3657600" cy="91440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chemeClr val="tx1"/>
                </a:solidFill>
              </a:rPr>
              <a:t>Parent submits: Flutter, Auth, database, storage</a:t>
            </a:r>
            <a:endParaRPr lang="en-US" sz="1100" dirty="0"/>
          </a:p>
          <a:p>
            <a:pPr marL="342900" indent="-342900">
              <a:spcAft>
                <a:spcPts val="200"/>
              </a:spcAft>
              <a:buSzPct val="100000"/>
              <a:buChar char="•"/>
            </a:pPr>
            <a:r>
              <a:rPr lang="en-US" sz="1100" dirty="0">
                <a:solidFill>
                  <a:schemeClr val="tx1"/>
                </a:solidFill>
              </a:rPr>
              <a:t>Admin reviews: ASP.NET, Auth, database updated</a:t>
            </a:r>
            <a:endParaRPr lang="en-US" sz="1100" dirty="0"/>
          </a:p>
          <a:p>
            <a:pPr marL="342900" indent="-342900">
              <a:spcAft>
                <a:spcPts val="200"/>
              </a:spcAft>
              <a:buSzPct val="100000"/>
              <a:buChar char="•"/>
            </a:pPr>
            <a:r>
              <a:rPr lang="en-US" sz="1100" dirty="0">
                <a:solidFill>
                  <a:schemeClr val="tx1"/>
                </a:solidFill>
              </a:rPr>
              <a:t>Both flows share the same Supabase data</a:t>
            </a:r>
            <a:endParaRPr lang="en-US" sz="1100" dirty="0"/>
          </a:p>
        </p:txBody>
      </p:sp>
      <p:sp>
        <p:nvSpPr>
          <p:cNvPr id="18" name="Recap card 4"/>
          <p:cNvSpPr/>
          <p:nvPr/>
        </p:nvSpPr>
        <p:spPr>
          <a:xfrm>
            <a:off x="4663440" y="2880360"/>
            <a:ext cx="4023360" cy="1645920"/>
          </a:xfrm>
          <a:prstGeom prst="roundRect">
            <a:avLst>
              <a:gd name="adj" fmla="val 4444"/>
            </a:avLst>
          </a:prstGeom>
          <a:solidFill>
            <a:schemeClr val="bg2"/>
          </a:solidFill>
          <a:ln w="12700">
            <a:solidFill>
              <a:schemeClr val="bg2"/>
            </a:solidFill>
            <a:prstDash val="solid"/>
          </a:ln>
        </p:spPr>
        <p:txBody>
          <a:bodyPr/>
          <a:lstStyle/>
          <a:p>
            <a:endParaRPr lang="en-ZA"/>
          </a:p>
        </p:txBody>
      </p:sp>
      <p:sp>
        <p:nvSpPr>
          <p:cNvPr id="19" name="Recap icon 4 circle"/>
          <p:cNvSpPr/>
          <p:nvPr/>
        </p:nvSpPr>
        <p:spPr>
          <a:xfrm>
            <a:off x="4800600" y="301752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20" name="Recap icon 4" descr="Recap icon 4"/>
          <p:cNvPicPr>
            <a:picLocks noChangeAspect="1"/>
          </p:cNvPicPr>
          <p:nvPr/>
        </p:nvPicPr>
        <p:blipFill>
          <a:blip r:embed="rId6"/>
          <a:stretch>
            <a:fillRect/>
          </a:stretch>
        </p:blipFill>
        <p:spPr>
          <a:xfrm>
            <a:off x="4919472" y="3136392"/>
            <a:ext cx="219456" cy="219456"/>
          </a:xfrm>
          <a:prstGeom prst="rect">
            <a:avLst/>
          </a:prstGeom>
        </p:spPr>
      </p:pic>
      <p:sp>
        <p:nvSpPr>
          <p:cNvPr id="21" name="Recap heading 4"/>
          <p:cNvSpPr txBox="1"/>
          <p:nvPr/>
        </p:nvSpPr>
        <p:spPr>
          <a:xfrm>
            <a:off x="5394960" y="3017520"/>
            <a:ext cx="3108960" cy="457200"/>
          </a:xfrm>
          <a:prstGeom prst="rect">
            <a:avLst/>
          </a:prstGeom>
          <a:noFill/>
          <a:ln/>
        </p:spPr>
        <p:txBody>
          <a:bodyPr wrap="square" lIns="0" tIns="0" rIns="0" bIns="0" rtlCol="0" anchor="ctr"/>
          <a:lstStyle/>
          <a:p>
            <a:pPr marL="0" indent="0">
              <a:buNone/>
            </a:pPr>
            <a:r>
              <a:rPr lang="en-US" sz="1500" b="1" dirty="0">
                <a:solidFill>
                  <a:schemeClr val="tx2"/>
                </a:solidFill>
              </a:rPr>
              <a:t>ERD and design</a:t>
            </a:r>
            <a:endParaRPr lang="en-US" sz="1500" dirty="0"/>
          </a:p>
        </p:txBody>
      </p:sp>
      <p:sp>
        <p:nvSpPr>
          <p:cNvPr id="22" name="Recap list 4"/>
          <p:cNvSpPr txBox="1"/>
          <p:nvPr/>
        </p:nvSpPr>
        <p:spPr>
          <a:xfrm>
            <a:off x="4846320" y="3566160"/>
            <a:ext cx="3657600" cy="91440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chemeClr val="tx1"/>
                </a:solidFill>
              </a:rPr>
              <a:t>ERD with 8 entities and keys</a:t>
            </a:r>
            <a:endParaRPr lang="en-US" sz="1100" dirty="0"/>
          </a:p>
          <a:p>
            <a:pPr marL="342900" indent="-342900">
              <a:spcAft>
                <a:spcPts val="200"/>
              </a:spcAft>
              <a:buSzPct val="100000"/>
              <a:buChar char="•"/>
            </a:pPr>
            <a:r>
              <a:rPr lang="en-US" sz="1100" dirty="0">
                <a:solidFill>
                  <a:schemeClr val="tx1"/>
                </a:solidFill>
              </a:rPr>
              <a:t>Figma designs for the Flutter app and the web pages</a:t>
            </a:r>
            <a:endParaRPr lang="en-US" sz="1100" dirty="0"/>
          </a:p>
          <a:p>
            <a:pPr marL="342900" indent="-342900">
              <a:spcAft>
                <a:spcPts val="200"/>
              </a:spcAft>
              <a:buSzPct val="100000"/>
              <a:buChar char="•"/>
            </a:pPr>
            <a:r>
              <a:rPr lang="en-US" sz="1100" dirty="0">
                <a:solidFill>
                  <a:schemeClr val="tx1"/>
                </a:solidFill>
              </a:rPr>
              <a:t>Stakeholder feedback on 16 September, design confirmation letter signed</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785F7-ECF6-098C-BB19-19D17FAD715E}"/>
            </a:ext>
          </a:extLst>
        </p:cNvPr>
        <p:cNvGrpSpPr/>
        <p:nvPr/>
      </p:nvGrpSpPr>
      <p:grpSpPr>
        <a:xfrm>
          <a:off x="0" y="0"/>
          <a:ext cx="0" cy="0"/>
          <a:chOff x="0" y="0"/>
          <a:chExt cx="0" cy="0"/>
        </a:xfrm>
      </p:grpSpPr>
      <p:sp>
        <p:nvSpPr>
          <p:cNvPr id="3" name="Group">
            <a:extLst>
              <a:ext uri="{FF2B5EF4-FFF2-40B4-BE49-F238E27FC236}">
                <a16:creationId xmlns:a16="http://schemas.microsoft.com/office/drawing/2014/main" id="{B38AE14E-09E0-E5E4-22EC-CCBB8D78F47B}"/>
              </a:ext>
            </a:extLst>
          </p:cNvPr>
          <p:cNvSpPr txBox="1"/>
          <p:nvPr/>
        </p:nvSpPr>
        <p:spPr>
          <a:xfrm>
            <a:off x="597625" y="1866182"/>
            <a:ext cx="1312817" cy="365760"/>
          </a:xfrm>
          <a:prstGeom prst="rect">
            <a:avLst/>
          </a:prstGeom>
          <a:noFill/>
          <a:ln/>
        </p:spPr>
        <p:txBody>
          <a:bodyPr wrap="square" lIns="0" tIns="0" rIns="0" bIns="0" rtlCol="0" anchor="t"/>
          <a:lstStyle/>
          <a:p>
            <a:pPr marL="0" indent="0">
              <a:buNone/>
            </a:pPr>
            <a:r>
              <a:rPr lang="en-US" sz="1600" dirty="0">
                <a:solidFill>
                  <a:schemeClr val="accent4"/>
                </a:solidFill>
              </a:rPr>
              <a:t>Section 2 </a:t>
            </a:r>
            <a:endParaRPr lang="en-US" sz="1600" dirty="0"/>
          </a:p>
        </p:txBody>
      </p:sp>
      <p:sp>
        <p:nvSpPr>
          <p:cNvPr id="5" name="Rectangle 4">
            <a:extLst>
              <a:ext uri="{FF2B5EF4-FFF2-40B4-BE49-F238E27FC236}">
                <a16:creationId xmlns:a16="http://schemas.microsoft.com/office/drawing/2014/main" id="{EA42DBA3-E668-2DE9-EC7E-CC778FC50E30}"/>
              </a:ext>
            </a:extLst>
          </p:cNvPr>
          <p:cNvSpPr/>
          <p:nvPr/>
        </p:nvSpPr>
        <p:spPr>
          <a:xfrm>
            <a:off x="597625" y="2350158"/>
            <a:ext cx="1545938" cy="61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2"/>
              </a:solidFill>
            </a:endParaRPr>
          </a:p>
        </p:txBody>
      </p:sp>
      <p:sp>
        <p:nvSpPr>
          <p:cNvPr id="7" name="Subtitle">
            <a:extLst>
              <a:ext uri="{FF2B5EF4-FFF2-40B4-BE49-F238E27FC236}">
                <a16:creationId xmlns:a16="http://schemas.microsoft.com/office/drawing/2014/main" id="{4C0DB903-3072-F9E4-59CA-D9068BB58E7F}"/>
              </a:ext>
            </a:extLst>
          </p:cNvPr>
          <p:cNvSpPr txBox="1"/>
          <p:nvPr/>
        </p:nvSpPr>
        <p:spPr>
          <a:xfrm>
            <a:off x="597625" y="2437682"/>
            <a:ext cx="4718958" cy="411480"/>
          </a:xfrm>
          <a:prstGeom prst="rect">
            <a:avLst/>
          </a:prstGeom>
          <a:noFill/>
          <a:ln/>
        </p:spPr>
        <p:txBody>
          <a:bodyPr wrap="square" lIns="0" tIns="0" rIns="0" bIns="0" rtlCol="0" anchor="t"/>
          <a:lstStyle/>
          <a:p>
            <a:pPr marL="0" indent="0">
              <a:buNone/>
            </a:pPr>
            <a:r>
              <a:rPr lang="en-US" sz="2000" dirty="0">
                <a:solidFill>
                  <a:schemeClr val="bg2"/>
                </a:solidFill>
              </a:rPr>
              <a:t>Architecture and shared Backend </a:t>
            </a:r>
            <a:r>
              <a:rPr lang="en-US" sz="2000" dirty="0" err="1">
                <a:solidFill>
                  <a:schemeClr val="bg2"/>
                </a:solidFill>
              </a:rPr>
              <a:t>Supabase</a:t>
            </a:r>
            <a:endParaRPr lang="en-US" sz="2000" dirty="0"/>
          </a:p>
        </p:txBody>
      </p:sp>
      <p:sp>
        <p:nvSpPr>
          <p:cNvPr id="4" name="Agenda detail 2">
            <a:extLst>
              <a:ext uri="{FF2B5EF4-FFF2-40B4-BE49-F238E27FC236}">
                <a16:creationId xmlns:a16="http://schemas.microsoft.com/office/drawing/2014/main" id="{DE207F3B-3D0E-53CA-F775-0EE59F4CBD36}"/>
              </a:ext>
            </a:extLst>
          </p:cNvPr>
          <p:cNvSpPr txBox="1"/>
          <p:nvPr/>
        </p:nvSpPr>
        <p:spPr>
          <a:xfrm>
            <a:off x="597625" y="2875605"/>
            <a:ext cx="7315200" cy="256032"/>
          </a:xfrm>
          <a:prstGeom prst="rect">
            <a:avLst/>
          </a:prstGeom>
          <a:noFill/>
          <a:ln/>
        </p:spPr>
        <p:txBody>
          <a:bodyPr wrap="square" lIns="0" tIns="0" rIns="0" bIns="0" rtlCol="0" anchor="t"/>
          <a:lstStyle/>
          <a:p>
            <a:pPr marL="0" indent="0">
              <a:buNone/>
            </a:pPr>
            <a:r>
              <a:rPr lang="en-US" sz="1200" dirty="0">
                <a:solidFill>
                  <a:schemeClr val="bg1"/>
                </a:solidFill>
              </a:rPr>
              <a:t>Roles, data model, authentication and storage</a:t>
            </a:r>
          </a:p>
        </p:txBody>
      </p:sp>
    </p:spTree>
    <p:extLst>
      <p:ext uri="{BB962C8B-B14F-4D97-AF65-F5344CB8AC3E}">
        <p14:creationId xmlns:p14="http://schemas.microsoft.com/office/powerpoint/2010/main" val="226730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System architecture</a:t>
            </a:r>
            <a:endParaRPr lang="en-US" sz="2800" dirty="0"/>
          </a:p>
        </p:txBody>
      </p:sp>
      <p:sp>
        <p:nvSpPr>
          <p:cNvPr id="3" name="Flutter box"/>
          <p:cNvSpPr/>
          <p:nvPr/>
        </p:nvSpPr>
        <p:spPr>
          <a:xfrm>
            <a:off x="457200" y="1143000"/>
            <a:ext cx="2286000" cy="2286000"/>
          </a:xfrm>
          <a:prstGeom prst="roundRect">
            <a:avLst>
              <a:gd name="adj" fmla="val 3200"/>
            </a:avLst>
          </a:prstGeom>
          <a:solidFill>
            <a:schemeClr val="bg2"/>
          </a:solidFill>
          <a:ln w="12700">
            <a:solidFill>
              <a:schemeClr val="bg2"/>
            </a:solidFill>
            <a:prstDash val="solid"/>
          </a:ln>
        </p:spPr>
        <p:txBody>
          <a:bodyPr/>
          <a:lstStyle/>
          <a:p>
            <a:endParaRPr lang="en-ZA"/>
          </a:p>
        </p:txBody>
      </p:sp>
      <p:sp>
        <p:nvSpPr>
          <p:cNvPr id="4" name="Mobile icon circle"/>
          <p:cNvSpPr/>
          <p:nvPr/>
        </p:nvSpPr>
        <p:spPr>
          <a:xfrm>
            <a:off x="1325880" y="1280160"/>
            <a:ext cx="548640" cy="548640"/>
          </a:xfrm>
          <a:prstGeom prst="ellipse">
            <a:avLst/>
          </a:prstGeom>
          <a:solidFill>
            <a:schemeClr val="accent1"/>
          </a:solidFill>
          <a:ln w="12700">
            <a:solidFill>
              <a:schemeClr val="accent1"/>
            </a:solidFill>
            <a:prstDash val="solid"/>
          </a:ln>
        </p:spPr>
        <p:txBody>
          <a:bodyPr/>
          <a:lstStyle/>
          <a:p>
            <a:endParaRPr lang="en-ZA"/>
          </a:p>
        </p:txBody>
      </p:sp>
      <p:pic>
        <p:nvPicPr>
          <p:cNvPr id="5" name="Mobile icon" descr="Mobile icon"/>
          <p:cNvPicPr>
            <a:picLocks noChangeAspect="1"/>
          </p:cNvPicPr>
          <p:nvPr/>
        </p:nvPicPr>
        <p:blipFill>
          <a:blip r:embed="rId3"/>
          <a:stretch>
            <a:fillRect/>
          </a:stretch>
        </p:blipFill>
        <p:spPr>
          <a:xfrm>
            <a:off x="1468526" y="1422806"/>
            <a:ext cx="263347" cy="263347"/>
          </a:xfrm>
          <a:prstGeom prst="rect">
            <a:avLst/>
          </a:prstGeom>
        </p:spPr>
      </p:pic>
      <p:sp>
        <p:nvSpPr>
          <p:cNvPr id="6" name="Flutter label"/>
          <p:cNvSpPr txBox="1"/>
          <p:nvPr/>
        </p:nvSpPr>
        <p:spPr>
          <a:xfrm>
            <a:off x="548640" y="1874520"/>
            <a:ext cx="2103120" cy="320040"/>
          </a:xfrm>
          <a:prstGeom prst="rect">
            <a:avLst/>
          </a:prstGeom>
          <a:noFill/>
          <a:ln/>
        </p:spPr>
        <p:txBody>
          <a:bodyPr wrap="square" lIns="0" tIns="0" rIns="0" bIns="0" rtlCol="0" anchor="t"/>
          <a:lstStyle/>
          <a:p>
            <a:pPr marL="0" indent="0" algn="ctr">
              <a:buNone/>
            </a:pPr>
            <a:r>
              <a:rPr lang="en-US" sz="1600" b="1" dirty="0">
                <a:solidFill>
                  <a:schemeClr val="tx2"/>
                </a:solidFill>
              </a:rPr>
              <a:t>Flutter mobile app</a:t>
            </a:r>
            <a:endParaRPr lang="en-US" sz="1600" dirty="0"/>
          </a:p>
        </p:txBody>
      </p:sp>
      <p:sp>
        <p:nvSpPr>
          <p:cNvPr id="7" name="Flutter detail"/>
          <p:cNvSpPr txBox="1"/>
          <p:nvPr/>
        </p:nvSpPr>
        <p:spPr>
          <a:xfrm>
            <a:off x="548640" y="2240280"/>
            <a:ext cx="2103120" cy="1097280"/>
          </a:xfrm>
          <a:prstGeom prst="rect">
            <a:avLst/>
          </a:prstGeom>
          <a:noFill/>
          <a:ln/>
        </p:spPr>
        <p:txBody>
          <a:bodyPr wrap="square" lIns="0" tIns="0" rIns="0" bIns="0" rtlCol="0" anchor="t"/>
          <a:lstStyle/>
          <a:p>
            <a:pPr marL="0" indent="0" algn="ctr">
              <a:buNone/>
            </a:pPr>
            <a:r>
              <a:rPr lang="en-US" sz="1200" dirty="0">
                <a:solidFill>
                  <a:schemeClr val="tx1"/>
                </a:solidFill>
              </a:rPr>
              <a:t>Used by parents</a:t>
            </a:r>
            <a:endParaRPr lang="en-US" sz="1200" dirty="0"/>
          </a:p>
          <a:p>
            <a:pPr marL="0" indent="0" algn="ctr">
              <a:buNone/>
            </a:pPr>
            <a:r>
              <a:rPr lang="en-US" sz="1200" dirty="0">
                <a:solidFill>
                  <a:schemeClr val="tx1"/>
                </a:solidFill>
              </a:rPr>
              <a:t>MVVM pattern with Provider</a:t>
            </a:r>
            <a:endParaRPr lang="en-US" sz="1200" dirty="0"/>
          </a:p>
          <a:p>
            <a:pPr marL="0" indent="0" algn="ctr">
              <a:buNone/>
            </a:pPr>
            <a:r>
              <a:rPr lang="en-US" sz="1200" dirty="0">
                <a:solidFill>
                  <a:schemeClr val="tx1"/>
                </a:solidFill>
              </a:rPr>
              <a:t>Supabase client library</a:t>
            </a:r>
            <a:endParaRPr lang="en-US" sz="1200" dirty="0"/>
          </a:p>
        </p:txBody>
      </p:sp>
      <p:sp>
        <p:nvSpPr>
          <p:cNvPr id="8" name="ASP.NET box"/>
          <p:cNvSpPr/>
          <p:nvPr/>
        </p:nvSpPr>
        <p:spPr>
          <a:xfrm>
            <a:off x="6400800" y="1143000"/>
            <a:ext cx="2286000" cy="2286000"/>
          </a:xfrm>
          <a:prstGeom prst="roundRect">
            <a:avLst>
              <a:gd name="adj" fmla="val 3200"/>
            </a:avLst>
          </a:prstGeom>
          <a:solidFill>
            <a:schemeClr val="bg2"/>
          </a:solidFill>
          <a:ln w="12700">
            <a:solidFill>
              <a:schemeClr val="bg2"/>
            </a:solidFill>
            <a:prstDash val="solid"/>
          </a:ln>
        </p:spPr>
        <p:txBody>
          <a:bodyPr/>
          <a:lstStyle/>
          <a:p>
            <a:endParaRPr lang="en-ZA"/>
          </a:p>
        </p:txBody>
      </p:sp>
      <p:sp>
        <p:nvSpPr>
          <p:cNvPr id="9" name="Web icon circle"/>
          <p:cNvSpPr/>
          <p:nvPr/>
        </p:nvSpPr>
        <p:spPr>
          <a:xfrm>
            <a:off x="7269480" y="1280160"/>
            <a:ext cx="548640" cy="548640"/>
          </a:xfrm>
          <a:prstGeom prst="ellipse">
            <a:avLst/>
          </a:prstGeom>
          <a:solidFill>
            <a:schemeClr val="accent1"/>
          </a:solidFill>
          <a:ln w="12700">
            <a:solidFill>
              <a:schemeClr val="accent1"/>
            </a:solidFill>
            <a:prstDash val="solid"/>
          </a:ln>
        </p:spPr>
        <p:txBody>
          <a:bodyPr/>
          <a:lstStyle/>
          <a:p>
            <a:endParaRPr lang="en-ZA"/>
          </a:p>
        </p:txBody>
      </p:sp>
      <p:pic>
        <p:nvPicPr>
          <p:cNvPr id="10" name="Web icon" descr="Web icon"/>
          <p:cNvPicPr>
            <a:picLocks noChangeAspect="1"/>
          </p:cNvPicPr>
          <p:nvPr/>
        </p:nvPicPr>
        <p:blipFill>
          <a:blip r:embed="rId4"/>
          <a:stretch>
            <a:fillRect/>
          </a:stretch>
        </p:blipFill>
        <p:spPr>
          <a:xfrm>
            <a:off x="7412126" y="1422806"/>
            <a:ext cx="263347" cy="263347"/>
          </a:xfrm>
          <a:prstGeom prst="rect">
            <a:avLst/>
          </a:prstGeom>
        </p:spPr>
      </p:pic>
      <p:sp>
        <p:nvSpPr>
          <p:cNvPr id="11" name="ASP label"/>
          <p:cNvSpPr txBox="1"/>
          <p:nvPr/>
        </p:nvSpPr>
        <p:spPr>
          <a:xfrm>
            <a:off x="6492240" y="1874520"/>
            <a:ext cx="2103120" cy="320040"/>
          </a:xfrm>
          <a:prstGeom prst="rect">
            <a:avLst/>
          </a:prstGeom>
          <a:noFill/>
          <a:ln/>
        </p:spPr>
        <p:txBody>
          <a:bodyPr wrap="square" lIns="0" tIns="0" rIns="0" bIns="0" rtlCol="0" anchor="t"/>
          <a:lstStyle/>
          <a:p>
            <a:pPr marL="0" indent="0" algn="ctr">
              <a:buNone/>
            </a:pPr>
            <a:r>
              <a:rPr lang="en-US" sz="1600" b="1" dirty="0">
                <a:solidFill>
                  <a:schemeClr val="tx2"/>
                </a:solidFill>
              </a:rPr>
              <a:t>ASP.NET web app</a:t>
            </a:r>
            <a:endParaRPr lang="en-US" sz="1600" dirty="0"/>
          </a:p>
        </p:txBody>
      </p:sp>
      <p:sp>
        <p:nvSpPr>
          <p:cNvPr id="12" name="ASP detail"/>
          <p:cNvSpPr txBox="1"/>
          <p:nvPr/>
        </p:nvSpPr>
        <p:spPr>
          <a:xfrm>
            <a:off x="6492240" y="2240280"/>
            <a:ext cx="2103120" cy="1097280"/>
          </a:xfrm>
          <a:prstGeom prst="rect">
            <a:avLst/>
          </a:prstGeom>
          <a:noFill/>
          <a:ln/>
        </p:spPr>
        <p:txBody>
          <a:bodyPr wrap="square" lIns="0" tIns="0" rIns="0" bIns="0" rtlCol="0" anchor="t"/>
          <a:lstStyle/>
          <a:p>
            <a:pPr marL="0" indent="0" algn="ctr">
              <a:buNone/>
            </a:pPr>
            <a:r>
              <a:rPr lang="en-US" sz="1200" dirty="0">
                <a:solidFill>
                  <a:schemeClr val="tx1"/>
                </a:solidFill>
              </a:rPr>
              <a:t>Used by admins and parents</a:t>
            </a:r>
            <a:endParaRPr lang="en-US" sz="1200" dirty="0"/>
          </a:p>
          <a:p>
            <a:pPr marL="0" indent="0" algn="ctr">
              <a:buNone/>
            </a:pPr>
            <a:r>
              <a:rPr lang="en-US" sz="1200" dirty="0">
                <a:solidFill>
                  <a:schemeClr val="tx1"/>
                </a:solidFill>
              </a:rPr>
              <a:t>MVC pattern with role-based access</a:t>
            </a:r>
            <a:endParaRPr lang="en-US" sz="1200" dirty="0"/>
          </a:p>
          <a:p>
            <a:pPr marL="0" indent="0" algn="ctr">
              <a:buNone/>
            </a:pPr>
            <a:r>
              <a:rPr lang="en-US" sz="1200" dirty="0">
                <a:solidFill>
                  <a:schemeClr val="tx1"/>
                </a:solidFill>
              </a:rPr>
              <a:t>Supabase REST and Auth</a:t>
            </a:r>
            <a:endParaRPr lang="en-US" sz="1200" dirty="0"/>
          </a:p>
        </p:txBody>
      </p:sp>
      <p:sp>
        <p:nvSpPr>
          <p:cNvPr id="13" name="Supabase box"/>
          <p:cNvSpPr/>
          <p:nvPr/>
        </p:nvSpPr>
        <p:spPr>
          <a:xfrm>
            <a:off x="3200400" y="1005840"/>
            <a:ext cx="2743200" cy="2560320"/>
          </a:xfrm>
          <a:prstGeom prst="roundRect">
            <a:avLst>
              <a:gd name="adj" fmla="val 3571"/>
            </a:avLst>
          </a:prstGeom>
          <a:solidFill>
            <a:schemeClr val="tx2"/>
          </a:solidFill>
          <a:ln w="12700">
            <a:solidFill>
              <a:schemeClr val="tx2"/>
            </a:solidFill>
            <a:prstDash val="solid"/>
          </a:ln>
        </p:spPr>
        <p:txBody>
          <a:bodyPr/>
          <a:lstStyle/>
          <a:p>
            <a:endParaRPr lang="en-ZA"/>
          </a:p>
        </p:txBody>
      </p:sp>
      <p:sp>
        <p:nvSpPr>
          <p:cNvPr id="14" name="Supabase label"/>
          <p:cNvSpPr txBox="1"/>
          <p:nvPr/>
        </p:nvSpPr>
        <p:spPr>
          <a:xfrm>
            <a:off x="3200400" y="1078992"/>
            <a:ext cx="2743200" cy="365760"/>
          </a:xfrm>
          <a:prstGeom prst="rect">
            <a:avLst/>
          </a:prstGeom>
          <a:noFill/>
          <a:ln/>
        </p:spPr>
        <p:txBody>
          <a:bodyPr wrap="square" lIns="0" tIns="0" rIns="0" bIns="0" rtlCol="0" anchor="ctr"/>
          <a:lstStyle/>
          <a:p>
            <a:pPr marL="0" indent="0" algn="ctr">
              <a:buNone/>
            </a:pPr>
            <a:r>
              <a:rPr lang="en-US" sz="1800" b="1" dirty="0">
                <a:solidFill>
                  <a:schemeClr val="bg1"/>
                </a:solidFill>
              </a:rPr>
              <a:t>Supabase</a:t>
            </a:r>
            <a:endParaRPr lang="en-US" sz="1800" dirty="0"/>
          </a:p>
        </p:txBody>
      </p:sp>
      <p:sp>
        <p:nvSpPr>
          <p:cNvPr id="15" name="Supabase part Auth"/>
          <p:cNvSpPr/>
          <p:nvPr/>
        </p:nvSpPr>
        <p:spPr>
          <a:xfrm>
            <a:off x="3383280" y="1508760"/>
            <a:ext cx="2377440" cy="548640"/>
          </a:xfrm>
          <a:prstGeom prst="roundRect">
            <a:avLst>
              <a:gd name="adj" fmla="val 10000"/>
            </a:avLst>
          </a:prstGeom>
          <a:solidFill>
            <a:schemeClr val="accent1"/>
          </a:solidFill>
          <a:ln w="12700">
            <a:solidFill>
              <a:schemeClr val="accent1"/>
            </a:solidFill>
            <a:prstDash val="solid"/>
          </a:ln>
        </p:spPr>
        <p:txBody>
          <a:bodyPr/>
          <a:lstStyle/>
          <a:p>
            <a:endParaRPr lang="en-ZA"/>
          </a:p>
        </p:txBody>
      </p:sp>
      <p:sp>
        <p:nvSpPr>
          <p:cNvPr id="16" name="Supabase part text Auth"/>
          <p:cNvSpPr txBox="1"/>
          <p:nvPr/>
        </p:nvSpPr>
        <p:spPr>
          <a:xfrm>
            <a:off x="3383280" y="1508760"/>
            <a:ext cx="2377440" cy="548640"/>
          </a:xfrm>
          <a:prstGeom prst="rect">
            <a:avLst/>
          </a:prstGeom>
          <a:noFill/>
          <a:ln/>
        </p:spPr>
        <p:txBody>
          <a:bodyPr wrap="square" lIns="0" tIns="0" rIns="0" bIns="0" rtlCol="0" anchor="ctr"/>
          <a:lstStyle/>
          <a:p>
            <a:pPr marL="0" indent="0" algn="ctr">
              <a:buNone/>
            </a:pPr>
            <a:r>
              <a:rPr lang="en-US" sz="1300" b="1" dirty="0">
                <a:solidFill>
                  <a:schemeClr val="bg1"/>
                </a:solidFill>
              </a:rPr>
              <a:t>Auth</a:t>
            </a:r>
            <a:endParaRPr lang="en-US" sz="1300" dirty="0"/>
          </a:p>
          <a:p>
            <a:pPr marL="0" indent="0" algn="ctr">
              <a:buNone/>
            </a:pPr>
            <a:r>
              <a:rPr lang="en-US" sz="1100" dirty="0">
                <a:solidFill>
                  <a:schemeClr val="bg1"/>
                </a:solidFill>
              </a:rPr>
              <a:t>Sign up, sign in, roles</a:t>
            </a:r>
            <a:endParaRPr lang="en-US" sz="1300" dirty="0"/>
          </a:p>
        </p:txBody>
      </p:sp>
      <p:sp>
        <p:nvSpPr>
          <p:cNvPr id="17" name="Supabase part Database"/>
          <p:cNvSpPr/>
          <p:nvPr/>
        </p:nvSpPr>
        <p:spPr>
          <a:xfrm>
            <a:off x="3383280" y="2148840"/>
            <a:ext cx="2377440" cy="548640"/>
          </a:xfrm>
          <a:prstGeom prst="roundRect">
            <a:avLst>
              <a:gd name="adj" fmla="val 10000"/>
            </a:avLst>
          </a:prstGeom>
          <a:solidFill>
            <a:schemeClr val="accent1"/>
          </a:solidFill>
          <a:ln w="12700">
            <a:solidFill>
              <a:schemeClr val="accent1"/>
            </a:solidFill>
            <a:prstDash val="solid"/>
          </a:ln>
        </p:spPr>
        <p:txBody>
          <a:bodyPr/>
          <a:lstStyle/>
          <a:p>
            <a:endParaRPr lang="en-ZA"/>
          </a:p>
        </p:txBody>
      </p:sp>
      <p:sp>
        <p:nvSpPr>
          <p:cNvPr id="18" name="Supabase part text Database"/>
          <p:cNvSpPr txBox="1"/>
          <p:nvPr/>
        </p:nvSpPr>
        <p:spPr>
          <a:xfrm>
            <a:off x="3383280" y="2148840"/>
            <a:ext cx="2377440" cy="548640"/>
          </a:xfrm>
          <a:prstGeom prst="rect">
            <a:avLst/>
          </a:prstGeom>
          <a:noFill/>
          <a:ln/>
        </p:spPr>
        <p:txBody>
          <a:bodyPr wrap="square" lIns="0" tIns="0" rIns="0" bIns="0" rtlCol="0" anchor="ctr"/>
          <a:lstStyle/>
          <a:p>
            <a:pPr marL="0" indent="0" algn="ctr">
              <a:buNone/>
            </a:pPr>
            <a:r>
              <a:rPr lang="en-US" sz="1300" b="1" dirty="0">
                <a:solidFill>
                  <a:schemeClr val="bg1"/>
                </a:solidFill>
              </a:rPr>
              <a:t>Database</a:t>
            </a:r>
            <a:endParaRPr lang="en-US" sz="1300" dirty="0"/>
          </a:p>
          <a:p>
            <a:pPr marL="0" indent="0" algn="ctr">
              <a:buNone/>
            </a:pPr>
            <a:r>
              <a:rPr lang="en-US" sz="1100" dirty="0">
                <a:solidFill>
                  <a:schemeClr val="bg1"/>
                </a:solidFill>
              </a:rPr>
              <a:t>8 shared tables</a:t>
            </a:r>
            <a:endParaRPr lang="en-US" sz="1300" dirty="0"/>
          </a:p>
        </p:txBody>
      </p:sp>
      <p:sp>
        <p:nvSpPr>
          <p:cNvPr id="19" name="Supabase part Storage"/>
          <p:cNvSpPr/>
          <p:nvPr/>
        </p:nvSpPr>
        <p:spPr>
          <a:xfrm>
            <a:off x="3383280" y="2788920"/>
            <a:ext cx="2377440" cy="548640"/>
          </a:xfrm>
          <a:prstGeom prst="roundRect">
            <a:avLst>
              <a:gd name="adj" fmla="val 10000"/>
            </a:avLst>
          </a:prstGeom>
          <a:solidFill>
            <a:schemeClr val="accent1"/>
          </a:solidFill>
          <a:ln w="12700">
            <a:solidFill>
              <a:schemeClr val="accent1"/>
            </a:solidFill>
            <a:prstDash val="solid"/>
          </a:ln>
        </p:spPr>
        <p:txBody>
          <a:bodyPr/>
          <a:lstStyle/>
          <a:p>
            <a:endParaRPr lang="en-ZA"/>
          </a:p>
        </p:txBody>
      </p:sp>
      <p:sp>
        <p:nvSpPr>
          <p:cNvPr id="20" name="Supabase part text Storage"/>
          <p:cNvSpPr txBox="1"/>
          <p:nvPr/>
        </p:nvSpPr>
        <p:spPr>
          <a:xfrm>
            <a:off x="3383280" y="2788920"/>
            <a:ext cx="2377440" cy="548640"/>
          </a:xfrm>
          <a:prstGeom prst="rect">
            <a:avLst/>
          </a:prstGeom>
          <a:noFill/>
          <a:ln/>
        </p:spPr>
        <p:txBody>
          <a:bodyPr wrap="square" lIns="0" tIns="0" rIns="0" bIns="0" rtlCol="0" anchor="ctr"/>
          <a:lstStyle/>
          <a:p>
            <a:pPr marL="0" indent="0" algn="ctr">
              <a:buNone/>
            </a:pPr>
            <a:r>
              <a:rPr lang="en-US" sz="1300" b="1" dirty="0">
                <a:solidFill>
                  <a:schemeClr val="bg1"/>
                </a:solidFill>
              </a:rPr>
              <a:t>Storage</a:t>
            </a:r>
            <a:endParaRPr lang="en-US" sz="1300" dirty="0"/>
          </a:p>
          <a:p>
            <a:pPr marL="0" indent="0" algn="ctr">
              <a:buNone/>
            </a:pPr>
            <a:r>
              <a:rPr lang="en-US" sz="1100" dirty="0">
                <a:solidFill>
                  <a:schemeClr val="bg1"/>
                </a:solidFill>
              </a:rPr>
              <a:t>Documents and images</a:t>
            </a:r>
            <a:endParaRPr lang="en-US" sz="1300" dirty="0"/>
          </a:p>
        </p:txBody>
      </p:sp>
      <p:sp>
        <p:nvSpPr>
          <p:cNvPr id="21" name="Arrow left"/>
          <p:cNvSpPr/>
          <p:nvPr/>
        </p:nvSpPr>
        <p:spPr>
          <a:xfrm>
            <a:off x="2743200" y="2286000"/>
            <a:ext cx="457200" cy="0"/>
          </a:xfrm>
          <a:prstGeom prst="line">
            <a:avLst/>
          </a:prstGeom>
          <a:noFill/>
          <a:ln w="31750">
            <a:solidFill>
              <a:schemeClr val="accent1"/>
            </a:solidFill>
            <a:prstDash val="solid"/>
            <a:headEnd type="triangle"/>
            <a:tailEnd type="triangle"/>
          </a:ln>
        </p:spPr>
        <p:txBody>
          <a:bodyPr/>
          <a:lstStyle/>
          <a:p>
            <a:endParaRPr lang="en-ZA"/>
          </a:p>
        </p:txBody>
      </p:sp>
      <p:sp>
        <p:nvSpPr>
          <p:cNvPr id="22" name="Arrow right"/>
          <p:cNvSpPr/>
          <p:nvPr/>
        </p:nvSpPr>
        <p:spPr>
          <a:xfrm>
            <a:off x="5943600" y="2286000"/>
            <a:ext cx="457200" cy="0"/>
          </a:xfrm>
          <a:prstGeom prst="line">
            <a:avLst/>
          </a:prstGeom>
          <a:noFill/>
          <a:ln w="31750">
            <a:solidFill>
              <a:schemeClr val="accent1"/>
            </a:solidFill>
            <a:prstDash val="solid"/>
            <a:headEnd type="triangle"/>
            <a:tailEnd type="triangle"/>
          </a:ln>
        </p:spPr>
        <p:txBody>
          <a:bodyPr/>
          <a:lstStyle/>
          <a:p>
            <a:endParaRPr lang="en-ZA"/>
          </a:p>
        </p:txBody>
      </p:sp>
      <p:sp>
        <p:nvSpPr>
          <p:cNvPr id="23" name="Rule card 1"/>
          <p:cNvSpPr/>
          <p:nvPr/>
        </p:nvSpPr>
        <p:spPr>
          <a:xfrm>
            <a:off x="457200" y="3794760"/>
            <a:ext cx="2651760" cy="777240"/>
          </a:xfrm>
          <a:prstGeom prst="roundRect">
            <a:avLst>
              <a:gd name="adj" fmla="val 9412"/>
            </a:avLst>
          </a:prstGeom>
          <a:solidFill>
            <a:schemeClr val="bg2"/>
          </a:solidFill>
          <a:ln w="12700">
            <a:solidFill>
              <a:schemeClr val="bg2"/>
            </a:solidFill>
            <a:prstDash val="solid"/>
          </a:ln>
        </p:spPr>
        <p:txBody>
          <a:bodyPr/>
          <a:lstStyle/>
          <a:p>
            <a:endParaRPr lang="en-ZA"/>
          </a:p>
        </p:txBody>
      </p:sp>
      <p:sp>
        <p:nvSpPr>
          <p:cNvPr id="24" name="Rule id 1"/>
          <p:cNvSpPr txBox="1"/>
          <p:nvPr/>
        </p:nvSpPr>
        <p:spPr>
          <a:xfrm>
            <a:off x="594360" y="3840480"/>
            <a:ext cx="640080" cy="685800"/>
          </a:xfrm>
          <a:prstGeom prst="rect">
            <a:avLst/>
          </a:prstGeom>
          <a:noFill/>
          <a:ln/>
        </p:spPr>
        <p:txBody>
          <a:bodyPr wrap="square" lIns="0" tIns="0" rIns="0" bIns="0" rtlCol="0" anchor="ctr"/>
          <a:lstStyle/>
          <a:p>
            <a:pPr marL="0" indent="0">
              <a:buNone/>
            </a:pPr>
            <a:r>
              <a:rPr lang="en-US" sz="1600" b="1" dirty="0">
                <a:solidFill>
                  <a:schemeClr val="accent1"/>
                </a:solidFill>
              </a:rPr>
              <a:t>IR1</a:t>
            </a:r>
            <a:endParaRPr lang="en-US" sz="1600" dirty="0"/>
          </a:p>
        </p:txBody>
      </p:sp>
      <p:sp>
        <p:nvSpPr>
          <p:cNvPr id="25" name="Rule text 1"/>
          <p:cNvSpPr txBox="1"/>
          <p:nvPr/>
        </p:nvSpPr>
        <p:spPr>
          <a:xfrm>
            <a:off x="1234440" y="3840480"/>
            <a:ext cx="1783080" cy="685800"/>
          </a:xfrm>
          <a:prstGeom prst="rect">
            <a:avLst/>
          </a:prstGeom>
          <a:noFill/>
          <a:ln/>
        </p:spPr>
        <p:txBody>
          <a:bodyPr wrap="square" lIns="0" tIns="0" rIns="0" bIns="0" rtlCol="0" anchor="ctr"/>
          <a:lstStyle/>
          <a:p>
            <a:pPr marL="0" indent="0">
              <a:buNone/>
            </a:pPr>
            <a:r>
              <a:rPr lang="en-US" sz="1200" dirty="0">
                <a:solidFill>
                  <a:schemeClr val="tx1"/>
                </a:solidFill>
              </a:rPr>
              <a:t>The apps never talk to each other directly</a:t>
            </a:r>
            <a:endParaRPr lang="en-US" sz="1200" dirty="0"/>
          </a:p>
        </p:txBody>
      </p:sp>
      <p:sp>
        <p:nvSpPr>
          <p:cNvPr id="26" name="Rule card 2"/>
          <p:cNvSpPr/>
          <p:nvPr/>
        </p:nvSpPr>
        <p:spPr>
          <a:xfrm>
            <a:off x="3246120" y="3794760"/>
            <a:ext cx="2651760" cy="777240"/>
          </a:xfrm>
          <a:prstGeom prst="roundRect">
            <a:avLst>
              <a:gd name="adj" fmla="val 9412"/>
            </a:avLst>
          </a:prstGeom>
          <a:solidFill>
            <a:schemeClr val="bg2"/>
          </a:solidFill>
          <a:ln w="12700">
            <a:solidFill>
              <a:schemeClr val="bg2"/>
            </a:solidFill>
            <a:prstDash val="solid"/>
          </a:ln>
        </p:spPr>
        <p:txBody>
          <a:bodyPr/>
          <a:lstStyle/>
          <a:p>
            <a:endParaRPr lang="en-ZA"/>
          </a:p>
        </p:txBody>
      </p:sp>
      <p:sp>
        <p:nvSpPr>
          <p:cNvPr id="27" name="Rule id 2"/>
          <p:cNvSpPr txBox="1"/>
          <p:nvPr/>
        </p:nvSpPr>
        <p:spPr>
          <a:xfrm>
            <a:off x="3383280" y="3840480"/>
            <a:ext cx="640080" cy="685800"/>
          </a:xfrm>
          <a:prstGeom prst="rect">
            <a:avLst/>
          </a:prstGeom>
          <a:noFill/>
          <a:ln/>
        </p:spPr>
        <p:txBody>
          <a:bodyPr wrap="square" lIns="0" tIns="0" rIns="0" bIns="0" rtlCol="0" anchor="ctr"/>
          <a:lstStyle/>
          <a:p>
            <a:pPr marL="0" indent="0">
              <a:buNone/>
            </a:pPr>
            <a:r>
              <a:rPr lang="en-US" sz="1600" b="1" dirty="0">
                <a:solidFill>
                  <a:schemeClr val="accent1"/>
                </a:solidFill>
              </a:rPr>
              <a:t>IR4</a:t>
            </a:r>
            <a:endParaRPr lang="en-US" sz="1600" dirty="0"/>
          </a:p>
        </p:txBody>
      </p:sp>
      <p:sp>
        <p:nvSpPr>
          <p:cNvPr id="28" name="Rule text 2"/>
          <p:cNvSpPr txBox="1"/>
          <p:nvPr/>
        </p:nvSpPr>
        <p:spPr>
          <a:xfrm>
            <a:off x="4023360" y="3840480"/>
            <a:ext cx="1783080" cy="685800"/>
          </a:xfrm>
          <a:prstGeom prst="rect">
            <a:avLst/>
          </a:prstGeom>
          <a:noFill/>
          <a:ln/>
        </p:spPr>
        <p:txBody>
          <a:bodyPr wrap="square" lIns="0" tIns="0" rIns="0" bIns="0" rtlCol="0" anchor="ctr"/>
          <a:lstStyle/>
          <a:p>
            <a:pPr marL="0" indent="0">
              <a:buNone/>
            </a:pPr>
            <a:r>
              <a:rPr lang="en-US" sz="1200" dirty="0">
                <a:solidFill>
                  <a:schemeClr val="tx1"/>
                </a:solidFill>
              </a:rPr>
              <a:t>Both use the same Supabase Auth</a:t>
            </a:r>
            <a:endParaRPr lang="en-US" sz="1200" dirty="0"/>
          </a:p>
        </p:txBody>
      </p:sp>
      <p:sp>
        <p:nvSpPr>
          <p:cNvPr id="29" name="Rule card 3"/>
          <p:cNvSpPr/>
          <p:nvPr/>
        </p:nvSpPr>
        <p:spPr>
          <a:xfrm>
            <a:off x="6035040" y="3794760"/>
            <a:ext cx="2651760" cy="777240"/>
          </a:xfrm>
          <a:prstGeom prst="roundRect">
            <a:avLst>
              <a:gd name="adj" fmla="val 9412"/>
            </a:avLst>
          </a:prstGeom>
          <a:solidFill>
            <a:schemeClr val="bg2"/>
          </a:solidFill>
          <a:ln w="12700">
            <a:solidFill>
              <a:schemeClr val="bg2"/>
            </a:solidFill>
            <a:prstDash val="solid"/>
          </a:ln>
        </p:spPr>
        <p:txBody>
          <a:bodyPr/>
          <a:lstStyle/>
          <a:p>
            <a:endParaRPr lang="en-ZA"/>
          </a:p>
        </p:txBody>
      </p:sp>
      <p:sp>
        <p:nvSpPr>
          <p:cNvPr id="30" name="Rule id 3"/>
          <p:cNvSpPr txBox="1"/>
          <p:nvPr/>
        </p:nvSpPr>
        <p:spPr>
          <a:xfrm>
            <a:off x="6172200" y="3840480"/>
            <a:ext cx="640080" cy="685800"/>
          </a:xfrm>
          <a:prstGeom prst="rect">
            <a:avLst/>
          </a:prstGeom>
          <a:noFill/>
          <a:ln/>
        </p:spPr>
        <p:txBody>
          <a:bodyPr wrap="square" lIns="0" tIns="0" rIns="0" bIns="0" rtlCol="0" anchor="ctr"/>
          <a:lstStyle/>
          <a:p>
            <a:pPr marL="0" indent="0">
              <a:buNone/>
            </a:pPr>
            <a:r>
              <a:rPr lang="en-US" sz="1600" b="1" dirty="0">
                <a:solidFill>
                  <a:schemeClr val="accent1"/>
                </a:solidFill>
              </a:rPr>
              <a:t>SR3</a:t>
            </a:r>
            <a:endParaRPr lang="en-US" sz="1600" dirty="0"/>
          </a:p>
        </p:txBody>
      </p:sp>
      <p:sp>
        <p:nvSpPr>
          <p:cNvPr id="31" name="Rule text 3"/>
          <p:cNvSpPr txBox="1"/>
          <p:nvPr/>
        </p:nvSpPr>
        <p:spPr>
          <a:xfrm>
            <a:off x="6812280" y="3840480"/>
            <a:ext cx="1783080" cy="685800"/>
          </a:xfrm>
          <a:prstGeom prst="rect">
            <a:avLst/>
          </a:prstGeom>
          <a:noFill/>
          <a:ln/>
        </p:spPr>
        <p:txBody>
          <a:bodyPr wrap="square" lIns="0" tIns="0" rIns="0" bIns="0" rtlCol="0" anchor="ctr"/>
          <a:lstStyle/>
          <a:p>
            <a:pPr marL="0" indent="0">
              <a:buNone/>
            </a:pPr>
            <a:r>
              <a:rPr lang="en-US" sz="1200" dirty="0">
                <a:solidFill>
                  <a:schemeClr val="tx1"/>
                </a:solidFill>
              </a:rPr>
              <a:t>One shared backend for all data</a:t>
            </a:r>
            <a:endParaRPr lang="en-US" sz="1200" dirty="0"/>
          </a:p>
        </p:txBody>
      </p:sp>
      <p:sp>
        <p:nvSpPr>
          <p:cNvPr id="32"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Users, roles and permissions</a:t>
            </a:r>
            <a:endParaRPr lang="en-US" sz="2800" dirty="0"/>
          </a:p>
        </p:txBody>
      </p:sp>
      <p:sp>
        <p:nvSpPr>
          <p:cNvPr id="3" name="Role card 1"/>
          <p:cNvSpPr/>
          <p:nvPr/>
        </p:nvSpPr>
        <p:spPr>
          <a:xfrm>
            <a:off x="457200" y="1097280"/>
            <a:ext cx="2651760" cy="3474720"/>
          </a:xfrm>
          <a:prstGeom prst="roundRect">
            <a:avLst>
              <a:gd name="adj" fmla="val 2759"/>
            </a:avLst>
          </a:prstGeom>
          <a:solidFill>
            <a:schemeClr val="bg2"/>
          </a:solidFill>
          <a:ln w="12700">
            <a:solidFill>
              <a:schemeClr val="bg2"/>
            </a:solidFill>
            <a:prstDash val="solid"/>
          </a:ln>
        </p:spPr>
        <p:txBody>
          <a:bodyPr/>
          <a:lstStyle/>
          <a:p>
            <a:endParaRPr lang="en-ZA"/>
          </a:p>
        </p:txBody>
      </p:sp>
      <p:sp>
        <p:nvSpPr>
          <p:cNvPr id="4" name="Role icon 1 circle"/>
          <p:cNvSpPr/>
          <p:nvPr/>
        </p:nvSpPr>
        <p:spPr>
          <a:xfrm>
            <a:off x="594360" y="1207008"/>
            <a:ext cx="502920" cy="502920"/>
          </a:xfrm>
          <a:prstGeom prst="ellipse">
            <a:avLst/>
          </a:prstGeom>
          <a:solidFill>
            <a:schemeClr val="accent1"/>
          </a:solidFill>
          <a:ln w="12700">
            <a:solidFill>
              <a:schemeClr val="accent1"/>
            </a:solidFill>
            <a:prstDash val="solid"/>
          </a:ln>
        </p:spPr>
        <p:txBody>
          <a:bodyPr/>
          <a:lstStyle/>
          <a:p>
            <a:endParaRPr lang="en-ZA"/>
          </a:p>
        </p:txBody>
      </p:sp>
      <p:pic>
        <p:nvPicPr>
          <p:cNvPr id="5" name="Role icon 1" descr="Role icon 1"/>
          <p:cNvPicPr>
            <a:picLocks noChangeAspect="1"/>
          </p:cNvPicPr>
          <p:nvPr/>
        </p:nvPicPr>
        <p:blipFill>
          <a:blip r:embed="rId3"/>
          <a:stretch>
            <a:fillRect/>
          </a:stretch>
        </p:blipFill>
        <p:spPr>
          <a:xfrm>
            <a:off x="725119" y="1337767"/>
            <a:ext cx="241402" cy="241402"/>
          </a:xfrm>
          <a:prstGeom prst="rect">
            <a:avLst/>
          </a:prstGeom>
        </p:spPr>
      </p:pic>
      <p:sp>
        <p:nvSpPr>
          <p:cNvPr id="6" name="Role name 1"/>
          <p:cNvSpPr txBox="1"/>
          <p:nvPr/>
        </p:nvSpPr>
        <p:spPr>
          <a:xfrm>
            <a:off x="1188720" y="1207008"/>
            <a:ext cx="1828800" cy="274320"/>
          </a:xfrm>
          <a:prstGeom prst="rect">
            <a:avLst/>
          </a:prstGeom>
          <a:noFill/>
          <a:ln/>
        </p:spPr>
        <p:txBody>
          <a:bodyPr wrap="square" lIns="0" tIns="0" rIns="0" bIns="0" rtlCol="0" anchor="t"/>
          <a:lstStyle/>
          <a:p>
            <a:pPr marL="0" indent="0">
              <a:buNone/>
            </a:pPr>
            <a:r>
              <a:rPr lang="en-US" sz="1700" b="1" dirty="0">
                <a:solidFill>
                  <a:schemeClr val="tx2"/>
                </a:solidFill>
              </a:rPr>
              <a:t>Parent</a:t>
            </a:r>
            <a:endParaRPr lang="en-US" sz="1700" dirty="0"/>
          </a:p>
        </p:txBody>
      </p:sp>
      <p:sp>
        <p:nvSpPr>
          <p:cNvPr id="7" name="Role app 1"/>
          <p:cNvSpPr txBox="1"/>
          <p:nvPr/>
        </p:nvSpPr>
        <p:spPr>
          <a:xfrm>
            <a:off x="1188720" y="1499616"/>
            <a:ext cx="1828800" cy="228600"/>
          </a:xfrm>
          <a:prstGeom prst="rect">
            <a:avLst/>
          </a:prstGeom>
          <a:noFill/>
          <a:ln/>
        </p:spPr>
        <p:txBody>
          <a:bodyPr wrap="square" lIns="0" tIns="0" rIns="0" bIns="0" rtlCol="0" anchor="t"/>
          <a:lstStyle/>
          <a:p>
            <a:pPr marL="0" indent="0">
              <a:buNone/>
            </a:pPr>
            <a:r>
              <a:rPr lang="en-US" sz="1100" b="1" dirty="0">
                <a:solidFill>
                  <a:schemeClr val="accent1"/>
                </a:solidFill>
              </a:rPr>
              <a:t>Flutter and web</a:t>
            </a:r>
            <a:endParaRPr lang="en-US" sz="1100" dirty="0"/>
          </a:p>
        </p:txBody>
      </p:sp>
      <p:sp>
        <p:nvSpPr>
          <p:cNvPr id="8" name="Role list 1"/>
          <p:cNvSpPr txBox="1"/>
          <p:nvPr/>
        </p:nvSpPr>
        <p:spPr>
          <a:xfrm>
            <a:off x="594360" y="1874520"/>
            <a:ext cx="2377440" cy="26517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Create an account and log in</a:t>
            </a:r>
            <a:endParaRPr lang="en-US" sz="1200" dirty="0"/>
          </a:p>
          <a:p>
            <a:pPr marL="342900" indent="-342900">
              <a:spcAft>
                <a:spcPts val="400"/>
              </a:spcAft>
              <a:buSzPct val="100000"/>
              <a:buChar char="•"/>
            </a:pPr>
            <a:r>
              <a:rPr lang="en-US" sz="1200" dirty="0">
                <a:solidFill>
                  <a:schemeClr val="tx1"/>
                </a:solidFill>
              </a:rPr>
              <a:t>Apply for a child through a multi-step form</a:t>
            </a:r>
            <a:endParaRPr lang="en-US" sz="1200" dirty="0"/>
          </a:p>
          <a:p>
            <a:pPr marL="342900" indent="-342900">
              <a:spcAft>
                <a:spcPts val="400"/>
              </a:spcAft>
              <a:buSzPct val="100000"/>
              <a:buChar char="•"/>
            </a:pPr>
            <a:r>
              <a:rPr lang="en-US" sz="1200" dirty="0">
                <a:solidFill>
                  <a:schemeClr val="tx1"/>
                </a:solidFill>
              </a:rPr>
              <a:t>Upload supporting documents</a:t>
            </a:r>
            <a:endParaRPr lang="en-US" sz="1200" dirty="0"/>
          </a:p>
          <a:p>
            <a:pPr marL="342900" indent="-342900">
              <a:spcAft>
                <a:spcPts val="400"/>
              </a:spcAft>
              <a:buSzPct val="100000"/>
              <a:buChar char="•"/>
            </a:pPr>
            <a:r>
              <a:rPr lang="en-US" sz="1200" dirty="0">
                <a:solidFill>
                  <a:schemeClr val="tx1"/>
                </a:solidFill>
              </a:rPr>
              <a:t>Track status and read admin comments</a:t>
            </a:r>
            <a:endParaRPr lang="en-US" sz="1200" dirty="0"/>
          </a:p>
          <a:p>
            <a:pPr marL="342900" indent="-342900">
              <a:spcAft>
                <a:spcPts val="400"/>
              </a:spcAft>
              <a:buSzPct val="100000"/>
              <a:buChar char="•"/>
            </a:pPr>
            <a:r>
              <a:rPr lang="en-US" sz="1200" dirty="0">
                <a:solidFill>
                  <a:schemeClr val="tx1"/>
                </a:solidFill>
              </a:rPr>
              <a:t>View school updates and achievements</a:t>
            </a:r>
            <a:endParaRPr lang="en-US" sz="1200" dirty="0"/>
          </a:p>
          <a:p>
            <a:pPr marL="342900" indent="-342900">
              <a:spcAft>
                <a:spcPts val="400"/>
              </a:spcAft>
              <a:buSzPct val="100000"/>
              <a:buChar char="•"/>
            </a:pPr>
            <a:r>
              <a:rPr lang="en-US" sz="1200" dirty="0">
                <a:solidFill>
                  <a:schemeClr val="tx1"/>
                </a:solidFill>
              </a:rPr>
              <a:t>Edit their own profile</a:t>
            </a:r>
            <a:endParaRPr lang="en-US" sz="1200" dirty="0"/>
          </a:p>
        </p:txBody>
      </p:sp>
      <p:sp>
        <p:nvSpPr>
          <p:cNvPr id="9" name="Role card 2"/>
          <p:cNvSpPr/>
          <p:nvPr/>
        </p:nvSpPr>
        <p:spPr>
          <a:xfrm>
            <a:off x="3246120" y="1097280"/>
            <a:ext cx="2651760" cy="3474720"/>
          </a:xfrm>
          <a:prstGeom prst="roundRect">
            <a:avLst>
              <a:gd name="adj" fmla="val 2759"/>
            </a:avLst>
          </a:prstGeom>
          <a:solidFill>
            <a:schemeClr val="bg2"/>
          </a:solidFill>
          <a:ln w="12700">
            <a:solidFill>
              <a:schemeClr val="bg2"/>
            </a:solidFill>
            <a:prstDash val="solid"/>
          </a:ln>
        </p:spPr>
        <p:txBody>
          <a:bodyPr/>
          <a:lstStyle/>
          <a:p>
            <a:endParaRPr lang="en-ZA"/>
          </a:p>
        </p:txBody>
      </p:sp>
      <p:sp>
        <p:nvSpPr>
          <p:cNvPr id="10" name="Role icon 2 circle"/>
          <p:cNvSpPr/>
          <p:nvPr/>
        </p:nvSpPr>
        <p:spPr>
          <a:xfrm>
            <a:off x="3383280" y="1207008"/>
            <a:ext cx="502920" cy="502920"/>
          </a:xfrm>
          <a:prstGeom prst="ellipse">
            <a:avLst/>
          </a:prstGeom>
          <a:solidFill>
            <a:schemeClr val="accent1"/>
          </a:solidFill>
          <a:ln w="12700">
            <a:solidFill>
              <a:schemeClr val="accent1"/>
            </a:solidFill>
            <a:prstDash val="solid"/>
          </a:ln>
        </p:spPr>
        <p:txBody>
          <a:bodyPr/>
          <a:lstStyle/>
          <a:p>
            <a:endParaRPr lang="en-ZA"/>
          </a:p>
        </p:txBody>
      </p:sp>
      <p:pic>
        <p:nvPicPr>
          <p:cNvPr id="11" name="Role icon 2" descr="Role icon 2"/>
          <p:cNvPicPr>
            <a:picLocks noChangeAspect="1"/>
          </p:cNvPicPr>
          <p:nvPr/>
        </p:nvPicPr>
        <p:blipFill>
          <a:blip r:embed="rId4"/>
          <a:stretch>
            <a:fillRect/>
          </a:stretch>
        </p:blipFill>
        <p:spPr>
          <a:xfrm>
            <a:off x="3514039" y="1337767"/>
            <a:ext cx="241402" cy="241402"/>
          </a:xfrm>
          <a:prstGeom prst="rect">
            <a:avLst/>
          </a:prstGeom>
        </p:spPr>
      </p:pic>
      <p:sp>
        <p:nvSpPr>
          <p:cNvPr id="12" name="Role name 2"/>
          <p:cNvSpPr txBox="1"/>
          <p:nvPr/>
        </p:nvSpPr>
        <p:spPr>
          <a:xfrm>
            <a:off x="3977640" y="1207008"/>
            <a:ext cx="1828800" cy="274320"/>
          </a:xfrm>
          <a:prstGeom prst="rect">
            <a:avLst/>
          </a:prstGeom>
          <a:noFill/>
          <a:ln/>
        </p:spPr>
        <p:txBody>
          <a:bodyPr wrap="square" lIns="0" tIns="0" rIns="0" bIns="0" rtlCol="0" anchor="t"/>
          <a:lstStyle/>
          <a:p>
            <a:pPr marL="0" indent="0">
              <a:buNone/>
            </a:pPr>
            <a:r>
              <a:rPr lang="en-US" sz="1700" b="1" dirty="0">
                <a:solidFill>
                  <a:schemeClr val="tx2"/>
                </a:solidFill>
              </a:rPr>
              <a:t>Admin</a:t>
            </a:r>
            <a:endParaRPr lang="en-US" sz="1700" dirty="0"/>
          </a:p>
        </p:txBody>
      </p:sp>
      <p:sp>
        <p:nvSpPr>
          <p:cNvPr id="13" name="Role app 2"/>
          <p:cNvSpPr txBox="1"/>
          <p:nvPr/>
        </p:nvSpPr>
        <p:spPr>
          <a:xfrm>
            <a:off x="3977640" y="1499616"/>
            <a:ext cx="1828800" cy="228600"/>
          </a:xfrm>
          <a:prstGeom prst="rect">
            <a:avLst/>
          </a:prstGeom>
          <a:noFill/>
          <a:ln/>
        </p:spPr>
        <p:txBody>
          <a:bodyPr wrap="square" lIns="0" tIns="0" rIns="0" bIns="0" rtlCol="0" anchor="t"/>
          <a:lstStyle/>
          <a:p>
            <a:pPr marL="0" indent="0">
              <a:buNone/>
            </a:pPr>
            <a:r>
              <a:rPr lang="en-US" sz="1100" b="1" dirty="0">
                <a:solidFill>
                  <a:schemeClr val="accent1"/>
                </a:solidFill>
              </a:rPr>
              <a:t>ASP.NET web</a:t>
            </a:r>
            <a:endParaRPr lang="en-US" sz="1100" dirty="0"/>
          </a:p>
        </p:txBody>
      </p:sp>
      <p:sp>
        <p:nvSpPr>
          <p:cNvPr id="14" name="Role list 2"/>
          <p:cNvSpPr txBox="1"/>
          <p:nvPr/>
        </p:nvSpPr>
        <p:spPr>
          <a:xfrm>
            <a:off x="3383280" y="1874520"/>
            <a:ext cx="2377440" cy="26517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Log in to the admin area</a:t>
            </a:r>
            <a:endParaRPr lang="en-US" sz="1200" dirty="0"/>
          </a:p>
          <a:p>
            <a:pPr marL="342900" indent="-342900">
              <a:spcAft>
                <a:spcPts val="400"/>
              </a:spcAft>
              <a:buSzPct val="100000"/>
              <a:buChar char="•"/>
            </a:pPr>
            <a:r>
              <a:rPr lang="en-US" sz="1200" dirty="0">
                <a:solidFill>
                  <a:schemeClr val="tx1"/>
                </a:solidFill>
              </a:rPr>
              <a:t>See all applications with search and filter</a:t>
            </a:r>
            <a:endParaRPr lang="en-US" sz="1200" dirty="0"/>
          </a:p>
          <a:p>
            <a:pPr marL="342900" indent="-342900">
              <a:spcAft>
                <a:spcPts val="400"/>
              </a:spcAft>
              <a:buSzPct val="100000"/>
              <a:buChar char="•"/>
            </a:pPr>
            <a:r>
              <a:rPr lang="en-US" sz="1200" dirty="0">
                <a:solidFill>
                  <a:schemeClr val="tx1"/>
                </a:solidFill>
              </a:rPr>
              <a:t>Review details and documents</a:t>
            </a:r>
            <a:endParaRPr lang="en-US" sz="1200" dirty="0"/>
          </a:p>
          <a:p>
            <a:pPr marL="342900" indent="-342900">
              <a:spcAft>
                <a:spcPts val="400"/>
              </a:spcAft>
              <a:buSzPct val="100000"/>
              <a:buChar char="•"/>
            </a:pPr>
            <a:r>
              <a:rPr lang="en-US" sz="1200" dirty="0">
                <a:solidFill>
                  <a:schemeClr val="tx1"/>
                </a:solidFill>
              </a:rPr>
              <a:t>Set status and add comments</a:t>
            </a:r>
            <a:endParaRPr lang="en-US" sz="1200" dirty="0"/>
          </a:p>
          <a:p>
            <a:pPr marL="342900" indent="-342900">
              <a:spcAft>
                <a:spcPts val="400"/>
              </a:spcAft>
              <a:buSzPct val="100000"/>
              <a:buChar char="•"/>
            </a:pPr>
            <a:r>
              <a:rPr lang="en-US" sz="1200" dirty="0">
                <a:solidFill>
                  <a:schemeClr val="tx1"/>
                </a:solidFill>
              </a:rPr>
              <a:t>Publish updates and achievements</a:t>
            </a:r>
            <a:endParaRPr lang="en-US" sz="1200" dirty="0"/>
          </a:p>
          <a:p>
            <a:pPr marL="342900" indent="-342900">
              <a:spcAft>
                <a:spcPts val="400"/>
              </a:spcAft>
              <a:buSzPct val="100000"/>
              <a:buChar char="•"/>
            </a:pPr>
            <a:r>
              <a:rPr lang="en-US" sz="1200" dirty="0">
                <a:solidFill>
                  <a:schemeClr val="tx1"/>
                </a:solidFill>
              </a:rPr>
              <a:t>Manage published content</a:t>
            </a:r>
            <a:endParaRPr lang="en-US" sz="1200" dirty="0"/>
          </a:p>
        </p:txBody>
      </p:sp>
      <p:sp>
        <p:nvSpPr>
          <p:cNvPr id="15" name="Role card 3"/>
          <p:cNvSpPr/>
          <p:nvPr/>
        </p:nvSpPr>
        <p:spPr>
          <a:xfrm>
            <a:off x="6035040" y="1097280"/>
            <a:ext cx="2651760" cy="3474720"/>
          </a:xfrm>
          <a:prstGeom prst="roundRect">
            <a:avLst>
              <a:gd name="adj" fmla="val 2759"/>
            </a:avLst>
          </a:prstGeom>
          <a:solidFill>
            <a:schemeClr val="bg2"/>
          </a:solidFill>
          <a:ln w="12700">
            <a:solidFill>
              <a:schemeClr val="bg2"/>
            </a:solidFill>
            <a:prstDash val="solid"/>
          </a:ln>
        </p:spPr>
        <p:txBody>
          <a:bodyPr/>
          <a:lstStyle/>
          <a:p>
            <a:endParaRPr lang="en-ZA"/>
          </a:p>
        </p:txBody>
      </p:sp>
      <p:sp>
        <p:nvSpPr>
          <p:cNvPr id="16" name="Role icon 3 circle"/>
          <p:cNvSpPr/>
          <p:nvPr/>
        </p:nvSpPr>
        <p:spPr>
          <a:xfrm>
            <a:off x="6172200" y="1207008"/>
            <a:ext cx="502920" cy="502920"/>
          </a:xfrm>
          <a:prstGeom prst="ellipse">
            <a:avLst/>
          </a:prstGeom>
          <a:solidFill>
            <a:schemeClr val="accent1"/>
          </a:solidFill>
          <a:ln w="12700">
            <a:solidFill>
              <a:schemeClr val="accent1"/>
            </a:solidFill>
            <a:prstDash val="solid"/>
          </a:ln>
        </p:spPr>
        <p:txBody>
          <a:bodyPr/>
          <a:lstStyle/>
          <a:p>
            <a:endParaRPr lang="en-ZA"/>
          </a:p>
        </p:txBody>
      </p:sp>
      <p:pic>
        <p:nvPicPr>
          <p:cNvPr id="17" name="Role icon 3" descr="Role icon 3"/>
          <p:cNvPicPr>
            <a:picLocks noChangeAspect="1"/>
          </p:cNvPicPr>
          <p:nvPr/>
        </p:nvPicPr>
        <p:blipFill>
          <a:blip r:embed="rId5"/>
          <a:stretch>
            <a:fillRect/>
          </a:stretch>
        </p:blipFill>
        <p:spPr>
          <a:xfrm>
            <a:off x="6302959" y="1337767"/>
            <a:ext cx="241402" cy="241402"/>
          </a:xfrm>
          <a:prstGeom prst="rect">
            <a:avLst/>
          </a:prstGeom>
        </p:spPr>
      </p:pic>
      <p:sp>
        <p:nvSpPr>
          <p:cNvPr id="18" name="Role name 3"/>
          <p:cNvSpPr txBox="1"/>
          <p:nvPr/>
        </p:nvSpPr>
        <p:spPr>
          <a:xfrm>
            <a:off x="6766560" y="1207008"/>
            <a:ext cx="1828800" cy="274320"/>
          </a:xfrm>
          <a:prstGeom prst="rect">
            <a:avLst/>
          </a:prstGeom>
          <a:noFill/>
          <a:ln/>
        </p:spPr>
        <p:txBody>
          <a:bodyPr wrap="square" lIns="0" tIns="0" rIns="0" bIns="0" rtlCol="0" anchor="t"/>
          <a:lstStyle/>
          <a:p>
            <a:pPr marL="0" indent="0">
              <a:buNone/>
            </a:pPr>
            <a:r>
              <a:rPr lang="en-US" sz="1700" b="1" dirty="0">
                <a:solidFill>
                  <a:schemeClr val="tx2"/>
                </a:solidFill>
              </a:rPr>
              <a:t>SuperAdmin</a:t>
            </a:r>
            <a:endParaRPr lang="en-US" sz="1700" dirty="0"/>
          </a:p>
        </p:txBody>
      </p:sp>
      <p:sp>
        <p:nvSpPr>
          <p:cNvPr id="19" name="Role app 3"/>
          <p:cNvSpPr txBox="1"/>
          <p:nvPr/>
        </p:nvSpPr>
        <p:spPr>
          <a:xfrm>
            <a:off x="6766560" y="1499616"/>
            <a:ext cx="1828800" cy="228600"/>
          </a:xfrm>
          <a:prstGeom prst="rect">
            <a:avLst/>
          </a:prstGeom>
          <a:noFill/>
          <a:ln/>
        </p:spPr>
        <p:txBody>
          <a:bodyPr wrap="square" lIns="0" tIns="0" rIns="0" bIns="0" rtlCol="0" anchor="t"/>
          <a:lstStyle/>
          <a:p>
            <a:pPr marL="0" indent="0">
              <a:buNone/>
            </a:pPr>
            <a:r>
              <a:rPr lang="en-US" sz="1100" b="1" dirty="0">
                <a:solidFill>
                  <a:schemeClr val="accent1"/>
                </a:solidFill>
              </a:rPr>
              <a:t>ASP.NET web</a:t>
            </a:r>
            <a:endParaRPr lang="en-US" sz="1100" dirty="0"/>
          </a:p>
        </p:txBody>
      </p:sp>
      <p:sp>
        <p:nvSpPr>
          <p:cNvPr id="20" name="Role list 3"/>
          <p:cNvSpPr txBox="1"/>
          <p:nvPr/>
        </p:nvSpPr>
        <p:spPr>
          <a:xfrm>
            <a:off x="6172200" y="1874520"/>
            <a:ext cx="2377440" cy="26517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Has all admin abilities</a:t>
            </a:r>
            <a:endParaRPr lang="en-US" sz="1200" dirty="0"/>
          </a:p>
          <a:p>
            <a:pPr marL="342900" indent="-342900">
              <a:spcAft>
                <a:spcPts val="400"/>
              </a:spcAft>
              <a:buSzPct val="100000"/>
              <a:buChar char="•"/>
            </a:pPr>
            <a:r>
              <a:rPr lang="en-US" sz="1200" dirty="0">
                <a:solidFill>
                  <a:schemeClr val="tx1"/>
                </a:solidFill>
              </a:rPr>
              <a:t>Registers new admin accounts</a:t>
            </a:r>
            <a:endParaRPr lang="en-US" sz="1200" dirty="0"/>
          </a:p>
          <a:p>
            <a:pPr marL="342900" indent="-342900">
              <a:spcAft>
                <a:spcPts val="400"/>
              </a:spcAft>
              <a:buSzPct val="100000"/>
              <a:buChar char="•"/>
            </a:pPr>
            <a:r>
              <a:rPr lang="en-US" sz="1200" dirty="0">
                <a:solidFill>
                  <a:schemeClr val="tx1"/>
                </a:solidFill>
              </a:rPr>
              <a:t>Keeps admin creation out of the public sign-up</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The shared data model</a:t>
            </a:r>
            <a:endParaRPr lang="en-US" sz="2800" dirty="0"/>
          </a:p>
        </p:txBody>
      </p:sp>
      <p:sp>
        <p:nvSpPr>
          <p:cNvPr id="3" name="Table profiles"/>
          <p:cNvSpPr/>
          <p:nvPr/>
        </p:nvSpPr>
        <p:spPr>
          <a:xfrm>
            <a:off x="457200" y="2331720"/>
            <a:ext cx="1737360" cy="685800"/>
          </a:xfrm>
          <a:prstGeom prst="roundRect">
            <a:avLst>
              <a:gd name="adj" fmla="val 8000"/>
            </a:avLst>
          </a:prstGeom>
          <a:solidFill>
            <a:schemeClr val="tx2"/>
          </a:solidFill>
          <a:ln w="12700">
            <a:solidFill>
              <a:schemeClr val="tx2"/>
            </a:solidFill>
            <a:prstDash val="solid"/>
          </a:ln>
        </p:spPr>
        <p:txBody>
          <a:bodyPr/>
          <a:lstStyle/>
          <a:p>
            <a:endParaRPr lang="en-ZA"/>
          </a:p>
        </p:txBody>
      </p:sp>
      <p:sp>
        <p:nvSpPr>
          <p:cNvPr id="4" name="Table text profiles"/>
          <p:cNvSpPr txBox="1"/>
          <p:nvPr/>
        </p:nvSpPr>
        <p:spPr>
          <a:xfrm>
            <a:off x="457200" y="2331720"/>
            <a:ext cx="1737360" cy="685800"/>
          </a:xfrm>
          <a:prstGeom prst="rect">
            <a:avLst/>
          </a:prstGeom>
          <a:noFill/>
          <a:ln/>
        </p:spPr>
        <p:txBody>
          <a:bodyPr wrap="square" lIns="25400" tIns="25400" rIns="25400" bIns="25400" rtlCol="0" anchor="ctr"/>
          <a:lstStyle/>
          <a:p>
            <a:pPr marL="0" indent="0" algn="ctr">
              <a:buNone/>
            </a:pPr>
            <a:r>
              <a:rPr lang="en-US" sz="1300" b="1" dirty="0">
                <a:solidFill>
                  <a:schemeClr val="bg1"/>
                </a:solidFill>
              </a:rPr>
              <a:t>profiles</a:t>
            </a:r>
            <a:endParaRPr lang="en-US" sz="1300" dirty="0"/>
          </a:p>
          <a:p>
            <a:pPr marL="0" indent="0" algn="ctr">
              <a:buNone/>
            </a:pPr>
            <a:r>
              <a:rPr lang="en-US" sz="1000" dirty="0">
                <a:solidFill>
                  <a:schemeClr val="bg1"/>
                </a:solidFill>
              </a:rPr>
              <a:t>id, email, role</a:t>
            </a:r>
            <a:endParaRPr lang="en-US" sz="1300" dirty="0"/>
          </a:p>
        </p:txBody>
      </p:sp>
      <p:sp>
        <p:nvSpPr>
          <p:cNvPr id="5" name="Table parents"/>
          <p:cNvSpPr/>
          <p:nvPr/>
        </p:nvSpPr>
        <p:spPr>
          <a:xfrm>
            <a:off x="2743200" y="1188720"/>
            <a:ext cx="1737360" cy="685800"/>
          </a:xfrm>
          <a:prstGeom prst="roundRect">
            <a:avLst>
              <a:gd name="adj" fmla="val 8000"/>
            </a:avLst>
          </a:prstGeom>
          <a:solidFill>
            <a:schemeClr val="accent1"/>
          </a:solidFill>
          <a:ln w="12700">
            <a:solidFill>
              <a:schemeClr val="accent1"/>
            </a:solidFill>
            <a:prstDash val="solid"/>
          </a:ln>
        </p:spPr>
        <p:txBody>
          <a:bodyPr/>
          <a:lstStyle/>
          <a:p>
            <a:endParaRPr lang="en-ZA"/>
          </a:p>
        </p:txBody>
      </p:sp>
      <p:sp>
        <p:nvSpPr>
          <p:cNvPr id="6" name="Table text parents"/>
          <p:cNvSpPr txBox="1"/>
          <p:nvPr/>
        </p:nvSpPr>
        <p:spPr>
          <a:xfrm>
            <a:off x="2743200" y="1188720"/>
            <a:ext cx="1737360" cy="685800"/>
          </a:xfrm>
          <a:prstGeom prst="rect">
            <a:avLst/>
          </a:prstGeom>
          <a:noFill/>
          <a:ln/>
        </p:spPr>
        <p:txBody>
          <a:bodyPr wrap="square" lIns="25400" tIns="25400" rIns="25400" bIns="25400" rtlCol="0" anchor="ctr"/>
          <a:lstStyle/>
          <a:p>
            <a:pPr marL="0" indent="0" algn="ctr">
              <a:buNone/>
            </a:pPr>
            <a:r>
              <a:rPr lang="en-US" sz="1300" b="1" dirty="0">
                <a:solidFill>
                  <a:schemeClr val="bg1"/>
                </a:solidFill>
              </a:rPr>
              <a:t>parents</a:t>
            </a:r>
            <a:endParaRPr lang="en-US" sz="1300" dirty="0"/>
          </a:p>
          <a:p>
            <a:pPr marL="0" indent="0" algn="ctr">
              <a:buNone/>
            </a:pPr>
            <a:r>
              <a:rPr lang="en-US" sz="1000" dirty="0">
                <a:solidFill>
                  <a:schemeClr val="bg1"/>
                </a:solidFill>
              </a:rPr>
              <a:t>parent_id, user_id, names</a:t>
            </a:r>
            <a:endParaRPr lang="en-US" sz="1300" dirty="0"/>
          </a:p>
        </p:txBody>
      </p:sp>
      <p:sp>
        <p:nvSpPr>
          <p:cNvPr id="7" name="Table admins"/>
          <p:cNvSpPr/>
          <p:nvPr/>
        </p:nvSpPr>
        <p:spPr>
          <a:xfrm>
            <a:off x="2743200" y="3429000"/>
            <a:ext cx="1737360" cy="685800"/>
          </a:xfrm>
          <a:prstGeom prst="roundRect">
            <a:avLst>
              <a:gd name="adj" fmla="val 8000"/>
            </a:avLst>
          </a:prstGeom>
          <a:solidFill>
            <a:schemeClr val="accent1"/>
          </a:solidFill>
          <a:ln w="12700">
            <a:solidFill>
              <a:schemeClr val="accent1"/>
            </a:solidFill>
            <a:prstDash val="solid"/>
          </a:ln>
        </p:spPr>
        <p:txBody>
          <a:bodyPr/>
          <a:lstStyle/>
          <a:p>
            <a:endParaRPr lang="en-ZA"/>
          </a:p>
        </p:txBody>
      </p:sp>
      <p:sp>
        <p:nvSpPr>
          <p:cNvPr id="8" name="Table text admins"/>
          <p:cNvSpPr txBox="1"/>
          <p:nvPr/>
        </p:nvSpPr>
        <p:spPr>
          <a:xfrm>
            <a:off x="2743200" y="3429000"/>
            <a:ext cx="1737360" cy="685800"/>
          </a:xfrm>
          <a:prstGeom prst="rect">
            <a:avLst/>
          </a:prstGeom>
          <a:noFill/>
          <a:ln/>
        </p:spPr>
        <p:txBody>
          <a:bodyPr wrap="square" lIns="25400" tIns="25400" rIns="25400" bIns="25400" rtlCol="0" anchor="ctr"/>
          <a:lstStyle/>
          <a:p>
            <a:pPr marL="0" indent="0" algn="ctr">
              <a:buNone/>
            </a:pPr>
            <a:r>
              <a:rPr lang="en-US" sz="1300" b="1" dirty="0">
                <a:solidFill>
                  <a:schemeClr val="bg1"/>
                </a:solidFill>
              </a:rPr>
              <a:t>admins</a:t>
            </a:r>
            <a:endParaRPr lang="en-US" sz="1300" dirty="0"/>
          </a:p>
          <a:p>
            <a:pPr marL="0" indent="0" algn="ctr">
              <a:buNone/>
            </a:pPr>
            <a:r>
              <a:rPr lang="en-US" sz="1000" dirty="0">
                <a:solidFill>
                  <a:schemeClr val="bg1"/>
                </a:solidFill>
              </a:rPr>
              <a:t>admin_id, user_id, names</a:t>
            </a:r>
            <a:endParaRPr lang="en-US" sz="1300" dirty="0"/>
          </a:p>
        </p:txBody>
      </p:sp>
      <p:sp>
        <p:nvSpPr>
          <p:cNvPr id="9" name="Table applications"/>
          <p:cNvSpPr/>
          <p:nvPr/>
        </p:nvSpPr>
        <p:spPr>
          <a:xfrm>
            <a:off x="5120640" y="1188720"/>
            <a:ext cx="1737360" cy="685800"/>
          </a:xfrm>
          <a:prstGeom prst="roundRect">
            <a:avLst>
              <a:gd name="adj" fmla="val 8000"/>
            </a:avLst>
          </a:prstGeom>
          <a:solidFill>
            <a:schemeClr val="tx2"/>
          </a:solidFill>
          <a:ln w="12700">
            <a:solidFill>
              <a:schemeClr val="tx2"/>
            </a:solidFill>
            <a:prstDash val="solid"/>
          </a:ln>
        </p:spPr>
        <p:txBody>
          <a:bodyPr/>
          <a:lstStyle/>
          <a:p>
            <a:endParaRPr lang="en-ZA"/>
          </a:p>
        </p:txBody>
      </p:sp>
      <p:sp>
        <p:nvSpPr>
          <p:cNvPr id="10" name="Table text applications"/>
          <p:cNvSpPr txBox="1"/>
          <p:nvPr/>
        </p:nvSpPr>
        <p:spPr>
          <a:xfrm>
            <a:off x="5120640" y="1188720"/>
            <a:ext cx="1737360" cy="685800"/>
          </a:xfrm>
          <a:prstGeom prst="rect">
            <a:avLst/>
          </a:prstGeom>
          <a:noFill/>
          <a:ln/>
        </p:spPr>
        <p:txBody>
          <a:bodyPr wrap="square" lIns="25400" tIns="25400" rIns="25400" bIns="25400" rtlCol="0" anchor="ctr"/>
          <a:lstStyle/>
          <a:p>
            <a:pPr marL="0" indent="0" algn="ctr">
              <a:buNone/>
            </a:pPr>
            <a:r>
              <a:rPr lang="en-US" sz="1300" b="1" dirty="0">
                <a:solidFill>
                  <a:schemeClr val="bg1"/>
                </a:solidFill>
              </a:rPr>
              <a:t>applications</a:t>
            </a:r>
            <a:endParaRPr lang="en-US" sz="1300" dirty="0"/>
          </a:p>
          <a:p>
            <a:pPr marL="0" indent="0" algn="ctr">
              <a:buNone/>
            </a:pPr>
            <a:r>
              <a:rPr lang="en-US" sz="1000" dirty="0">
                <a:solidFill>
                  <a:schemeClr val="bg1"/>
                </a:solidFill>
              </a:rPr>
              <a:t>child and parent details, status, dates</a:t>
            </a:r>
            <a:endParaRPr lang="en-US" sz="1300" dirty="0"/>
          </a:p>
        </p:txBody>
      </p:sp>
      <p:sp>
        <p:nvSpPr>
          <p:cNvPr id="11" name="Table documents"/>
          <p:cNvSpPr/>
          <p:nvPr/>
        </p:nvSpPr>
        <p:spPr>
          <a:xfrm>
            <a:off x="7223760" y="1188720"/>
            <a:ext cx="1463040" cy="685800"/>
          </a:xfrm>
          <a:prstGeom prst="roundRect">
            <a:avLst>
              <a:gd name="adj" fmla="val 8000"/>
            </a:avLst>
          </a:prstGeom>
          <a:solidFill>
            <a:schemeClr val="accent3"/>
          </a:solidFill>
          <a:ln w="12700">
            <a:solidFill>
              <a:schemeClr val="accent3"/>
            </a:solidFill>
            <a:prstDash val="solid"/>
          </a:ln>
        </p:spPr>
        <p:txBody>
          <a:bodyPr/>
          <a:lstStyle/>
          <a:p>
            <a:endParaRPr lang="en-ZA"/>
          </a:p>
        </p:txBody>
      </p:sp>
      <p:sp>
        <p:nvSpPr>
          <p:cNvPr id="12" name="Table text documents"/>
          <p:cNvSpPr txBox="1"/>
          <p:nvPr/>
        </p:nvSpPr>
        <p:spPr>
          <a:xfrm>
            <a:off x="7223760" y="1188720"/>
            <a:ext cx="1463040" cy="685800"/>
          </a:xfrm>
          <a:prstGeom prst="rect">
            <a:avLst/>
          </a:prstGeom>
          <a:noFill/>
          <a:ln/>
        </p:spPr>
        <p:txBody>
          <a:bodyPr wrap="square" lIns="25400" tIns="25400" rIns="25400" bIns="25400" rtlCol="0" anchor="ctr"/>
          <a:lstStyle/>
          <a:p>
            <a:pPr marL="0" indent="0" algn="ctr">
              <a:buNone/>
            </a:pPr>
            <a:r>
              <a:rPr lang="en-US" sz="1300" b="1" dirty="0">
                <a:solidFill>
                  <a:schemeClr val="bg1"/>
                </a:solidFill>
              </a:rPr>
              <a:t>documents</a:t>
            </a:r>
            <a:endParaRPr lang="en-US" sz="1300" dirty="0"/>
          </a:p>
          <a:p>
            <a:pPr marL="0" indent="0" algn="ctr">
              <a:buNone/>
            </a:pPr>
            <a:r>
              <a:rPr lang="en-US" sz="1000" dirty="0">
                <a:solidFill>
                  <a:schemeClr val="bg1"/>
                </a:solidFill>
              </a:rPr>
              <a:t>type, file link</a:t>
            </a:r>
            <a:endParaRPr lang="en-US" sz="1300" dirty="0"/>
          </a:p>
        </p:txBody>
      </p:sp>
      <p:sp>
        <p:nvSpPr>
          <p:cNvPr id="13" name="Table comments"/>
          <p:cNvSpPr/>
          <p:nvPr/>
        </p:nvSpPr>
        <p:spPr>
          <a:xfrm>
            <a:off x="5120640" y="2194560"/>
            <a:ext cx="1737360" cy="640080"/>
          </a:xfrm>
          <a:prstGeom prst="roundRect">
            <a:avLst>
              <a:gd name="adj" fmla="val 8571"/>
            </a:avLst>
          </a:prstGeom>
          <a:solidFill>
            <a:schemeClr val="accent3"/>
          </a:solidFill>
          <a:ln w="12700">
            <a:solidFill>
              <a:schemeClr val="accent3"/>
            </a:solidFill>
            <a:prstDash val="solid"/>
          </a:ln>
        </p:spPr>
        <p:txBody>
          <a:bodyPr/>
          <a:lstStyle/>
          <a:p>
            <a:endParaRPr lang="en-ZA"/>
          </a:p>
        </p:txBody>
      </p:sp>
      <p:sp>
        <p:nvSpPr>
          <p:cNvPr id="14" name="Table text comments"/>
          <p:cNvSpPr txBox="1"/>
          <p:nvPr/>
        </p:nvSpPr>
        <p:spPr>
          <a:xfrm>
            <a:off x="5120640" y="2194560"/>
            <a:ext cx="1737360" cy="640080"/>
          </a:xfrm>
          <a:prstGeom prst="rect">
            <a:avLst/>
          </a:prstGeom>
          <a:noFill/>
          <a:ln/>
        </p:spPr>
        <p:txBody>
          <a:bodyPr wrap="square" lIns="25400" tIns="25400" rIns="25400" bIns="25400" rtlCol="0" anchor="ctr"/>
          <a:lstStyle/>
          <a:p>
            <a:pPr marL="0" indent="0" algn="ctr">
              <a:buNone/>
            </a:pPr>
            <a:r>
              <a:rPr lang="en-US" sz="1300" b="1" dirty="0">
                <a:solidFill>
                  <a:schemeClr val="bg1"/>
                </a:solidFill>
              </a:rPr>
              <a:t>comments</a:t>
            </a:r>
            <a:endParaRPr lang="en-US" sz="1300" dirty="0"/>
          </a:p>
          <a:p>
            <a:pPr marL="0" indent="0" algn="ctr">
              <a:buNone/>
            </a:pPr>
            <a:r>
              <a:rPr lang="en-US" sz="1000" dirty="0">
                <a:solidFill>
                  <a:schemeClr val="bg1"/>
                </a:solidFill>
              </a:rPr>
              <a:t>comment text, admin</a:t>
            </a:r>
            <a:endParaRPr lang="en-US" sz="1300" dirty="0"/>
          </a:p>
        </p:txBody>
      </p:sp>
      <p:sp>
        <p:nvSpPr>
          <p:cNvPr id="15" name="Table school_updates"/>
          <p:cNvSpPr/>
          <p:nvPr/>
        </p:nvSpPr>
        <p:spPr>
          <a:xfrm>
            <a:off x="5120640" y="3108960"/>
            <a:ext cx="1737360" cy="594360"/>
          </a:xfrm>
          <a:prstGeom prst="roundRect">
            <a:avLst>
              <a:gd name="adj" fmla="val 9231"/>
            </a:avLst>
          </a:prstGeom>
          <a:solidFill>
            <a:schemeClr val="accent2"/>
          </a:solidFill>
          <a:ln w="12700">
            <a:solidFill>
              <a:schemeClr val="accent2"/>
            </a:solidFill>
            <a:prstDash val="solid"/>
          </a:ln>
        </p:spPr>
        <p:txBody>
          <a:bodyPr/>
          <a:lstStyle/>
          <a:p>
            <a:endParaRPr lang="en-ZA"/>
          </a:p>
        </p:txBody>
      </p:sp>
      <p:sp>
        <p:nvSpPr>
          <p:cNvPr id="16" name="Table text school_updates"/>
          <p:cNvSpPr txBox="1"/>
          <p:nvPr/>
        </p:nvSpPr>
        <p:spPr>
          <a:xfrm>
            <a:off x="5120640" y="3108960"/>
            <a:ext cx="1737360" cy="594360"/>
          </a:xfrm>
          <a:prstGeom prst="rect">
            <a:avLst/>
          </a:prstGeom>
          <a:noFill/>
          <a:ln/>
        </p:spPr>
        <p:txBody>
          <a:bodyPr wrap="square" lIns="25400" tIns="25400" rIns="25400" bIns="25400" rtlCol="0" anchor="ctr"/>
          <a:lstStyle/>
          <a:p>
            <a:pPr marL="0" indent="0" algn="ctr">
              <a:buNone/>
            </a:pPr>
            <a:r>
              <a:rPr lang="en-US" sz="1300" b="1" dirty="0">
                <a:solidFill>
                  <a:schemeClr val="bg1"/>
                </a:solidFill>
              </a:rPr>
              <a:t>school_updates</a:t>
            </a:r>
            <a:endParaRPr lang="en-US" sz="1300" dirty="0"/>
          </a:p>
          <a:p>
            <a:pPr marL="0" indent="0" algn="ctr">
              <a:buNone/>
            </a:pPr>
            <a:r>
              <a:rPr lang="en-US" sz="1000" dirty="0">
                <a:solidFill>
                  <a:schemeClr val="bg1"/>
                </a:solidFill>
              </a:rPr>
              <a:t>title, content</a:t>
            </a:r>
            <a:endParaRPr lang="en-US" sz="1300" dirty="0"/>
          </a:p>
        </p:txBody>
      </p:sp>
      <p:sp>
        <p:nvSpPr>
          <p:cNvPr id="17" name="Table achievements"/>
          <p:cNvSpPr/>
          <p:nvPr/>
        </p:nvSpPr>
        <p:spPr>
          <a:xfrm>
            <a:off x="5120640" y="3886200"/>
            <a:ext cx="1737360" cy="594360"/>
          </a:xfrm>
          <a:prstGeom prst="roundRect">
            <a:avLst>
              <a:gd name="adj" fmla="val 9231"/>
            </a:avLst>
          </a:prstGeom>
          <a:solidFill>
            <a:schemeClr val="accent2"/>
          </a:solidFill>
          <a:ln w="12700">
            <a:solidFill>
              <a:schemeClr val="accent2"/>
            </a:solidFill>
            <a:prstDash val="solid"/>
          </a:ln>
        </p:spPr>
        <p:txBody>
          <a:bodyPr/>
          <a:lstStyle/>
          <a:p>
            <a:endParaRPr lang="en-ZA"/>
          </a:p>
        </p:txBody>
      </p:sp>
      <p:sp>
        <p:nvSpPr>
          <p:cNvPr id="18" name="Table text achievements"/>
          <p:cNvSpPr txBox="1"/>
          <p:nvPr/>
        </p:nvSpPr>
        <p:spPr>
          <a:xfrm>
            <a:off x="5120640" y="3886200"/>
            <a:ext cx="1737360" cy="594360"/>
          </a:xfrm>
          <a:prstGeom prst="rect">
            <a:avLst/>
          </a:prstGeom>
          <a:noFill/>
          <a:ln/>
        </p:spPr>
        <p:txBody>
          <a:bodyPr wrap="square" lIns="25400" tIns="25400" rIns="25400" bIns="25400" rtlCol="0" anchor="ctr"/>
          <a:lstStyle/>
          <a:p>
            <a:pPr marL="0" indent="0" algn="ctr">
              <a:buNone/>
            </a:pPr>
            <a:r>
              <a:rPr lang="en-US" sz="1300" b="1" dirty="0">
                <a:solidFill>
                  <a:schemeClr val="bg1"/>
                </a:solidFill>
              </a:rPr>
              <a:t>achievements</a:t>
            </a:r>
            <a:endParaRPr lang="en-US" sz="1300" dirty="0"/>
          </a:p>
          <a:p>
            <a:pPr marL="0" indent="0" algn="ctr">
              <a:buNone/>
            </a:pPr>
            <a:r>
              <a:rPr lang="en-US" sz="1000" dirty="0">
                <a:solidFill>
                  <a:schemeClr val="bg1"/>
                </a:solidFill>
              </a:rPr>
              <a:t>title, text, image</a:t>
            </a:r>
            <a:endParaRPr lang="en-US" sz="1300" dirty="0"/>
          </a:p>
        </p:txBody>
      </p:sp>
      <p:sp>
        <p:nvSpPr>
          <p:cNvPr id="19" name="Link profiles-parents"/>
          <p:cNvSpPr/>
          <p:nvPr/>
        </p:nvSpPr>
        <p:spPr>
          <a:xfrm flipV="1">
            <a:off x="2194560" y="1600200"/>
            <a:ext cx="548640" cy="960120"/>
          </a:xfrm>
          <a:prstGeom prst="line">
            <a:avLst/>
          </a:prstGeom>
          <a:noFill/>
          <a:ln w="25400">
            <a:solidFill>
              <a:schemeClr val="accent5"/>
            </a:solidFill>
            <a:prstDash val="solid"/>
            <a:tailEnd type="triangle"/>
          </a:ln>
        </p:spPr>
        <p:txBody>
          <a:bodyPr/>
          <a:lstStyle/>
          <a:p>
            <a:endParaRPr lang="en-ZA"/>
          </a:p>
        </p:txBody>
      </p:sp>
      <p:sp>
        <p:nvSpPr>
          <p:cNvPr id="20" name="Link profiles-admins"/>
          <p:cNvSpPr/>
          <p:nvPr/>
        </p:nvSpPr>
        <p:spPr>
          <a:xfrm>
            <a:off x="2194560" y="2834640"/>
            <a:ext cx="548640" cy="914400"/>
          </a:xfrm>
          <a:prstGeom prst="line">
            <a:avLst/>
          </a:prstGeom>
          <a:noFill/>
          <a:ln w="25400">
            <a:solidFill>
              <a:schemeClr val="accent5"/>
            </a:solidFill>
            <a:prstDash val="solid"/>
            <a:tailEnd type="triangle"/>
          </a:ln>
        </p:spPr>
        <p:txBody>
          <a:bodyPr/>
          <a:lstStyle/>
          <a:p>
            <a:endParaRPr lang="en-ZA"/>
          </a:p>
        </p:txBody>
      </p:sp>
      <p:sp>
        <p:nvSpPr>
          <p:cNvPr id="21" name="Link parents-applications"/>
          <p:cNvSpPr/>
          <p:nvPr/>
        </p:nvSpPr>
        <p:spPr>
          <a:xfrm>
            <a:off x="4480560" y="1527048"/>
            <a:ext cx="640080" cy="0"/>
          </a:xfrm>
          <a:prstGeom prst="line">
            <a:avLst/>
          </a:prstGeom>
          <a:noFill/>
          <a:ln w="25400">
            <a:solidFill>
              <a:schemeClr val="accent5"/>
            </a:solidFill>
            <a:prstDash val="solid"/>
            <a:tailEnd type="triangle"/>
          </a:ln>
        </p:spPr>
        <p:txBody>
          <a:bodyPr/>
          <a:lstStyle/>
          <a:p>
            <a:endParaRPr lang="en-ZA"/>
          </a:p>
        </p:txBody>
      </p:sp>
      <p:sp>
        <p:nvSpPr>
          <p:cNvPr id="22" name="Link applications-documents"/>
          <p:cNvSpPr/>
          <p:nvPr/>
        </p:nvSpPr>
        <p:spPr>
          <a:xfrm>
            <a:off x="6858000" y="1527048"/>
            <a:ext cx="365760" cy="0"/>
          </a:xfrm>
          <a:prstGeom prst="line">
            <a:avLst/>
          </a:prstGeom>
          <a:noFill/>
          <a:ln w="25400">
            <a:solidFill>
              <a:schemeClr val="accent5"/>
            </a:solidFill>
            <a:prstDash val="solid"/>
            <a:tailEnd type="triangle"/>
          </a:ln>
        </p:spPr>
        <p:txBody>
          <a:bodyPr/>
          <a:lstStyle/>
          <a:p>
            <a:endParaRPr lang="en-ZA"/>
          </a:p>
        </p:txBody>
      </p:sp>
      <p:sp>
        <p:nvSpPr>
          <p:cNvPr id="23" name="Link applications-comments"/>
          <p:cNvSpPr/>
          <p:nvPr/>
        </p:nvSpPr>
        <p:spPr>
          <a:xfrm>
            <a:off x="5989320" y="1874520"/>
            <a:ext cx="0" cy="320040"/>
          </a:xfrm>
          <a:prstGeom prst="line">
            <a:avLst/>
          </a:prstGeom>
          <a:noFill/>
          <a:ln w="25400">
            <a:solidFill>
              <a:schemeClr val="accent5"/>
            </a:solidFill>
            <a:prstDash val="solid"/>
            <a:tailEnd type="triangle"/>
          </a:ln>
        </p:spPr>
        <p:txBody>
          <a:bodyPr/>
          <a:lstStyle/>
          <a:p>
            <a:endParaRPr lang="en-ZA"/>
          </a:p>
        </p:txBody>
      </p:sp>
      <p:sp>
        <p:nvSpPr>
          <p:cNvPr id="24" name="Link admins-comments"/>
          <p:cNvSpPr/>
          <p:nvPr/>
        </p:nvSpPr>
        <p:spPr>
          <a:xfrm flipV="1">
            <a:off x="4480560" y="2697480"/>
            <a:ext cx="640080" cy="914400"/>
          </a:xfrm>
          <a:prstGeom prst="line">
            <a:avLst/>
          </a:prstGeom>
          <a:noFill/>
          <a:ln w="25400">
            <a:solidFill>
              <a:schemeClr val="accent5"/>
            </a:solidFill>
            <a:prstDash val="solid"/>
            <a:tailEnd type="triangle"/>
          </a:ln>
        </p:spPr>
        <p:txBody>
          <a:bodyPr/>
          <a:lstStyle/>
          <a:p>
            <a:endParaRPr lang="en-ZA"/>
          </a:p>
        </p:txBody>
      </p:sp>
      <p:sp>
        <p:nvSpPr>
          <p:cNvPr id="25" name="Link admins-updates"/>
          <p:cNvSpPr/>
          <p:nvPr/>
        </p:nvSpPr>
        <p:spPr>
          <a:xfrm flipV="1">
            <a:off x="4480560" y="3383280"/>
            <a:ext cx="640080" cy="365760"/>
          </a:xfrm>
          <a:prstGeom prst="line">
            <a:avLst/>
          </a:prstGeom>
          <a:noFill/>
          <a:ln w="25400">
            <a:solidFill>
              <a:schemeClr val="accent5"/>
            </a:solidFill>
            <a:prstDash val="solid"/>
            <a:tailEnd type="triangle"/>
          </a:ln>
        </p:spPr>
        <p:txBody>
          <a:bodyPr/>
          <a:lstStyle/>
          <a:p>
            <a:endParaRPr lang="en-ZA"/>
          </a:p>
        </p:txBody>
      </p:sp>
      <p:sp>
        <p:nvSpPr>
          <p:cNvPr id="26" name="Link admins-achievements"/>
          <p:cNvSpPr/>
          <p:nvPr/>
        </p:nvSpPr>
        <p:spPr>
          <a:xfrm>
            <a:off x="4480560" y="3931920"/>
            <a:ext cx="640080" cy="228600"/>
          </a:xfrm>
          <a:prstGeom prst="line">
            <a:avLst/>
          </a:prstGeom>
          <a:noFill/>
          <a:ln w="25400">
            <a:solidFill>
              <a:schemeClr val="accent5"/>
            </a:solidFill>
            <a:prstDash val="solid"/>
            <a:tailEnd type="triangle"/>
          </a:ln>
        </p:spPr>
        <p:txBody>
          <a:bodyPr/>
          <a:lstStyle/>
          <a:p>
            <a:endParaRPr lang="en-ZA"/>
          </a:p>
        </p:txBody>
      </p:sp>
      <p:sp>
        <p:nvSpPr>
          <p:cNvPr id="27" name="Model caption"/>
          <p:cNvSpPr txBox="1"/>
          <p:nvPr/>
        </p:nvSpPr>
        <p:spPr>
          <a:xfrm>
            <a:off x="7040880" y="2148840"/>
            <a:ext cx="1691640" cy="2377440"/>
          </a:xfrm>
          <a:prstGeom prst="rect">
            <a:avLst/>
          </a:prstGeom>
          <a:noFill/>
          <a:ln/>
        </p:spPr>
        <p:txBody>
          <a:bodyPr wrap="square" lIns="0" tIns="0" rIns="0" bIns="0" rtlCol="0" anchor="t"/>
          <a:lstStyle/>
          <a:p>
            <a:pPr marL="0" indent="0">
              <a:buNone/>
            </a:pPr>
            <a:r>
              <a:rPr lang="en-US" sz="1100" dirty="0">
                <a:solidFill>
                  <a:schemeClr val="tx1"/>
                </a:solidFill>
              </a:rPr>
              <a:t>One profile per user. A parent creates many applications. Each application has documents and admin comments. Admins publish updates and achievements.</a:t>
            </a:r>
            <a:endParaRPr lang="en-US" sz="1100" dirty="0"/>
          </a:p>
        </p:txBody>
      </p:sp>
      <p:sp>
        <p:nvSpPr>
          <p:cNvPr id="28"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Authentication, storage and security</a:t>
            </a:r>
            <a:endParaRPr lang="en-US" sz="2800" dirty="0"/>
          </a:p>
        </p:txBody>
      </p:sp>
      <p:sp>
        <p:nvSpPr>
          <p:cNvPr id="3" name="Security card 1"/>
          <p:cNvSpPr/>
          <p:nvPr/>
        </p:nvSpPr>
        <p:spPr>
          <a:xfrm>
            <a:off x="457200" y="1097280"/>
            <a:ext cx="2651760" cy="3474720"/>
          </a:xfrm>
          <a:prstGeom prst="roundRect">
            <a:avLst>
              <a:gd name="adj" fmla="val 2759"/>
            </a:avLst>
          </a:prstGeom>
          <a:solidFill>
            <a:schemeClr val="bg2"/>
          </a:solidFill>
          <a:ln w="12700">
            <a:solidFill>
              <a:schemeClr val="bg2"/>
            </a:solidFill>
            <a:prstDash val="solid"/>
          </a:ln>
        </p:spPr>
        <p:txBody>
          <a:bodyPr/>
          <a:lstStyle/>
          <a:p>
            <a:endParaRPr lang="en-ZA"/>
          </a:p>
        </p:txBody>
      </p:sp>
      <p:sp>
        <p:nvSpPr>
          <p:cNvPr id="4" name="Security icon 1 circle"/>
          <p:cNvSpPr/>
          <p:nvPr/>
        </p:nvSpPr>
        <p:spPr>
          <a:xfrm>
            <a:off x="594360" y="1207008"/>
            <a:ext cx="502920" cy="502920"/>
          </a:xfrm>
          <a:prstGeom prst="ellipse">
            <a:avLst/>
          </a:prstGeom>
          <a:solidFill>
            <a:schemeClr val="accent1"/>
          </a:solidFill>
          <a:ln w="12700">
            <a:solidFill>
              <a:schemeClr val="accent1"/>
            </a:solidFill>
            <a:prstDash val="solid"/>
          </a:ln>
        </p:spPr>
        <p:txBody>
          <a:bodyPr/>
          <a:lstStyle/>
          <a:p>
            <a:endParaRPr lang="en-ZA"/>
          </a:p>
        </p:txBody>
      </p:sp>
      <p:pic>
        <p:nvPicPr>
          <p:cNvPr id="5" name="Security icon 1" descr="Security icon 1"/>
          <p:cNvPicPr>
            <a:picLocks noChangeAspect="1"/>
          </p:cNvPicPr>
          <p:nvPr/>
        </p:nvPicPr>
        <p:blipFill>
          <a:blip r:embed="rId3"/>
          <a:stretch>
            <a:fillRect/>
          </a:stretch>
        </p:blipFill>
        <p:spPr>
          <a:xfrm>
            <a:off x="725119" y="1337767"/>
            <a:ext cx="241402" cy="241402"/>
          </a:xfrm>
          <a:prstGeom prst="rect">
            <a:avLst/>
          </a:prstGeom>
        </p:spPr>
      </p:pic>
      <p:sp>
        <p:nvSpPr>
          <p:cNvPr id="6" name="Security heading 1"/>
          <p:cNvSpPr txBox="1"/>
          <p:nvPr/>
        </p:nvSpPr>
        <p:spPr>
          <a:xfrm>
            <a:off x="1188720" y="1207008"/>
            <a:ext cx="1828800" cy="502920"/>
          </a:xfrm>
          <a:prstGeom prst="rect">
            <a:avLst/>
          </a:prstGeom>
          <a:noFill/>
          <a:ln/>
        </p:spPr>
        <p:txBody>
          <a:bodyPr wrap="square" lIns="0" tIns="0" rIns="0" bIns="0" rtlCol="0" anchor="ctr"/>
          <a:lstStyle/>
          <a:p>
            <a:pPr marL="0" indent="0">
              <a:buNone/>
            </a:pPr>
            <a:r>
              <a:rPr lang="en-US" sz="1500" b="1" dirty="0">
                <a:solidFill>
                  <a:schemeClr val="tx2"/>
                </a:solidFill>
              </a:rPr>
              <a:t>Authentication</a:t>
            </a:r>
            <a:endParaRPr lang="en-US" sz="1500" dirty="0"/>
          </a:p>
        </p:txBody>
      </p:sp>
      <p:sp>
        <p:nvSpPr>
          <p:cNvPr id="7" name="Security list 1"/>
          <p:cNvSpPr txBox="1"/>
          <p:nvPr/>
        </p:nvSpPr>
        <p:spPr>
          <a:xfrm>
            <a:off x="594360" y="1874520"/>
            <a:ext cx="2377440" cy="26517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Both apps use the same Supabase Auth</a:t>
            </a:r>
            <a:endParaRPr lang="en-US" sz="1200" dirty="0"/>
          </a:p>
          <a:p>
            <a:pPr marL="342900" indent="-342900">
              <a:spcAft>
                <a:spcPts val="500"/>
              </a:spcAft>
              <a:buSzPct val="100000"/>
              <a:buChar char="•"/>
            </a:pPr>
            <a:r>
              <a:rPr lang="en-US" sz="1200" dirty="0">
                <a:solidFill>
                  <a:schemeClr val="tx1"/>
                </a:solidFill>
              </a:rPr>
              <a:t>Sign-up also creates the profile and parent records</a:t>
            </a:r>
            <a:endParaRPr lang="en-US" sz="1200" dirty="0"/>
          </a:p>
          <a:p>
            <a:pPr marL="342900" indent="-342900">
              <a:spcAft>
                <a:spcPts val="500"/>
              </a:spcAft>
              <a:buSzPct val="100000"/>
              <a:buChar char="•"/>
            </a:pPr>
            <a:r>
              <a:rPr lang="en-US" sz="1200" dirty="0">
                <a:solidFill>
                  <a:schemeClr val="tx1"/>
                </a:solidFill>
              </a:rPr>
              <a:t>Web keeps the login in a secure session cookie with the role</a:t>
            </a:r>
            <a:endParaRPr lang="en-US" sz="1200" dirty="0"/>
          </a:p>
          <a:p>
            <a:pPr marL="342900" indent="-342900">
              <a:spcAft>
                <a:spcPts val="500"/>
              </a:spcAft>
              <a:buSzPct val="100000"/>
              <a:buChar char="•"/>
            </a:pPr>
            <a:r>
              <a:rPr lang="en-US" sz="1200" dirty="0">
                <a:solidFill>
                  <a:schemeClr val="tx1"/>
                </a:solidFill>
              </a:rPr>
              <a:t>Flutter keeps the Supabase session and checks the role at login</a:t>
            </a:r>
            <a:endParaRPr lang="en-US" sz="1200" dirty="0"/>
          </a:p>
        </p:txBody>
      </p:sp>
      <p:sp>
        <p:nvSpPr>
          <p:cNvPr id="8" name="Security card 2"/>
          <p:cNvSpPr/>
          <p:nvPr/>
        </p:nvSpPr>
        <p:spPr>
          <a:xfrm>
            <a:off x="3246120" y="1097280"/>
            <a:ext cx="2651760" cy="3474720"/>
          </a:xfrm>
          <a:prstGeom prst="roundRect">
            <a:avLst>
              <a:gd name="adj" fmla="val 2759"/>
            </a:avLst>
          </a:prstGeom>
          <a:solidFill>
            <a:schemeClr val="bg2"/>
          </a:solidFill>
          <a:ln w="12700">
            <a:solidFill>
              <a:schemeClr val="bg2"/>
            </a:solidFill>
            <a:prstDash val="solid"/>
          </a:ln>
        </p:spPr>
        <p:txBody>
          <a:bodyPr/>
          <a:lstStyle/>
          <a:p>
            <a:endParaRPr lang="en-ZA"/>
          </a:p>
        </p:txBody>
      </p:sp>
      <p:sp>
        <p:nvSpPr>
          <p:cNvPr id="9" name="Security icon 2 circle"/>
          <p:cNvSpPr/>
          <p:nvPr/>
        </p:nvSpPr>
        <p:spPr>
          <a:xfrm>
            <a:off x="3383280" y="1207008"/>
            <a:ext cx="502920" cy="502920"/>
          </a:xfrm>
          <a:prstGeom prst="ellipse">
            <a:avLst/>
          </a:prstGeom>
          <a:solidFill>
            <a:schemeClr val="accent1"/>
          </a:solidFill>
          <a:ln w="12700">
            <a:solidFill>
              <a:schemeClr val="accent1"/>
            </a:solidFill>
            <a:prstDash val="solid"/>
          </a:ln>
        </p:spPr>
        <p:txBody>
          <a:bodyPr/>
          <a:lstStyle/>
          <a:p>
            <a:endParaRPr lang="en-ZA"/>
          </a:p>
        </p:txBody>
      </p:sp>
      <p:pic>
        <p:nvPicPr>
          <p:cNvPr id="10" name="Security icon 2" descr="Security icon 2"/>
          <p:cNvPicPr>
            <a:picLocks noChangeAspect="1"/>
          </p:cNvPicPr>
          <p:nvPr/>
        </p:nvPicPr>
        <p:blipFill>
          <a:blip r:embed="rId4"/>
          <a:stretch>
            <a:fillRect/>
          </a:stretch>
        </p:blipFill>
        <p:spPr>
          <a:xfrm>
            <a:off x="3514039" y="1337767"/>
            <a:ext cx="241402" cy="241402"/>
          </a:xfrm>
          <a:prstGeom prst="rect">
            <a:avLst/>
          </a:prstGeom>
        </p:spPr>
      </p:pic>
      <p:sp>
        <p:nvSpPr>
          <p:cNvPr id="11" name="Security heading 2"/>
          <p:cNvSpPr txBox="1"/>
          <p:nvPr/>
        </p:nvSpPr>
        <p:spPr>
          <a:xfrm>
            <a:off x="3977640" y="1207008"/>
            <a:ext cx="1828800" cy="502920"/>
          </a:xfrm>
          <a:prstGeom prst="rect">
            <a:avLst/>
          </a:prstGeom>
          <a:noFill/>
          <a:ln/>
        </p:spPr>
        <p:txBody>
          <a:bodyPr wrap="square" lIns="0" tIns="0" rIns="0" bIns="0" rtlCol="0" anchor="ctr"/>
          <a:lstStyle/>
          <a:p>
            <a:pPr marL="0" indent="0">
              <a:buNone/>
            </a:pPr>
            <a:r>
              <a:rPr lang="en-US" sz="1500" b="1" dirty="0">
                <a:solidFill>
                  <a:schemeClr val="tx2"/>
                </a:solidFill>
              </a:rPr>
              <a:t>Storage</a:t>
            </a:r>
            <a:endParaRPr lang="en-US" sz="1500" dirty="0"/>
          </a:p>
        </p:txBody>
      </p:sp>
      <p:sp>
        <p:nvSpPr>
          <p:cNvPr id="12" name="Security list 2"/>
          <p:cNvSpPr txBox="1"/>
          <p:nvPr/>
        </p:nvSpPr>
        <p:spPr>
          <a:xfrm>
            <a:off x="3383280" y="1874520"/>
            <a:ext cx="2377440" cy="26517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application_documents for parent uploads</a:t>
            </a:r>
            <a:endParaRPr lang="en-US" sz="1200" dirty="0"/>
          </a:p>
          <a:p>
            <a:pPr marL="342900" indent="-342900">
              <a:spcAft>
                <a:spcPts val="500"/>
              </a:spcAft>
              <a:buSzPct val="100000"/>
              <a:buChar char="•"/>
            </a:pPr>
            <a:r>
              <a:rPr lang="en-US" sz="1200" dirty="0">
                <a:solidFill>
                  <a:schemeClr val="tx1"/>
                </a:solidFill>
              </a:rPr>
              <a:t>achievement_images for admin photos</a:t>
            </a:r>
            <a:endParaRPr lang="en-US" sz="1200" dirty="0"/>
          </a:p>
          <a:p>
            <a:pPr marL="342900" indent="-342900">
              <a:spcAft>
                <a:spcPts val="500"/>
              </a:spcAft>
              <a:buSzPct val="100000"/>
              <a:buChar char="•"/>
            </a:pPr>
            <a:r>
              <a:rPr lang="en-US" sz="1200" dirty="0">
                <a:solidFill>
                  <a:schemeClr val="tx1"/>
                </a:solidFill>
              </a:rPr>
              <a:t>The database stores the link to each file</a:t>
            </a:r>
            <a:endParaRPr lang="en-US" sz="1200" dirty="0"/>
          </a:p>
          <a:p>
            <a:pPr marL="342900" indent="-342900">
              <a:spcAft>
                <a:spcPts val="500"/>
              </a:spcAft>
              <a:buSzPct val="100000"/>
              <a:buChar char="•"/>
            </a:pPr>
            <a:r>
              <a:rPr lang="en-US" sz="1200" dirty="0">
                <a:solidFill>
                  <a:schemeClr val="tx1"/>
                </a:solidFill>
              </a:rPr>
              <a:t>Admins open documents from the application</a:t>
            </a:r>
            <a:endParaRPr lang="en-US" sz="1200" dirty="0"/>
          </a:p>
        </p:txBody>
      </p:sp>
      <p:sp>
        <p:nvSpPr>
          <p:cNvPr id="13" name="Security card 3"/>
          <p:cNvSpPr/>
          <p:nvPr/>
        </p:nvSpPr>
        <p:spPr>
          <a:xfrm>
            <a:off x="6035040" y="1097280"/>
            <a:ext cx="2651760" cy="3474720"/>
          </a:xfrm>
          <a:prstGeom prst="roundRect">
            <a:avLst>
              <a:gd name="adj" fmla="val 2759"/>
            </a:avLst>
          </a:prstGeom>
          <a:solidFill>
            <a:schemeClr val="bg2"/>
          </a:solidFill>
          <a:ln w="12700">
            <a:solidFill>
              <a:schemeClr val="bg2"/>
            </a:solidFill>
            <a:prstDash val="solid"/>
          </a:ln>
        </p:spPr>
        <p:txBody>
          <a:bodyPr/>
          <a:lstStyle/>
          <a:p>
            <a:endParaRPr lang="en-ZA"/>
          </a:p>
        </p:txBody>
      </p:sp>
      <p:sp>
        <p:nvSpPr>
          <p:cNvPr id="14" name="Security icon 3 circle"/>
          <p:cNvSpPr/>
          <p:nvPr/>
        </p:nvSpPr>
        <p:spPr>
          <a:xfrm>
            <a:off x="6172200" y="1207008"/>
            <a:ext cx="502920" cy="502920"/>
          </a:xfrm>
          <a:prstGeom prst="ellipse">
            <a:avLst/>
          </a:prstGeom>
          <a:solidFill>
            <a:schemeClr val="accent1"/>
          </a:solidFill>
          <a:ln w="12700">
            <a:solidFill>
              <a:schemeClr val="accent1"/>
            </a:solidFill>
            <a:prstDash val="solid"/>
          </a:ln>
        </p:spPr>
        <p:txBody>
          <a:bodyPr/>
          <a:lstStyle/>
          <a:p>
            <a:endParaRPr lang="en-ZA"/>
          </a:p>
        </p:txBody>
      </p:sp>
      <p:pic>
        <p:nvPicPr>
          <p:cNvPr id="15" name="Security icon 3" descr="Security icon 3"/>
          <p:cNvPicPr>
            <a:picLocks noChangeAspect="1"/>
          </p:cNvPicPr>
          <p:nvPr/>
        </p:nvPicPr>
        <p:blipFill>
          <a:blip r:embed="rId5"/>
          <a:stretch>
            <a:fillRect/>
          </a:stretch>
        </p:blipFill>
        <p:spPr>
          <a:xfrm>
            <a:off x="6302959" y="1337767"/>
            <a:ext cx="241402" cy="241402"/>
          </a:xfrm>
          <a:prstGeom prst="rect">
            <a:avLst/>
          </a:prstGeom>
        </p:spPr>
      </p:pic>
      <p:sp>
        <p:nvSpPr>
          <p:cNvPr id="16" name="Security heading 3"/>
          <p:cNvSpPr txBox="1"/>
          <p:nvPr/>
        </p:nvSpPr>
        <p:spPr>
          <a:xfrm>
            <a:off x="6766560" y="1207008"/>
            <a:ext cx="1828800" cy="502920"/>
          </a:xfrm>
          <a:prstGeom prst="rect">
            <a:avLst/>
          </a:prstGeom>
          <a:noFill/>
          <a:ln/>
        </p:spPr>
        <p:txBody>
          <a:bodyPr wrap="square" lIns="0" tIns="0" rIns="0" bIns="0" rtlCol="0" anchor="ctr"/>
          <a:lstStyle/>
          <a:p>
            <a:pPr marL="0" indent="0">
              <a:buNone/>
            </a:pPr>
            <a:r>
              <a:rPr lang="en-US" sz="1500" b="1" dirty="0">
                <a:solidFill>
                  <a:schemeClr val="tx2"/>
                </a:solidFill>
              </a:rPr>
              <a:t>Security and privacy</a:t>
            </a:r>
            <a:endParaRPr lang="en-US" sz="1500" dirty="0"/>
          </a:p>
        </p:txBody>
      </p:sp>
      <p:sp>
        <p:nvSpPr>
          <p:cNvPr id="17" name="Security list 3"/>
          <p:cNvSpPr txBox="1"/>
          <p:nvPr/>
        </p:nvSpPr>
        <p:spPr>
          <a:xfrm>
            <a:off x="6172200" y="1874520"/>
            <a:ext cx="2377440" cy="265176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Keys are not stored in GitHub</a:t>
            </a:r>
            <a:endParaRPr lang="en-US" sz="1200" dirty="0"/>
          </a:p>
          <a:p>
            <a:pPr marL="342900" indent="-342900">
              <a:spcAft>
                <a:spcPts val="500"/>
              </a:spcAft>
              <a:buSzPct val="100000"/>
              <a:buChar char="•"/>
            </a:pPr>
            <a:r>
              <a:rPr lang="en-US" sz="1200" dirty="0">
                <a:solidFill>
                  <a:schemeClr val="tx1"/>
                </a:solidFill>
              </a:rPr>
              <a:t>The powerful service key is used only on the web server</a:t>
            </a:r>
            <a:endParaRPr lang="en-US" sz="1200" dirty="0"/>
          </a:p>
          <a:p>
            <a:pPr marL="342900" indent="-342900">
              <a:spcAft>
                <a:spcPts val="500"/>
              </a:spcAft>
              <a:buSzPct val="100000"/>
              <a:buChar char="•"/>
            </a:pPr>
            <a:r>
              <a:rPr lang="en-US" sz="1200" dirty="0">
                <a:solidFill>
                  <a:schemeClr val="tx1"/>
                </a:solidFill>
              </a:rPr>
              <a:t>Parents are shown only their own applications</a:t>
            </a:r>
            <a:endParaRPr lang="en-US" sz="1200" dirty="0"/>
          </a:p>
          <a:p>
            <a:pPr marL="342900" indent="-342900">
              <a:spcAft>
                <a:spcPts val="500"/>
              </a:spcAft>
              <a:buSzPct val="100000"/>
              <a:buChar char="•"/>
            </a:pPr>
            <a:r>
              <a:rPr lang="en-US" sz="1200" dirty="0">
                <a:solidFill>
                  <a:schemeClr val="tx1"/>
                </a:solidFill>
              </a:rPr>
              <a:t>Only test data and fake profiles are used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A374D-8B8F-D699-657A-9C8A98269D6B}"/>
            </a:ext>
          </a:extLst>
        </p:cNvPr>
        <p:cNvGrpSpPr/>
        <p:nvPr/>
      </p:nvGrpSpPr>
      <p:grpSpPr>
        <a:xfrm>
          <a:off x="0" y="0"/>
          <a:ext cx="0" cy="0"/>
          <a:chOff x="0" y="0"/>
          <a:chExt cx="0" cy="0"/>
        </a:xfrm>
      </p:grpSpPr>
      <p:sp>
        <p:nvSpPr>
          <p:cNvPr id="3" name="Group">
            <a:extLst>
              <a:ext uri="{FF2B5EF4-FFF2-40B4-BE49-F238E27FC236}">
                <a16:creationId xmlns:a16="http://schemas.microsoft.com/office/drawing/2014/main" id="{C56A506D-34C4-E1A4-B785-5583499C9023}"/>
              </a:ext>
            </a:extLst>
          </p:cNvPr>
          <p:cNvSpPr txBox="1"/>
          <p:nvPr/>
        </p:nvSpPr>
        <p:spPr>
          <a:xfrm>
            <a:off x="597625" y="1866182"/>
            <a:ext cx="1312817" cy="365760"/>
          </a:xfrm>
          <a:prstGeom prst="rect">
            <a:avLst/>
          </a:prstGeom>
          <a:noFill/>
          <a:ln/>
        </p:spPr>
        <p:txBody>
          <a:bodyPr wrap="square" lIns="0" tIns="0" rIns="0" bIns="0" rtlCol="0" anchor="t"/>
          <a:lstStyle/>
          <a:p>
            <a:pPr marL="0" indent="0">
              <a:buNone/>
            </a:pPr>
            <a:r>
              <a:rPr lang="en-US" sz="1600" dirty="0">
                <a:solidFill>
                  <a:schemeClr val="accent4"/>
                </a:solidFill>
              </a:rPr>
              <a:t>Section 1 </a:t>
            </a:r>
            <a:endParaRPr lang="en-US" sz="1600" dirty="0"/>
          </a:p>
        </p:txBody>
      </p:sp>
      <p:sp>
        <p:nvSpPr>
          <p:cNvPr id="5" name="Rectangle 4">
            <a:extLst>
              <a:ext uri="{FF2B5EF4-FFF2-40B4-BE49-F238E27FC236}">
                <a16:creationId xmlns:a16="http://schemas.microsoft.com/office/drawing/2014/main" id="{3248DB25-8180-0DD2-9C9C-3680D09421F4}"/>
              </a:ext>
            </a:extLst>
          </p:cNvPr>
          <p:cNvSpPr/>
          <p:nvPr/>
        </p:nvSpPr>
        <p:spPr>
          <a:xfrm>
            <a:off x="597625" y="2350158"/>
            <a:ext cx="1545938" cy="61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2"/>
              </a:solidFill>
            </a:endParaRPr>
          </a:p>
        </p:txBody>
      </p:sp>
      <p:sp>
        <p:nvSpPr>
          <p:cNvPr id="7" name="Subtitle">
            <a:extLst>
              <a:ext uri="{FF2B5EF4-FFF2-40B4-BE49-F238E27FC236}">
                <a16:creationId xmlns:a16="http://schemas.microsoft.com/office/drawing/2014/main" id="{C1C47422-BBF8-BF54-3493-BF4254D73A76}"/>
              </a:ext>
            </a:extLst>
          </p:cNvPr>
          <p:cNvSpPr txBox="1"/>
          <p:nvPr/>
        </p:nvSpPr>
        <p:spPr>
          <a:xfrm>
            <a:off x="597624" y="2437682"/>
            <a:ext cx="4588329" cy="411480"/>
          </a:xfrm>
          <a:prstGeom prst="rect">
            <a:avLst/>
          </a:prstGeom>
          <a:noFill/>
          <a:ln/>
        </p:spPr>
        <p:txBody>
          <a:bodyPr wrap="square" lIns="0" tIns="0" rIns="0" bIns="0" rtlCol="0" anchor="t"/>
          <a:lstStyle/>
          <a:p>
            <a:pPr marL="0" indent="0">
              <a:buNone/>
            </a:pPr>
            <a:r>
              <a:rPr lang="en-US" sz="2000" dirty="0">
                <a:solidFill>
                  <a:schemeClr val="bg2"/>
                </a:solidFill>
              </a:rPr>
              <a:t>Application Functions and Demonstration</a:t>
            </a:r>
            <a:endParaRPr lang="en-US" sz="2000" dirty="0"/>
          </a:p>
        </p:txBody>
      </p:sp>
      <p:sp>
        <p:nvSpPr>
          <p:cNvPr id="9" name="Members">
            <a:extLst>
              <a:ext uri="{FF2B5EF4-FFF2-40B4-BE49-F238E27FC236}">
                <a16:creationId xmlns:a16="http://schemas.microsoft.com/office/drawing/2014/main" id="{5DA196CB-339F-D833-3575-15E0A85A0F83}"/>
              </a:ext>
            </a:extLst>
          </p:cNvPr>
          <p:cNvSpPr txBox="1"/>
          <p:nvPr/>
        </p:nvSpPr>
        <p:spPr>
          <a:xfrm>
            <a:off x="597625" y="2849162"/>
            <a:ext cx="4167051" cy="284148"/>
          </a:xfrm>
          <a:prstGeom prst="rect">
            <a:avLst/>
          </a:prstGeom>
          <a:noFill/>
          <a:ln/>
        </p:spPr>
        <p:txBody>
          <a:bodyPr wrap="square" lIns="0" tIns="0" rIns="0" bIns="0" rtlCol="0" anchor="t"/>
          <a:lstStyle/>
          <a:p>
            <a:pPr marL="0" indent="0">
              <a:buNone/>
            </a:pPr>
            <a:r>
              <a:rPr lang="en-US" sz="1200" dirty="0">
                <a:solidFill>
                  <a:schemeClr val="bg2"/>
                </a:solidFill>
              </a:rPr>
              <a:t>Demonstrate the integrated system</a:t>
            </a:r>
            <a:endParaRPr lang="en-US" sz="1200" dirty="0"/>
          </a:p>
        </p:txBody>
      </p:sp>
    </p:spTree>
    <p:extLst>
      <p:ext uri="{BB962C8B-B14F-4D97-AF65-F5344CB8AC3E}">
        <p14:creationId xmlns:p14="http://schemas.microsoft.com/office/powerpoint/2010/main" val="3860926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Flutter mobile app</a:t>
            </a:r>
            <a:endParaRPr lang="en-US" sz="2800" dirty="0"/>
          </a:p>
        </p:txBody>
      </p:sp>
      <p:sp>
        <p:nvSpPr>
          <p:cNvPr id="3" name="Live demo tag"/>
          <p:cNvSpPr/>
          <p:nvPr/>
        </p:nvSpPr>
        <p:spPr>
          <a:xfrm>
            <a:off x="7498080" y="365760"/>
            <a:ext cx="1188720" cy="329184"/>
          </a:xfrm>
          <a:prstGeom prst="roundRect">
            <a:avLst>
              <a:gd name="adj" fmla="val 50000"/>
            </a:avLst>
          </a:prstGeom>
          <a:solidFill>
            <a:schemeClr val="accent2"/>
          </a:solidFill>
          <a:ln w="12700">
            <a:solidFill>
              <a:schemeClr val="accent2"/>
            </a:solidFill>
            <a:prstDash val="solid"/>
          </a:ln>
        </p:spPr>
        <p:txBody>
          <a:bodyPr/>
          <a:lstStyle/>
          <a:p>
            <a:endParaRPr lang="en-ZA"/>
          </a:p>
        </p:txBody>
      </p:sp>
      <p:sp>
        <p:nvSpPr>
          <p:cNvPr id="4" name="Live demo label"/>
          <p:cNvSpPr txBox="1"/>
          <p:nvPr/>
        </p:nvSpPr>
        <p:spPr>
          <a:xfrm>
            <a:off x="7498080" y="365760"/>
            <a:ext cx="1188720" cy="329184"/>
          </a:xfrm>
          <a:prstGeom prst="rect">
            <a:avLst/>
          </a:prstGeom>
          <a:noFill/>
          <a:ln/>
        </p:spPr>
        <p:txBody>
          <a:bodyPr wrap="square" lIns="0" tIns="0" rIns="0" bIns="0" rtlCol="0" anchor="ctr"/>
          <a:lstStyle/>
          <a:p>
            <a:pPr marL="0" indent="0" algn="ctr">
              <a:buNone/>
            </a:pPr>
            <a:r>
              <a:rPr lang="en-US" sz="1200" b="1" dirty="0">
                <a:solidFill>
                  <a:schemeClr val="bg1"/>
                </a:solidFill>
              </a:rPr>
              <a:t>LIVE DEMO</a:t>
            </a:r>
            <a:endParaRPr lang="en-US" sz="1200" dirty="0"/>
          </a:p>
        </p:txBody>
      </p:sp>
      <p:sp>
        <p:nvSpPr>
          <p:cNvPr id="5" name="Flutter functions card"/>
          <p:cNvSpPr/>
          <p:nvPr/>
        </p:nvSpPr>
        <p:spPr>
          <a:xfrm>
            <a:off x="457200" y="1097280"/>
            <a:ext cx="3749040" cy="2743200"/>
          </a:xfrm>
          <a:prstGeom prst="roundRect">
            <a:avLst>
              <a:gd name="adj" fmla="val 2667"/>
            </a:avLst>
          </a:prstGeom>
          <a:solidFill>
            <a:schemeClr val="bg2"/>
          </a:solidFill>
          <a:ln w="12700">
            <a:solidFill>
              <a:schemeClr val="bg2"/>
            </a:solidFill>
            <a:prstDash val="solid"/>
          </a:ln>
        </p:spPr>
        <p:txBody>
          <a:bodyPr/>
          <a:lstStyle/>
          <a:p>
            <a:endParaRPr lang="en-ZA"/>
          </a:p>
        </p:txBody>
      </p:sp>
      <p:sp>
        <p:nvSpPr>
          <p:cNvPr id="6" name="Flutter functions heading"/>
          <p:cNvSpPr txBox="1"/>
          <p:nvPr/>
        </p:nvSpPr>
        <p:spPr>
          <a:xfrm>
            <a:off x="640080" y="1170432"/>
            <a:ext cx="3383280" cy="320040"/>
          </a:xfrm>
          <a:prstGeom prst="rect">
            <a:avLst/>
          </a:prstGeom>
          <a:noFill/>
          <a:ln/>
        </p:spPr>
        <p:txBody>
          <a:bodyPr wrap="square" lIns="0" tIns="0" rIns="0" bIns="0" rtlCol="0" anchor="t"/>
          <a:lstStyle/>
          <a:p>
            <a:pPr marL="0" indent="0">
              <a:buNone/>
            </a:pPr>
            <a:r>
              <a:rPr lang="en-US" sz="1500" b="1" dirty="0">
                <a:solidFill>
                  <a:schemeClr val="tx2"/>
                </a:solidFill>
              </a:rPr>
              <a:t>What parents can do</a:t>
            </a:r>
            <a:endParaRPr lang="en-US" sz="1500" dirty="0"/>
          </a:p>
        </p:txBody>
      </p:sp>
      <p:sp>
        <p:nvSpPr>
          <p:cNvPr id="7" name="Flutter functions list"/>
          <p:cNvSpPr txBox="1"/>
          <p:nvPr/>
        </p:nvSpPr>
        <p:spPr>
          <a:xfrm>
            <a:off x="640080" y="1554480"/>
            <a:ext cx="3383280" cy="22860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Register and log in</a:t>
            </a:r>
            <a:endParaRPr lang="en-US" sz="1200" dirty="0"/>
          </a:p>
          <a:p>
            <a:pPr marL="342900" indent="-342900">
              <a:spcAft>
                <a:spcPts val="300"/>
              </a:spcAft>
              <a:buSzPct val="100000"/>
              <a:buChar char="•"/>
            </a:pPr>
            <a:r>
              <a:rPr lang="en-US" sz="1200" dirty="0">
                <a:solidFill>
                  <a:schemeClr val="tx1"/>
                </a:solidFill>
              </a:rPr>
              <a:t>Apply through a six-step form: parent, child, education, contact, medical, documents</a:t>
            </a:r>
            <a:endParaRPr lang="en-US" sz="1200" dirty="0"/>
          </a:p>
          <a:p>
            <a:pPr marL="342900" indent="-342900">
              <a:spcAft>
                <a:spcPts val="300"/>
              </a:spcAft>
              <a:buSzPct val="100000"/>
              <a:buChar char="•"/>
            </a:pPr>
            <a:r>
              <a:rPr lang="en-US" sz="1200" dirty="0">
                <a:solidFill>
                  <a:schemeClr val="tx1"/>
                </a:solidFill>
              </a:rPr>
              <a:t>Upload supporting documents</a:t>
            </a:r>
            <a:endParaRPr lang="en-US" sz="1200" dirty="0"/>
          </a:p>
          <a:p>
            <a:pPr marL="342900" indent="-342900">
              <a:spcAft>
                <a:spcPts val="300"/>
              </a:spcAft>
              <a:buSzPct val="100000"/>
              <a:buChar char="•"/>
            </a:pPr>
            <a:r>
              <a:rPr lang="en-US" sz="1200" dirty="0">
                <a:solidFill>
                  <a:schemeClr val="tx1"/>
                </a:solidFill>
              </a:rPr>
              <a:t>See every application with its status</a:t>
            </a:r>
            <a:endParaRPr lang="en-US" sz="1200" dirty="0"/>
          </a:p>
          <a:p>
            <a:pPr marL="342900" indent="-342900">
              <a:spcAft>
                <a:spcPts val="300"/>
              </a:spcAft>
              <a:buSzPct val="100000"/>
              <a:buChar char="•"/>
            </a:pPr>
            <a:r>
              <a:rPr lang="en-US" sz="1200" dirty="0">
                <a:solidFill>
                  <a:schemeClr val="tx1"/>
                </a:solidFill>
              </a:rPr>
              <a:t>Read admin comments on an application</a:t>
            </a:r>
            <a:endParaRPr lang="en-US" sz="1200" dirty="0"/>
          </a:p>
          <a:p>
            <a:pPr marL="342900" indent="-342900">
              <a:spcAft>
                <a:spcPts val="300"/>
              </a:spcAft>
              <a:buSzPct val="100000"/>
              <a:buChar char="•"/>
            </a:pPr>
            <a:r>
              <a:rPr lang="en-US" sz="1200" dirty="0">
                <a:solidFill>
                  <a:schemeClr val="tx1"/>
                </a:solidFill>
              </a:rPr>
              <a:t>Read school updates and awards</a:t>
            </a:r>
            <a:endParaRPr lang="en-US" sz="1200" dirty="0"/>
          </a:p>
          <a:p>
            <a:pPr marL="342900" indent="-342900">
              <a:spcAft>
                <a:spcPts val="300"/>
              </a:spcAft>
              <a:buSzPct val="100000"/>
              <a:buChar char="•"/>
            </a:pPr>
            <a:r>
              <a:rPr lang="en-US" sz="1200" dirty="0">
                <a:solidFill>
                  <a:schemeClr val="tx1"/>
                </a:solidFill>
              </a:rPr>
              <a:t>Edit their profile</a:t>
            </a:r>
            <a:endParaRPr lang="en-US" sz="1200" dirty="0"/>
          </a:p>
        </p:txBody>
      </p:sp>
      <p:sp>
        <p:nvSpPr>
          <p:cNvPr id="8" name="Flow heading"/>
          <p:cNvSpPr txBox="1"/>
          <p:nvPr/>
        </p:nvSpPr>
        <p:spPr>
          <a:xfrm>
            <a:off x="4480560" y="1097280"/>
            <a:ext cx="4206240" cy="274320"/>
          </a:xfrm>
          <a:prstGeom prst="rect">
            <a:avLst/>
          </a:prstGeom>
          <a:noFill/>
          <a:ln/>
        </p:spPr>
        <p:txBody>
          <a:bodyPr wrap="square" lIns="0" tIns="0" rIns="0" bIns="0" rtlCol="0" anchor="t"/>
          <a:lstStyle/>
          <a:p>
            <a:pPr marL="0" indent="0">
              <a:buNone/>
            </a:pPr>
            <a:r>
              <a:rPr lang="en-US" sz="1500" b="1" dirty="0">
                <a:solidFill>
                  <a:schemeClr val="tx2"/>
                </a:solidFill>
              </a:rPr>
              <a:t>Screen flow</a:t>
            </a:r>
            <a:endParaRPr lang="en-US" sz="1500" dirty="0"/>
          </a:p>
        </p:txBody>
      </p:sp>
      <p:sp>
        <p:nvSpPr>
          <p:cNvPr id="9" name="Flow login"/>
          <p:cNvSpPr/>
          <p:nvPr/>
        </p:nvSpPr>
        <p:spPr>
          <a:xfrm>
            <a:off x="4480560" y="1463040"/>
            <a:ext cx="1188720" cy="457200"/>
          </a:xfrm>
          <a:prstGeom prst="roundRect">
            <a:avLst>
              <a:gd name="adj" fmla="val 12000"/>
            </a:avLst>
          </a:prstGeom>
          <a:solidFill>
            <a:schemeClr val="accent1"/>
          </a:solidFill>
          <a:ln w="12700">
            <a:solidFill>
              <a:schemeClr val="accent1"/>
            </a:solidFill>
            <a:prstDash val="solid"/>
          </a:ln>
        </p:spPr>
        <p:txBody>
          <a:bodyPr/>
          <a:lstStyle/>
          <a:p>
            <a:endParaRPr lang="en-ZA"/>
          </a:p>
        </p:txBody>
      </p:sp>
      <p:sp>
        <p:nvSpPr>
          <p:cNvPr id="10" name="Flow login text"/>
          <p:cNvSpPr txBox="1"/>
          <p:nvPr/>
        </p:nvSpPr>
        <p:spPr>
          <a:xfrm>
            <a:off x="4480560" y="1463040"/>
            <a:ext cx="1188720" cy="457200"/>
          </a:xfrm>
          <a:prstGeom prst="rect">
            <a:avLst/>
          </a:prstGeom>
          <a:noFill/>
          <a:ln/>
        </p:spPr>
        <p:txBody>
          <a:bodyPr wrap="square" lIns="0" tIns="0" rIns="0" bIns="0" rtlCol="0" anchor="ctr"/>
          <a:lstStyle/>
          <a:p>
            <a:pPr marL="0" indent="0" algn="ctr">
              <a:buNone/>
            </a:pPr>
            <a:r>
              <a:rPr lang="en-US" sz="1100" b="1" dirty="0">
                <a:solidFill>
                  <a:schemeClr val="bg1"/>
                </a:solidFill>
              </a:rPr>
              <a:t>Login or Register</a:t>
            </a:r>
            <a:endParaRPr lang="en-US" sz="1100" dirty="0"/>
          </a:p>
        </p:txBody>
      </p:sp>
      <p:sp>
        <p:nvSpPr>
          <p:cNvPr id="11" name="Flow home"/>
          <p:cNvSpPr/>
          <p:nvPr/>
        </p:nvSpPr>
        <p:spPr>
          <a:xfrm>
            <a:off x="5943600" y="1463040"/>
            <a:ext cx="822960" cy="457200"/>
          </a:xfrm>
          <a:prstGeom prst="roundRect">
            <a:avLst>
              <a:gd name="adj" fmla="val 12000"/>
            </a:avLst>
          </a:prstGeom>
          <a:solidFill>
            <a:schemeClr val="tx2"/>
          </a:solidFill>
          <a:ln w="12700">
            <a:solidFill>
              <a:schemeClr val="tx2"/>
            </a:solidFill>
            <a:prstDash val="solid"/>
          </a:ln>
        </p:spPr>
        <p:txBody>
          <a:bodyPr/>
          <a:lstStyle/>
          <a:p>
            <a:endParaRPr lang="en-ZA"/>
          </a:p>
        </p:txBody>
      </p:sp>
      <p:sp>
        <p:nvSpPr>
          <p:cNvPr id="12" name="Flow home text"/>
          <p:cNvSpPr txBox="1"/>
          <p:nvPr/>
        </p:nvSpPr>
        <p:spPr>
          <a:xfrm>
            <a:off x="5943600" y="1463040"/>
            <a:ext cx="822960" cy="457200"/>
          </a:xfrm>
          <a:prstGeom prst="rect">
            <a:avLst/>
          </a:prstGeom>
          <a:noFill/>
          <a:ln/>
        </p:spPr>
        <p:txBody>
          <a:bodyPr wrap="square" lIns="0" tIns="0" rIns="0" bIns="0" rtlCol="0" anchor="ctr"/>
          <a:lstStyle/>
          <a:p>
            <a:pPr marL="0" indent="0" algn="ctr">
              <a:buNone/>
            </a:pPr>
            <a:r>
              <a:rPr lang="en-US" sz="1100" b="1" dirty="0">
                <a:solidFill>
                  <a:schemeClr val="bg1"/>
                </a:solidFill>
              </a:rPr>
              <a:t>Home</a:t>
            </a:r>
            <a:endParaRPr lang="en-US" sz="1100" dirty="0"/>
          </a:p>
        </p:txBody>
      </p:sp>
      <p:sp>
        <p:nvSpPr>
          <p:cNvPr id="13" name="Flow apply"/>
          <p:cNvSpPr/>
          <p:nvPr/>
        </p:nvSpPr>
        <p:spPr>
          <a:xfrm>
            <a:off x="7040880" y="1463040"/>
            <a:ext cx="1188720" cy="457200"/>
          </a:xfrm>
          <a:prstGeom prst="roundRect">
            <a:avLst>
              <a:gd name="adj" fmla="val 12000"/>
            </a:avLst>
          </a:prstGeom>
          <a:solidFill>
            <a:schemeClr val="accent1"/>
          </a:solidFill>
          <a:ln w="12700">
            <a:solidFill>
              <a:schemeClr val="accent1"/>
            </a:solidFill>
            <a:prstDash val="solid"/>
          </a:ln>
        </p:spPr>
        <p:txBody>
          <a:bodyPr/>
          <a:lstStyle/>
          <a:p>
            <a:endParaRPr lang="en-ZA"/>
          </a:p>
        </p:txBody>
      </p:sp>
      <p:sp>
        <p:nvSpPr>
          <p:cNvPr id="14" name="Flow apply text"/>
          <p:cNvSpPr txBox="1"/>
          <p:nvPr/>
        </p:nvSpPr>
        <p:spPr>
          <a:xfrm>
            <a:off x="7040880" y="1463040"/>
            <a:ext cx="1188720" cy="457200"/>
          </a:xfrm>
          <a:prstGeom prst="rect">
            <a:avLst/>
          </a:prstGeom>
          <a:noFill/>
          <a:ln/>
        </p:spPr>
        <p:txBody>
          <a:bodyPr wrap="square" lIns="0" tIns="0" rIns="0" bIns="0" rtlCol="0" anchor="ctr"/>
          <a:lstStyle/>
          <a:p>
            <a:pPr marL="0" indent="0" algn="ctr">
              <a:buNone/>
            </a:pPr>
            <a:r>
              <a:rPr lang="en-US" sz="1100" b="1" dirty="0">
                <a:solidFill>
                  <a:schemeClr val="bg1"/>
                </a:solidFill>
              </a:rPr>
              <a:t>Apply (6 steps)</a:t>
            </a:r>
            <a:endParaRPr lang="en-US" sz="1100" dirty="0"/>
          </a:p>
        </p:txBody>
      </p:sp>
      <p:sp>
        <p:nvSpPr>
          <p:cNvPr id="15" name="Flow arrow 1"/>
          <p:cNvSpPr/>
          <p:nvPr/>
        </p:nvSpPr>
        <p:spPr>
          <a:xfrm>
            <a:off x="5669280" y="1691640"/>
            <a:ext cx="274320" cy="0"/>
          </a:xfrm>
          <a:prstGeom prst="line">
            <a:avLst/>
          </a:prstGeom>
          <a:noFill/>
          <a:ln w="25400">
            <a:solidFill>
              <a:schemeClr val="accent5"/>
            </a:solidFill>
            <a:prstDash val="solid"/>
            <a:tailEnd type="triangle"/>
          </a:ln>
        </p:spPr>
        <p:txBody>
          <a:bodyPr/>
          <a:lstStyle/>
          <a:p>
            <a:endParaRPr lang="en-ZA"/>
          </a:p>
        </p:txBody>
      </p:sp>
      <p:sp>
        <p:nvSpPr>
          <p:cNvPr id="16" name="Flow arrow 2"/>
          <p:cNvSpPr/>
          <p:nvPr/>
        </p:nvSpPr>
        <p:spPr>
          <a:xfrm>
            <a:off x="6766560" y="1691640"/>
            <a:ext cx="274320" cy="0"/>
          </a:xfrm>
          <a:prstGeom prst="line">
            <a:avLst/>
          </a:prstGeom>
          <a:noFill/>
          <a:ln w="25400">
            <a:solidFill>
              <a:schemeClr val="accent5"/>
            </a:solidFill>
            <a:prstDash val="solid"/>
            <a:tailEnd type="triangle"/>
          </a:ln>
        </p:spPr>
        <p:txBody>
          <a:bodyPr/>
          <a:lstStyle/>
          <a:p>
            <a:endParaRPr lang="en-ZA"/>
          </a:p>
        </p:txBody>
      </p:sp>
      <p:sp>
        <p:nvSpPr>
          <p:cNvPr id="17" name="Flow my apps"/>
          <p:cNvSpPr/>
          <p:nvPr/>
        </p:nvSpPr>
        <p:spPr>
          <a:xfrm>
            <a:off x="7040880" y="2286000"/>
            <a:ext cx="1188720" cy="457200"/>
          </a:xfrm>
          <a:prstGeom prst="roundRect">
            <a:avLst>
              <a:gd name="adj" fmla="val 12000"/>
            </a:avLst>
          </a:prstGeom>
          <a:solidFill>
            <a:schemeClr val="accent1"/>
          </a:solidFill>
          <a:ln w="12700">
            <a:solidFill>
              <a:schemeClr val="accent1"/>
            </a:solidFill>
            <a:prstDash val="solid"/>
          </a:ln>
        </p:spPr>
        <p:txBody>
          <a:bodyPr/>
          <a:lstStyle/>
          <a:p>
            <a:endParaRPr lang="en-ZA"/>
          </a:p>
        </p:txBody>
      </p:sp>
      <p:sp>
        <p:nvSpPr>
          <p:cNvPr id="18" name="Flow my apps text"/>
          <p:cNvSpPr txBox="1"/>
          <p:nvPr/>
        </p:nvSpPr>
        <p:spPr>
          <a:xfrm>
            <a:off x="7040880" y="2286000"/>
            <a:ext cx="1188720" cy="457200"/>
          </a:xfrm>
          <a:prstGeom prst="rect">
            <a:avLst/>
          </a:prstGeom>
          <a:noFill/>
          <a:ln/>
        </p:spPr>
        <p:txBody>
          <a:bodyPr wrap="square" lIns="0" tIns="0" rIns="0" bIns="0" rtlCol="0" anchor="ctr"/>
          <a:lstStyle/>
          <a:p>
            <a:pPr marL="0" indent="0" algn="ctr">
              <a:buNone/>
            </a:pPr>
            <a:r>
              <a:rPr lang="en-US" sz="1100" b="1" dirty="0">
                <a:solidFill>
                  <a:schemeClr val="bg1"/>
                </a:solidFill>
              </a:rPr>
              <a:t>My Applications</a:t>
            </a:r>
            <a:endParaRPr lang="en-US" sz="1100" dirty="0"/>
          </a:p>
        </p:txBody>
      </p:sp>
      <p:sp>
        <p:nvSpPr>
          <p:cNvPr id="19" name="Flow details"/>
          <p:cNvSpPr/>
          <p:nvPr/>
        </p:nvSpPr>
        <p:spPr>
          <a:xfrm>
            <a:off x="7040880" y="3108960"/>
            <a:ext cx="1188720" cy="457200"/>
          </a:xfrm>
          <a:prstGeom prst="roundRect">
            <a:avLst>
              <a:gd name="adj" fmla="val 12000"/>
            </a:avLst>
          </a:prstGeom>
          <a:solidFill>
            <a:schemeClr val="accent1"/>
          </a:solidFill>
          <a:ln w="12700">
            <a:solidFill>
              <a:schemeClr val="accent1"/>
            </a:solidFill>
            <a:prstDash val="solid"/>
          </a:ln>
        </p:spPr>
        <p:txBody>
          <a:bodyPr/>
          <a:lstStyle/>
          <a:p>
            <a:endParaRPr lang="en-ZA"/>
          </a:p>
        </p:txBody>
      </p:sp>
      <p:sp>
        <p:nvSpPr>
          <p:cNvPr id="20" name="Flow details text"/>
          <p:cNvSpPr txBox="1"/>
          <p:nvPr/>
        </p:nvSpPr>
        <p:spPr>
          <a:xfrm>
            <a:off x="7040880" y="3108960"/>
            <a:ext cx="1188720" cy="457200"/>
          </a:xfrm>
          <a:prstGeom prst="rect">
            <a:avLst/>
          </a:prstGeom>
          <a:noFill/>
          <a:ln/>
        </p:spPr>
        <p:txBody>
          <a:bodyPr wrap="square" lIns="0" tIns="0" rIns="0" bIns="0" rtlCol="0" anchor="ctr"/>
          <a:lstStyle/>
          <a:p>
            <a:pPr marL="0" indent="0" algn="ctr">
              <a:buNone/>
            </a:pPr>
            <a:r>
              <a:rPr lang="en-US" sz="1100" b="1" dirty="0">
                <a:solidFill>
                  <a:schemeClr val="bg1"/>
                </a:solidFill>
              </a:rPr>
              <a:t>Application details</a:t>
            </a:r>
            <a:endParaRPr lang="en-US" sz="1100" dirty="0"/>
          </a:p>
        </p:txBody>
      </p:sp>
      <p:sp>
        <p:nvSpPr>
          <p:cNvPr id="21" name="Flow arrow 3"/>
          <p:cNvSpPr/>
          <p:nvPr/>
        </p:nvSpPr>
        <p:spPr>
          <a:xfrm>
            <a:off x="7635240" y="1920240"/>
            <a:ext cx="0" cy="365760"/>
          </a:xfrm>
          <a:prstGeom prst="line">
            <a:avLst/>
          </a:prstGeom>
          <a:noFill/>
          <a:ln w="25400">
            <a:solidFill>
              <a:schemeClr val="accent5"/>
            </a:solidFill>
            <a:prstDash val="solid"/>
            <a:tailEnd type="triangle"/>
          </a:ln>
        </p:spPr>
        <p:txBody>
          <a:bodyPr/>
          <a:lstStyle/>
          <a:p>
            <a:endParaRPr lang="en-ZA"/>
          </a:p>
        </p:txBody>
      </p:sp>
      <p:sp>
        <p:nvSpPr>
          <p:cNvPr id="22" name="Flow arrow 4"/>
          <p:cNvSpPr/>
          <p:nvPr/>
        </p:nvSpPr>
        <p:spPr>
          <a:xfrm>
            <a:off x="7635240" y="2743200"/>
            <a:ext cx="0" cy="365760"/>
          </a:xfrm>
          <a:prstGeom prst="line">
            <a:avLst/>
          </a:prstGeom>
          <a:noFill/>
          <a:ln w="25400">
            <a:solidFill>
              <a:schemeClr val="accent5"/>
            </a:solidFill>
            <a:prstDash val="solid"/>
            <a:tailEnd type="triangle"/>
          </a:ln>
        </p:spPr>
        <p:txBody>
          <a:bodyPr/>
          <a:lstStyle/>
          <a:p>
            <a:endParaRPr lang="en-ZA"/>
          </a:p>
        </p:txBody>
      </p:sp>
      <p:sp>
        <p:nvSpPr>
          <p:cNvPr id="23" name="Flow updates"/>
          <p:cNvSpPr/>
          <p:nvPr/>
        </p:nvSpPr>
        <p:spPr>
          <a:xfrm>
            <a:off x="4572000" y="2286000"/>
            <a:ext cx="1188720" cy="457200"/>
          </a:xfrm>
          <a:prstGeom prst="roundRect">
            <a:avLst>
              <a:gd name="adj" fmla="val 12000"/>
            </a:avLst>
          </a:prstGeom>
          <a:solidFill>
            <a:schemeClr val="accent3"/>
          </a:solidFill>
          <a:ln w="12700">
            <a:solidFill>
              <a:schemeClr val="accent3"/>
            </a:solidFill>
            <a:prstDash val="solid"/>
          </a:ln>
        </p:spPr>
        <p:txBody>
          <a:bodyPr/>
          <a:lstStyle/>
          <a:p>
            <a:endParaRPr lang="en-ZA"/>
          </a:p>
        </p:txBody>
      </p:sp>
      <p:sp>
        <p:nvSpPr>
          <p:cNvPr id="24" name="Flow updates text"/>
          <p:cNvSpPr txBox="1"/>
          <p:nvPr/>
        </p:nvSpPr>
        <p:spPr>
          <a:xfrm>
            <a:off x="4572000" y="2286000"/>
            <a:ext cx="1188720" cy="457200"/>
          </a:xfrm>
          <a:prstGeom prst="rect">
            <a:avLst/>
          </a:prstGeom>
          <a:noFill/>
          <a:ln/>
        </p:spPr>
        <p:txBody>
          <a:bodyPr wrap="square" lIns="0" tIns="0" rIns="0" bIns="0" rtlCol="0" anchor="ctr"/>
          <a:lstStyle/>
          <a:p>
            <a:pPr marL="0" indent="0" algn="ctr">
              <a:buNone/>
            </a:pPr>
            <a:r>
              <a:rPr lang="en-US" sz="1100" b="1" dirty="0">
                <a:solidFill>
                  <a:schemeClr val="bg1"/>
                </a:solidFill>
              </a:rPr>
              <a:t>Updates</a:t>
            </a:r>
            <a:endParaRPr lang="en-US" sz="1100" dirty="0"/>
          </a:p>
        </p:txBody>
      </p:sp>
      <p:sp>
        <p:nvSpPr>
          <p:cNvPr id="25" name="Flow awards"/>
          <p:cNvSpPr/>
          <p:nvPr/>
        </p:nvSpPr>
        <p:spPr>
          <a:xfrm>
            <a:off x="4572000" y="2834640"/>
            <a:ext cx="1188720" cy="457200"/>
          </a:xfrm>
          <a:prstGeom prst="roundRect">
            <a:avLst>
              <a:gd name="adj" fmla="val 12000"/>
            </a:avLst>
          </a:prstGeom>
          <a:solidFill>
            <a:schemeClr val="accent3"/>
          </a:solidFill>
          <a:ln w="12700">
            <a:solidFill>
              <a:schemeClr val="accent3"/>
            </a:solidFill>
            <a:prstDash val="solid"/>
          </a:ln>
        </p:spPr>
        <p:txBody>
          <a:bodyPr/>
          <a:lstStyle/>
          <a:p>
            <a:endParaRPr lang="en-ZA"/>
          </a:p>
        </p:txBody>
      </p:sp>
      <p:sp>
        <p:nvSpPr>
          <p:cNvPr id="26" name="Flow awards text"/>
          <p:cNvSpPr txBox="1"/>
          <p:nvPr/>
        </p:nvSpPr>
        <p:spPr>
          <a:xfrm>
            <a:off x="4572000" y="2834640"/>
            <a:ext cx="1188720" cy="457200"/>
          </a:xfrm>
          <a:prstGeom prst="rect">
            <a:avLst/>
          </a:prstGeom>
          <a:noFill/>
          <a:ln/>
        </p:spPr>
        <p:txBody>
          <a:bodyPr wrap="square" lIns="0" tIns="0" rIns="0" bIns="0" rtlCol="0" anchor="ctr"/>
          <a:lstStyle/>
          <a:p>
            <a:pPr marL="0" indent="0" algn="ctr">
              <a:buNone/>
            </a:pPr>
            <a:r>
              <a:rPr lang="en-US" sz="1100" b="1" dirty="0">
                <a:solidFill>
                  <a:schemeClr val="bg1"/>
                </a:solidFill>
              </a:rPr>
              <a:t>Awards</a:t>
            </a:r>
            <a:endParaRPr lang="en-US" sz="1100" dirty="0"/>
          </a:p>
        </p:txBody>
      </p:sp>
      <p:sp>
        <p:nvSpPr>
          <p:cNvPr id="27" name="Flow profile"/>
          <p:cNvSpPr/>
          <p:nvPr/>
        </p:nvSpPr>
        <p:spPr>
          <a:xfrm>
            <a:off x="4572000" y="3383280"/>
            <a:ext cx="1188720" cy="457200"/>
          </a:xfrm>
          <a:prstGeom prst="roundRect">
            <a:avLst>
              <a:gd name="adj" fmla="val 12000"/>
            </a:avLst>
          </a:prstGeom>
          <a:solidFill>
            <a:schemeClr val="accent3"/>
          </a:solidFill>
          <a:ln w="12700">
            <a:solidFill>
              <a:schemeClr val="accent3"/>
            </a:solidFill>
            <a:prstDash val="solid"/>
          </a:ln>
        </p:spPr>
        <p:txBody>
          <a:bodyPr/>
          <a:lstStyle/>
          <a:p>
            <a:endParaRPr lang="en-ZA"/>
          </a:p>
        </p:txBody>
      </p:sp>
      <p:sp>
        <p:nvSpPr>
          <p:cNvPr id="28" name="Flow profile text"/>
          <p:cNvSpPr txBox="1"/>
          <p:nvPr/>
        </p:nvSpPr>
        <p:spPr>
          <a:xfrm>
            <a:off x="4572000" y="3383280"/>
            <a:ext cx="1188720" cy="457200"/>
          </a:xfrm>
          <a:prstGeom prst="rect">
            <a:avLst/>
          </a:prstGeom>
          <a:noFill/>
          <a:ln/>
        </p:spPr>
        <p:txBody>
          <a:bodyPr wrap="square" lIns="0" tIns="0" rIns="0" bIns="0" rtlCol="0" anchor="ctr"/>
          <a:lstStyle/>
          <a:p>
            <a:pPr marL="0" indent="0" algn="ctr">
              <a:buNone/>
            </a:pPr>
            <a:r>
              <a:rPr lang="en-US" sz="1100" b="1" dirty="0">
                <a:solidFill>
                  <a:schemeClr val="bg1"/>
                </a:solidFill>
              </a:rPr>
              <a:t>Profile</a:t>
            </a:r>
            <a:endParaRPr lang="en-US" sz="1100" dirty="0"/>
          </a:p>
        </p:txBody>
      </p:sp>
      <p:sp>
        <p:nvSpPr>
          <p:cNvPr id="29" name="Flow home note"/>
          <p:cNvSpPr txBox="1"/>
          <p:nvPr/>
        </p:nvSpPr>
        <p:spPr>
          <a:xfrm>
            <a:off x="5897880" y="2286000"/>
            <a:ext cx="1051560" cy="1097280"/>
          </a:xfrm>
          <a:prstGeom prst="rect">
            <a:avLst/>
          </a:prstGeom>
          <a:noFill/>
          <a:ln/>
        </p:spPr>
        <p:txBody>
          <a:bodyPr wrap="square" lIns="0" tIns="0" rIns="0" bIns="0" rtlCol="0" anchor="t"/>
          <a:lstStyle/>
          <a:p>
            <a:pPr marL="0" indent="0">
              <a:buNone/>
            </a:pPr>
            <a:r>
              <a:rPr lang="en-US" sz="1000" i="1" dirty="0">
                <a:solidFill>
                  <a:schemeClr val="accent5"/>
                </a:solidFill>
              </a:rPr>
              <a:t>Home also leads to Updates, Awards and Profile</a:t>
            </a:r>
            <a:endParaRPr lang="en-US" sz="1000" dirty="0"/>
          </a:p>
        </p:txBody>
      </p:sp>
      <p:sp>
        <p:nvSpPr>
          <p:cNvPr id="41"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ASP.NET web app</a:t>
            </a:r>
            <a:endParaRPr lang="en-US" sz="2800" dirty="0"/>
          </a:p>
        </p:txBody>
      </p:sp>
      <p:sp>
        <p:nvSpPr>
          <p:cNvPr id="3" name="Live demo tag"/>
          <p:cNvSpPr/>
          <p:nvPr/>
        </p:nvSpPr>
        <p:spPr>
          <a:xfrm>
            <a:off x="7498080" y="365760"/>
            <a:ext cx="1188720" cy="329184"/>
          </a:xfrm>
          <a:prstGeom prst="roundRect">
            <a:avLst>
              <a:gd name="adj" fmla="val 50000"/>
            </a:avLst>
          </a:prstGeom>
          <a:solidFill>
            <a:schemeClr val="accent2"/>
          </a:solidFill>
          <a:ln w="12700">
            <a:solidFill>
              <a:schemeClr val="accent2"/>
            </a:solidFill>
            <a:prstDash val="solid"/>
          </a:ln>
        </p:spPr>
        <p:txBody>
          <a:bodyPr/>
          <a:lstStyle/>
          <a:p>
            <a:endParaRPr lang="en-ZA"/>
          </a:p>
        </p:txBody>
      </p:sp>
      <p:sp>
        <p:nvSpPr>
          <p:cNvPr id="4" name="Live demo label"/>
          <p:cNvSpPr txBox="1"/>
          <p:nvPr/>
        </p:nvSpPr>
        <p:spPr>
          <a:xfrm>
            <a:off x="7498080" y="365760"/>
            <a:ext cx="1188720" cy="329184"/>
          </a:xfrm>
          <a:prstGeom prst="rect">
            <a:avLst/>
          </a:prstGeom>
          <a:noFill/>
          <a:ln/>
        </p:spPr>
        <p:txBody>
          <a:bodyPr wrap="square" lIns="0" tIns="0" rIns="0" bIns="0" rtlCol="0" anchor="ctr"/>
          <a:lstStyle/>
          <a:p>
            <a:pPr marL="0" indent="0" algn="ctr">
              <a:buNone/>
            </a:pPr>
            <a:r>
              <a:rPr lang="en-US" sz="1200" b="1" dirty="0">
                <a:solidFill>
                  <a:schemeClr val="bg1"/>
                </a:solidFill>
              </a:rPr>
              <a:t>LIVE DEMO</a:t>
            </a:r>
            <a:endParaRPr lang="en-US" sz="1200" dirty="0"/>
          </a:p>
        </p:txBody>
      </p:sp>
      <p:sp>
        <p:nvSpPr>
          <p:cNvPr id="5" name="Web functions card"/>
          <p:cNvSpPr/>
          <p:nvPr/>
        </p:nvSpPr>
        <p:spPr>
          <a:xfrm>
            <a:off x="457200" y="1097280"/>
            <a:ext cx="3749040" cy="2743200"/>
          </a:xfrm>
          <a:prstGeom prst="roundRect">
            <a:avLst>
              <a:gd name="adj" fmla="val 2667"/>
            </a:avLst>
          </a:prstGeom>
          <a:solidFill>
            <a:schemeClr val="bg2"/>
          </a:solidFill>
          <a:ln w="12700">
            <a:solidFill>
              <a:schemeClr val="bg2"/>
            </a:solidFill>
            <a:prstDash val="solid"/>
          </a:ln>
        </p:spPr>
        <p:txBody>
          <a:bodyPr/>
          <a:lstStyle/>
          <a:p>
            <a:endParaRPr lang="en-ZA"/>
          </a:p>
        </p:txBody>
      </p:sp>
      <p:sp>
        <p:nvSpPr>
          <p:cNvPr id="6" name="Web functions heading"/>
          <p:cNvSpPr txBox="1"/>
          <p:nvPr/>
        </p:nvSpPr>
        <p:spPr>
          <a:xfrm>
            <a:off x="640080" y="1170432"/>
            <a:ext cx="3383280" cy="320040"/>
          </a:xfrm>
          <a:prstGeom prst="rect">
            <a:avLst/>
          </a:prstGeom>
          <a:noFill/>
          <a:ln/>
        </p:spPr>
        <p:txBody>
          <a:bodyPr wrap="square" lIns="0" tIns="0" rIns="0" bIns="0" rtlCol="0" anchor="t"/>
          <a:lstStyle/>
          <a:p>
            <a:pPr marL="0" indent="0">
              <a:buNone/>
            </a:pPr>
            <a:r>
              <a:rPr lang="en-US" sz="1500" b="1" dirty="0">
                <a:solidFill>
                  <a:schemeClr val="tx2"/>
                </a:solidFill>
              </a:rPr>
              <a:t>What admins can do</a:t>
            </a:r>
            <a:endParaRPr lang="en-US" sz="1500" dirty="0"/>
          </a:p>
        </p:txBody>
      </p:sp>
      <p:sp>
        <p:nvSpPr>
          <p:cNvPr id="7" name="Web functions list"/>
          <p:cNvSpPr txBox="1"/>
          <p:nvPr/>
        </p:nvSpPr>
        <p:spPr>
          <a:xfrm>
            <a:off x="640080" y="1554480"/>
            <a:ext cx="3383280" cy="22860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Log in with the Admin role</a:t>
            </a:r>
            <a:endParaRPr lang="en-US" sz="1200" dirty="0"/>
          </a:p>
          <a:p>
            <a:pPr marL="342900" indent="-342900">
              <a:spcAft>
                <a:spcPts val="300"/>
              </a:spcAft>
              <a:buSzPct val="100000"/>
              <a:buChar char="•"/>
            </a:pPr>
            <a:r>
              <a:rPr lang="en-US" sz="1200" dirty="0">
                <a:solidFill>
                  <a:schemeClr val="tx1"/>
                </a:solidFill>
              </a:rPr>
              <a:t>See dashboard totals by status</a:t>
            </a:r>
            <a:endParaRPr lang="en-US" sz="1200" dirty="0"/>
          </a:p>
          <a:p>
            <a:pPr marL="342900" indent="-342900">
              <a:spcAft>
                <a:spcPts val="300"/>
              </a:spcAft>
              <a:buSzPct val="100000"/>
              <a:buChar char="•"/>
            </a:pPr>
            <a:r>
              <a:rPr lang="en-US" sz="1200" dirty="0">
                <a:solidFill>
                  <a:schemeClr val="tx1"/>
                </a:solidFill>
              </a:rPr>
              <a:t>Search and filter all applications</a:t>
            </a:r>
            <a:endParaRPr lang="en-US" sz="1200" dirty="0"/>
          </a:p>
          <a:p>
            <a:pPr marL="342900" indent="-342900">
              <a:spcAft>
                <a:spcPts val="300"/>
              </a:spcAft>
              <a:buSzPct val="100000"/>
              <a:buChar char="•"/>
            </a:pPr>
            <a:r>
              <a:rPr lang="en-US" sz="1200" dirty="0">
                <a:solidFill>
                  <a:schemeClr val="tx1"/>
                </a:solidFill>
              </a:rPr>
              <a:t>Open details and documents</a:t>
            </a:r>
            <a:endParaRPr lang="en-US" sz="1200" dirty="0"/>
          </a:p>
          <a:p>
            <a:pPr marL="342900" indent="-342900">
              <a:spcAft>
                <a:spcPts val="300"/>
              </a:spcAft>
              <a:buSzPct val="100000"/>
              <a:buChar char="•"/>
            </a:pPr>
            <a:r>
              <a:rPr lang="en-US" sz="1200" dirty="0">
                <a:solidFill>
                  <a:schemeClr val="tx1"/>
                </a:solidFill>
              </a:rPr>
              <a:t>Set status and add comments</a:t>
            </a:r>
            <a:endParaRPr lang="en-US" sz="1200" dirty="0"/>
          </a:p>
          <a:p>
            <a:pPr marL="342900" indent="-342900">
              <a:spcAft>
                <a:spcPts val="300"/>
              </a:spcAft>
              <a:buSzPct val="100000"/>
              <a:buChar char="•"/>
            </a:pPr>
            <a:r>
              <a:rPr lang="en-US" sz="1200" dirty="0">
                <a:solidFill>
                  <a:schemeClr val="tx1"/>
                </a:solidFill>
              </a:rPr>
              <a:t>Publish updates and achievements</a:t>
            </a:r>
            <a:endParaRPr lang="en-US" sz="1200" dirty="0"/>
          </a:p>
          <a:p>
            <a:pPr marL="342900" indent="-342900">
              <a:spcAft>
                <a:spcPts val="300"/>
              </a:spcAft>
              <a:buSzPct val="100000"/>
              <a:buChar char="•"/>
            </a:pPr>
            <a:r>
              <a:rPr lang="en-US" sz="1200" dirty="0">
                <a:solidFill>
                  <a:schemeClr val="tx1"/>
                </a:solidFill>
              </a:rPr>
              <a:t>Edit or delete content, and register admins as SuperAdmin</a:t>
            </a:r>
            <a:endParaRPr lang="en-US" sz="1200" dirty="0"/>
          </a:p>
        </p:txBody>
      </p:sp>
      <p:sp>
        <p:nvSpPr>
          <p:cNvPr id="8" name="Web flow heading"/>
          <p:cNvSpPr txBox="1"/>
          <p:nvPr/>
        </p:nvSpPr>
        <p:spPr>
          <a:xfrm>
            <a:off x="4480560" y="1097280"/>
            <a:ext cx="4206240" cy="274320"/>
          </a:xfrm>
          <a:prstGeom prst="rect">
            <a:avLst/>
          </a:prstGeom>
          <a:noFill/>
          <a:ln/>
        </p:spPr>
        <p:txBody>
          <a:bodyPr wrap="square" lIns="0" tIns="0" rIns="0" bIns="0" rtlCol="0" anchor="t"/>
          <a:lstStyle/>
          <a:p>
            <a:pPr marL="0" indent="0">
              <a:buNone/>
            </a:pPr>
            <a:r>
              <a:rPr lang="en-US" sz="1500" b="1" dirty="0">
                <a:solidFill>
                  <a:schemeClr val="tx2"/>
                </a:solidFill>
              </a:rPr>
              <a:t>Page flow</a:t>
            </a:r>
            <a:endParaRPr lang="en-US" sz="1500" dirty="0"/>
          </a:p>
        </p:txBody>
      </p:sp>
      <p:sp>
        <p:nvSpPr>
          <p:cNvPr id="9" name="Web login"/>
          <p:cNvSpPr/>
          <p:nvPr/>
        </p:nvSpPr>
        <p:spPr>
          <a:xfrm>
            <a:off x="4480560" y="1463040"/>
            <a:ext cx="822960" cy="457200"/>
          </a:xfrm>
          <a:prstGeom prst="roundRect">
            <a:avLst>
              <a:gd name="adj" fmla="val 12000"/>
            </a:avLst>
          </a:prstGeom>
          <a:solidFill>
            <a:schemeClr val="accent1"/>
          </a:solidFill>
          <a:ln w="12700">
            <a:solidFill>
              <a:schemeClr val="accent1"/>
            </a:solidFill>
            <a:prstDash val="solid"/>
          </a:ln>
        </p:spPr>
        <p:txBody>
          <a:bodyPr/>
          <a:lstStyle/>
          <a:p>
            <a:endParaRPr lang="en-ZA"/>
          </a:p>
        </p:txBody>
      </p:sp>
      <p:sp>
        <p:nvSpPr>
          <p:cNvPr id="10" name="Web login text"/>
          <p:cNvSpPr txBox="1"/>
          <p:nvPr/>
        </p:nvSpPr>
        <p:spPr>
          <a:xfrm>
            <a:off x="4480560" y="1463040"/>
            <a:ext cx="822960" cy="457200"/>
          </a:xfrm>
          <a:prstGeom prst="rect">
            <a:avLst/>
          </a:prstGeom>
          <a:noFill/>
          <a:ln/>
        </p:spPr>
        <p:txBody>
          <a:bodyPr wrap="square" lIns="0" tIns="0" rIns="0" bIns="0" rtlCol="0" anchor="ctr"/>
          <a:lstStyle/>
          <a:p>
            <a:pPr marL="0" indent="0" algn="ctr">
              <a:buNone/>
            </a:pPr>
            <a:r>
              <a:rPr lang="en-US" sz="1100" b="1" dirty="0">
                <a:solidFill>
                  <a:schemeClr val="bg1"/>
                </a:solidFill>
              </a:rPr>
              <a:t>Login</a:t>
            </a:r>
            <a:endParaRPr lang="en-US" sz="1100" dirty="0"/>
          </a:p>
        </p:txBody>
      </p:sp>
      <p:sp>
        <p:nvSpPr>
          <p:cNvPr id="11" name="Web dashboard"/>
          <p:cNvSpPr/>
          <p:nvPr/>
        </p:nvSpPr>
        <p:spPr>
          <a:xfrm>
            <a:off x="5577840" y="1463040"/>
            <a:ext cx="1097280" cy="457200"/>
          </a:xfrm>
          <a:prstGeom prst="roundRect">
            <a:avLst>
              <a:gd name="adj" fmla="val 12000"/>
            </a:avLst>
          </a:prstGeom>
          <a:solidFill>
            <a:schemeClr val="tx2"/>
          </a:solidFill>
          <a:ln w="12700">
            <a:solidFill>
              <a:schemeClr val="tx2"/>
            </a:solidFill>
            <a:prstDash val="solid"/>
          </a:ln>
        </p:spPr>
        <p:txBody>
          <a:bodyPr/>
          <a:lstStyle/>
          <a:p>
            <a:endParaRPr lang="en-ZA"/>
          </a:p>
        </p:txBody>
      </p:sp>
      <p:sp>
        <p:nvSpPr>
          <p:cNvPr id="12" name="Web dashboard text"/>
          <p:cNvSpPr txBox="1"/>
          <p:nvPr/>
        </p:nvSpPr>
        <p:spPr>
          <a:xfrm>
            <a:off x="5577840" y="1463040"/>
            <a:ext cx="1097280" cy="457200"/>
          </a:xfrm>
          <a:prstGeom prst="rect">
            <a:avLst/>
          </a:prstGeom>
          <a:noFill/>
          <a:ln/>
        </p:spPr>
        <p:txBody>
          <a:bodyPr wrap="square" lIns="0" tIns="0" rIns="0" bIns="0" rtlCol="0" anchor="ctr"/>
          <a:lstStyle/>
          <a:p>
            <a:pPr marL="0" indent="0" algn="ctr">
              <a:buNone/>
            </a:pPr>
            <a:r>
              <a:rPr lang="en-US" sz="1100" b="1" dirty="0">
                <a:solidFill>
                  <a:schemeClr val="bg1"/>
                </a:solidFill>
              </a:rPr>
              <a:t>Dashboard</a:t>
            </a:r>
            <a:endParaRPr lang="en-US" sz="1100" dirty="0"/>
          </a:p>
        </p:txBody>
      </p:sp>
      <p:sp>
        <p:nvSpPr>
          <p:cNvPr id="13" name="Web arrow 1"/>
          <p:cNvSpPr/>
          <p:nvPr/>
        </p:nvSpPr>
        <p:spPr>
          <a:xfrm>
            <a:off x="5303520" y="1691640"/>
            <a:ext cx="274320" cy="0"/>
          </a:xfrm>
          <a:prstGeom prst="line">
            <a:avLst/>
          </a:prstGeom>
          <a:noFill/>
          <a:ln w="25400">
            <a:solidFill>
              <a:schemeClr val="accent5"/>
            </a:solidFill>
            <a:prstDash val="solid"/>
            <a:tailEnd type="triangle"/>
          </a:ln>
        </p:spPr>
        <p:txBody>
          <a:bodyPr/>
          <a:lstStyle/>
          <a:p>
            <a:endParaRPr lang="en-ZA"/>
          </a:p>
        </p:txBody>
      </p:sp>
      <p:sp>
        <p:nvSpPr>
          <p:cNvPr id="14" name="Web apps"/>
          <p:cNvSpPr/>
          <p:nvPr/>
        </p:nvSpPr>
        <p:spPr>
          <a:xfrm>
            <a:off x="6949440" y="1463040"/>
            <a:ext cx="1280160" cy="457200"/>
          </a:xfrm>
          <a:prstGeom prst="roundRect">
            <a:avLst>
              <a:gd name="adj" fmla="val 12000"/>
            </a:avLst>
          </a:prstGeom>
          <a:solidFill>
            <a:schemeClr val="accent1"/>
          </a:solidFill>
          <a:ln w="12700">
            <a:solidFill>
              <a:schemeClr val="accent1"/>
            </a:solidFill>
            <a:prstDash val="solid"/>
          </a:ln>
        </p:spPr>
        <p:txBody>
          <a:bodyPr/>
          <a:lstStyle/>
          <a:p>
            <a:endParaRPr lang="en-ZA"/>
          </a:p>
        </p:txBody>
      </p:sp>
      <p:sp>
        <p:nvSpPr>
          <p:cNvPr id="15" name="Web apps text"/>
          <p:cNvSpPr txBox="1"/>
          <p:nvPr/>
        </p:nvSpPr>
        <p:spPr>
          <a:xfrm>
            <a:off x="6949440" y="1463040"/>
            <a:ext cx="1280160" cy="457200"/>
          </a:xfrm>
          <a:prstGeom prst="rect">
            <a:avLst/>
          </a:prstGeom>
          <a:noFill/>
          <a:ln/>
        </p:spPr>
        <p:txBody>
          <a:bodyPr wrap="square" lIns="0" tIns="0" rIns="0" bIns="0" rtlCol="0" anchor="ctr"/>
          <a:lstStyle/>
          <a:p>
            <a:pPr marL="0" indent="0" algn="ctr">
              <a:buNone/>
            </a:pPr>
            <a:r>
              <a:rPr lang="en-US" sz="1100" b="1" dirty="0">
                <a:solidFill>
                  <a:schemeClr val="bg1"/>
                </a:solidFill>
              </a:rPr>
              <a:t>Applications</a:t>
            </a:r>
            <a:endParaRPr lang="en-US" sz="1100" dirty="0"/>
          </a:p>
        </p:txBody>
      </p:sp>
      <p:sp>
        <p:nvSpPr>
          <p:cNvPr id="16" name="Web arrow 2"/>
          <p:cNvSpPr/>
          <p:nvPr/>
        </p:nvSpPr>
        <p:spPr>
          <a:xfrm>
            <a:off x="6675120" y="1691640"/>
            <a:ext cx="274320" cy="0"/>
          </a:xfrm>
          <a:prstGeom prst="line">
            <a:avLst/>
          </a:prstGeom>
          <a:noFill/>
          <a:ln w="25400">
            <a:solidFill>
              <a:schemeClr val="accent5"/>
            </a:solidFill>
            <a:prstDash val="solid"/>
            <a:tailEnd type="triangle"/>
          </a:ln>
        </p:spPr>
        <p:txBody>
          <a:bodyPr/>
          <a:lstStyle/>
          <a:p>
            <a:endParaRPr lang="en-ZA"/>
          </a:p>
        </p:txBody>
      </p:sp>
      <p:sp>
        <p:nvSpPr>
          <p:cNvPr id="17" name="Web detail"/>
          <p:cNvSpPr/>
          <p:nvPr/>
        </p:nvSpPr>
        <p:spPr>
          <a:xfrm>
            <a:off x="6949440" y="2286000"/>
            <a:ext cx="1280160" cy="457200"/>
          </a:xfrm>
          <a:prstGeom prst="roundRect">
            <a:avLst>
              <a:gd name="adj" fmla="val 12000"/>
            </a:avLst>
          </a:prstGeom>
          <a:solidFill>
            <a:schemeClr val="accent1"/>
          </a:solidFill>
          <a:ln w="12700">
            <a:solidFill>
              <a:schemeClr val="accent1"/>
            </a:solidFill>
            <a:prstDash val="solid"/>
          </a:ln>
        </p:spPr>
        <p:txBody>
          <a:bodyPr/>
          <a:lstStyle/>
          <a:p>
            <a:endParaRPr lang="en-ZA"/>
          </a:p>
        </p:txBody>
      </p:sp>
      <p:sp>
        <p:nvSpPr>
          <p:cNvPr id="18" name="Web detail text"/>
          <p:cNvSpPr txBox="1"/>
          <p:nvPr/>
        </p:nvSpPr>
        <p:spPr>
          <a:xfrm>
            <a:off x="6949440" y="2286000"/>
            <a:ext cx="1280160" cy="457200"/>
          </a:xfrm>
          <a:prstGeom prst="rect">
            <a:avLst/>
          </a:prstGeom>
          <a:noFill/>
          <a:ln/>
        </p:spPr>
        <p:txBody>
          <a:bodyPr wrap="square" lIns="0" tIns="0" rIns="0" bIns="0" rtlCol="0" anchor="ctr"/>
          <a:lstStyle/>
          <a:p>
            <a:pPr marL="0" indent="0" algn="ctr">
              <a:buNone/>
            </a:pPr>
            <a:r>
              <a:rPr lang="en-US" sz="1100" b="1" dirty="0">
                <a:solidFill>
                  <a:schemeClr val="bg1"/>
                </a:solidFill>
              </a:rPr>
              <a:t>Application detail</a:t>
            </a:r>
            <a:endParaRPr lang="en-US" sz="1100" dirty="0"/>
          </a:p>
        </p:txBody>
      </p:sp>
      <p:sp>
        <p:nvSpPr>
          <p:cNvPr id="19" name="Web arrow 3"/>
          <p:cNvSpPr/>
          <p:nvPr/>
        </p:nvSpPr>
        <p:spPr>
          <a:xfrm>
            <a:off x="7589520" y="1920240"/>
            <a:ext cx="0" cy="365760"/>
          </a:xfrm>
          <a:prstGeom prst="line">
            <a:avLst/>
          </a:prstGeom>
          <a:noFill/>
          <a:ln w="25400">
            <a:solidFill>
              <a:schemeClr val="accent5"/>
            </a:solidFill>
            <a:prstDash val="solid"/>
            <a:tailEnd type="triangle"/>
          </a:ln>
        </p:spPr>
        <p:txBody>
          <a:bodyPr/>
          <a:lstStyle/>
          <a:p>
            <a:endParaRPr lang="en-ZA"/>
          </a:p>
        </p:txBody>
      </p:sp>
      <p:sp>
        <p:nvSpPr>
          <p:cNvPr id="20" name="Web detail note"/>
          <p:cNvSpPr txBox="1"/>
          <p:nvPr/>
        </p:nvSpPr>
        <p:spPr>
          <a:xfrm>
            <a:off x="6949440" y="2788920"/>
            <a:ext cx="1280160" cy="548640"/>
          </a:xfrm>
          <a:prstGeom prst="rect">
            <a:avLst/>
          </a:prstGeom>
          <a:noFill/>
          <a:ln/>
        </p:spPr>
        <p:txBody>
          <a:bodyPr wrap="square" lIns="0" tIns="0" rIns="0" bIns="0" rtlCol="0" anchor="t"/>
          <a:lstStyle/>
          <a:p>
            <a:pPr marL="0" indent="0" algn="ctr">
              <a:buNone/>
            </a:pPr>
            <a:r>
              <a:rPr lang="en-US" sz="1000" i="1" dirty="0">
                <a:solidFill>
                  <a:schemeClr val="accent5"/>
                </a:solidFill>
              </a:rPr>
              <a:t>Set status</a:t>
            </a:r>
            <a:endParaRPr lang="en-US" sz="1000" dirty="0"/>
          </a:p>
          <a:p>
            <a:pPr marL="0" indent="0" algn="ctr">
              <a:buNone/>
            </a:pPr>
            <a:r>
              <a:rPr lang="en-US" sz="1000" i="1" dirty="0">
                <a:solidFill>
                  <a:schemeClr val="accent5"/>
                </a:solidFill>
              </a:rPr>
              <a:t>Add comment</a:t>
            </a:r>
            <a:endParaRPr lang="en-US" sz="1000" dirty="0"/>
          </a:p>
        </p:txBody>
      </p:sp>
      <p:sp>
        <p:nvSpPr>
          <p:cNvPr id="21" name="Web manage"/>
          <p:cNvSpPr/>
          <p:nvPr/>
        </p:nvSpPr>
        <p:spPr>
          <a:xfrm>
            <a:off x="4480560" y="2286000"/>
            <a:ext cx="1280160" cy="457200"/>
          </a:xfrm>
          <a:prstGeom prst="roundRect">
            <a:avLst>
              <a:gd name="adj" fmla="val 12000"/>
            </a:avLst>
          </a:prstGeom>
          <a:solidFill>
            <a:schemeClr val="accent3"/>
          </a:solidFill>
          <a:ln w="12700">
            <a:solidFill>
              <a:schemeClr val="accent3"/>
            </a:solidFill>
            <a:prstDash val="solid"/>
          </a:ln>
        </p:spPr>
        <p:txBody>
          <a:bodyPr/>
          <a:lstStyle/>
          <a:p>
            <a:endParaRPr lang="en-ZA"/>
          </a:p>
        </p:txBody>
      </p:sp>
      <p:sp>
        <p:nvSpPr>
          <p:cNvPr id="22" name="Web manage text"/>
          <p:cNvSpPr txBox="1"/>
          <p:nvPr/>
        </p:nvSpPr>
        <p:spPr>
          <a:xfrm>
            <a:off x="4480560" y="2286000"/>
            <a:ext cx="1280160" cy="457200"/>
          </a:xfrm>
          <a:prstGeom prst="rect">
            <a:avLst/>
          </a:prstGeom>
          <a:noFill/>
          <a:ln/>
        </p:spPr>
        <p:txBody>
          <a:bodyPr wrap="square" lIns="0" tIns="0" rIns="0" bIns="0" rtlCol="0" anchor="ctr"/>
          <a:lstStyle/>
          <a:p>
            <a:pPr marL="0" indent="0" algn="ctr">
              <a:buNone/>
            </a:pPr>
            <a:r>
              <a:rPr lang="en-US" sz="1100" b="1" dirty="0">
                <a:solidFill>
                  <a:schemeClr val="bg1"/>
                </a:solidFill>
              </a:rPr>
              <a:t>Manage Content</a:t>
            </a:r>
            <a:endParaRPr lang="en-US" sz="1100" dirty="0"/>
          </a:p>
        </p:txBody>
      </p:sp>
      <p:sp>
        <p:nvSpPr>
          <p:cNvPr id="23" name="Web arrow 4"/>
          <p:cNvSpPr/>
          <p:nvPr/>
        </p:nvSpPr>
        <p:spPr>
          <a:xfrm flipH="1">
            <a:off x="5120640" y="1920240"/>
            <a:ext cx="1005840" cy="365760"/>
          </a:xfrm>
          <a:prstGeom prst="line">
            <a:avLst/>
          </a:prstGeom>
          <a:noFill/>
          <a:ln w="25400">
            <a:solidFill>
              <a:schemeClr val="accent5"/>
            </a:solidFill>
            <a:prstDash val="solid"/>
            <a:tailEnd type="triangle"/>
          </a:ln>
        </p:spPr>
        <p:txBody>
          <a:bodyPr/>
          <a:lstStyle/>
          <a:p>
            <a:endParaRPr lang="en-ZA"/>
          </a:p>
        </p:txBody>
      </p:sp>
      <p:sp>
        <p:nvSpPr>
          <p:cNvPr id="24" name="Web update"/>
          <p:cNvSpPr/>
          <p:nvPr/>
        </p:nvSpPr>
        <p:spPr>
          <a:xfrm>
            <a:off x="4480560" y="3017520"/>
            <a:ext cx="1280160" cy="457200"/>
          </a:xfrm>
          <a:prstGeom prst="roundRect">
            <a:avLst>
              <a:gd name="adj" fmla="val 12000"/>
            </a:avLst>
          </a:prstGeom>
          <a:solidFill>
            <a:schemeClr val="accent3"/>
          </a:solidFill>
          <a:ln w="12700">
            <a:solidFill>
              <a:schemeClr val="accent3"/>
            </a:solidFill>
            <a:prstDash val="solid"/>
          </a:ln>
        </p:spPr>
        <p:txBody>
          <a:bodyPr/>
          <a:lstStyle/>
          <a:p>
            <a:endParaRPr lang="en-ZA"/>
          </a:p>
        </p:txBody>
      </p:sp>
      <p:sp>
        <p:nvSpPr>
          <p:cNvPr id="25" name="Web update text"/>
          <p:cNvSpPr txBox="1"/>
          <p:nvPr/>
        </p:nvSpPr>
        <p:spPr>
          <a:xfrm>
            <a:off x="4480560" y="3017520"/>
            <a:ext cx="1280160" cy="457200"/>
          </a:xfrm>
          <a:prstGeom prst="rect">
            <a:avLst/>
          </a:prstGeom>
          <a:noFill/>
          <a:ln/>
        </p:spPr>
        <p:txBody>
          <a:bodyPr wrap="square" lIns="0" tIns="0" rIns="0" bIns="0" rtlCol="0" anchor="ctr"/>
          <a:lstStyle/>
          <a:p>
            <a:pPr marL="0" indent="0" algn="ctr">
              <a:buNone/>
            </a:pPr>
            <a:r>
              <a:rPr lang="en-US" sz="1100" b="1" dirty="0">
                <a:solidFill>
                  <a:schemeClr val="bg1"/>
                </a:solidFill>
              </a:rPr>
              <a:t>Publish Update</a:t>
            </a:r>
            <a:endParaRPr lang="en-US" sz="1100" dirty="0"/>
          </a:p>
        </p:txBody>
      </p:sp>
      <p:sp>
        <p:nvSpPr>
          <p:cNvPr id="26" name="Web achievement"/>
          <p:cNvSpPr/>
          <p:nvPr/>
        </p:nvSpPr>
        <p:spPr>
          <a:xfrm>
            <a:off x="5852160" y="3017520"/>
            <a:ext cx="1371600" cy="457200"/>
          </a:xfrm>
          <a:prstGeom prst="roundRect">
            <a:avLst>
              <a:gd name="adj" fmla="val 12000"/>
            </a:avLst>
          </a:prstGeom>
          <a:solidFill>
            <a:schemeClr val="accent3"/>
          </a:solidFill>
          <a:ln w="12700">
            <a:solidFill>
              <a:schemeClr val="accent3"/>
            </a:solidFill>
            <a:prstDash val="solid"/>
          </a:ln>
        </p:spPr>
        <p:txBody>
          <a:bodyPr/>
          <a:lstStyle/>
          <a:p>
            <a:endParaRPr lang="en-ZA"/>
          </a:p>
        </p:txBody>
      </p:sp>
      <p:sp>
        <p:nvSpPr>
          <p:cNvPr id="27" name="Web achievement text"/>
          <p:cNvSpPr txBox="1"/>
          <p:nvPr/>
        </p:nvSpPr>
        <p:spPr>
          <a:xfrm>
            <a:off x="5852160" y="3017520"/>
            <a:ext cx="1371600" cy="457200"/>
          </a:xfrm>
          <a:prstGeom prst="rect">
            <a:avLst/>
          </a:prstGeom>
          <a:noFill/>
          <a:ln/>
        </p:spPr>
        <p:txBody>
          <a:bodyPr wrap="square" lIns="0" tIns="0" rIns="0" bIns="0" rtlCol="0" anchor="ctr"/>
          <a:lstStyle/>
          <a:p>
            <a:pPr marL="0" indent="0" algn="ctr">
              <a:buNone/>
            </a:pPr>
            <a:r>
              <a:rPr lang="en-US" sz="1100" b="1" dirty="0">
                <a:solidFill>
                  <a:schemeClr val="bg1"/>
                </a:solidFill>
              </a:rPr>
              <a:t>Publish Achievement</a:t>
            </a:r>
            <a:endParaRPr lang="en-US" sz="1100" dirty="0"/>
          </a:p>
        </p:txBody>
      </p:sp>
      <p:sp>
        <p:nvSpPr>
          <p:cNvPr id="28" name="Web arrow 5"/>
          <p:cNvSpPr/>
          <p:nvPr/>
        </p:nvSpPr>
        <p:spPr>
          <a:xfrm>
            <a:off x="5120640" y="2743200"/>
            <a:ext cx="0" cy="274320"/>
          </a:xfrm>
          <a:prstGeom prst="line">
            <a:avLst/>
          </a:prstGeom>
          <a:noFill/>
          <a:ln w="25400">
            <a:solidFill>
              <a:schemeClr val="accent5"/>
            </a:solidFill>
            <a:prstDash val="solid"/>
            <a:tailEnd type="triangle"/>
          </a:ln>
        </p:spPr>
        <p:txBody>
          <a:bodyPr/>
          <a:lstStyle/>
          <a:p>
            <a:endParaRPr lang="en-ZA"/>
          </a:p>
        </p:txBody>
      </p:sp>
      <p:sp>
        <p:nvSpPr>
          <p:cNvPr id="40"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E18F4-90EA-593F-FF1B-63FAEBF868DF}"/>
            </a:ext>
          </a:extLst>
        </p:cNvPr>
        <p:cNvGrpSpPr/>
        <p:nvPr/>
      </p:nvGrpSpPr>
      <p:grpSpPr>
        <a:xfrm>
          <a:off x="0" y="0"/>
          <a:ext cx="0" cy="0"/>
          <a:chOff x="0" y="0"/>
          <a:chExt cx="0" cy="0"/>
        </a:xfrm>
      </p:grpSpPr>
      <p:sp>
        <p:nvSpPr>
          <p:cNvPr id="3" name="Group">
            <a:extLst>
              <a:ext uri="{FF2B5EF4-FFF2-40B4-BE49-F238E27FC236}">
                <a16:creationId xmlns:a16="http://schemas.microsoft.com/office/drawing/2014/main" id="{325B5B21-650E-B22B-D15A-EAC6DE4F8914}"/>
              </a:ext>
            </a:extLst>
          </p:cNvPr>
          <p:cNvSpPr txBox="1"/>
          <p:nvPr/>
        </p:nvSpPr>
        <p:spPr>
          <a:xfrm>
            <a:off x="597625" y="1866182"/>
            <a:ext cx="1312817" cy="365760"/>
          </a:xfrm>
          <a:prstGeom prst="rect">
            <a:avLst/>
          </a:prstGeom>
          <a:noFill/>
          <a:ln/>
        </p:spPr>
        <p:txBody>
          <a:bodyPr wrap="square" lIns="0" tIns="0" rIns="0" bIns="0" rtlCol="0" anchor="t"/>
          <a:lstStyle/>
          <a:p>
            <a:pPr marL="0" indent="0">
              <a:buNone/>
            </a:pPr>
            <a:r>
              <a:rPr lang="en-US" sz="1600" dirty="0">
                <a:solidFill>
                  <a:schemeClr val="accent4"/>
                </a:solidFill>
              </a:rPr>
              <a:t>Section 5 </a:t>
            </a:r>
            <a:endParaRPr lang="en-US" sz="1600" dirty="0"/>
          </a:p>
        </p:txBody>
      </p:sp>
      <p:sp>
        <p:nvSpPr>
          <p:cNvPr id="5" name="Rectangle 4">
            <a:extLst>
              <a:ext uri="{FF2B5EF4-FFF2-40B4-BE49-F238E27FC236}">
                <a16:creationId xmlns:a16="http://schemas.microsoft.com/office/drawing/2014/main" id="{C37A7F27-C159-869A-F616-24DD51E13D7B}"/>
              </a:ext>
            </a:extLst>
          </p:cNvPr>
          <p:cNvSpPr/>
          <p:nvPr/>
        </p:nvSpPr>
        <p:spPr>
          <a:xfrm>
            <a:off x="597625" y="2350158"/>
            <a:ext cx="1545938" cy="61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2"/>
              </a:solidFill>
            </a:endParaRPr>
          </a:p>
        </p:txBody>
      </p:sp>
      <p:sp>
        <p:nvSpPr>
          <p:cNvPr id="7" name="Subtitle">
            <a:extLst>
              <a:ext uri="{FF2B5EF4-FFF2-40B4-BE49-F238E27FC236}">
                <a16:creationId xmlns:a16="http://schemas.microsoft.com/office/drawing/2014/main" id="{5DDBE254-8442-5558-F132-346259AD7007}"/>
              </a:ext>
            </a:extLst>
          </p:cNvPr>
          <p:cNvSpPr txBox="1"/>
          <p:nvPr/>
        </p:nvSpPr>
        <p:spPr>
          <a:xfrm>
            <a:off x="597625" y="2437682"/>
            <a:ext cx="4095206" cy="411480"/>
          </a:xfrm>
          <a:prstGeom prst="rect">
            <a:avLst/>
          </a:prstGeom>
          <a:noFill/>
          <a:ln/>
        </p:spPr>
        <p:txBody>
          <a:bodyPr wrap="square" lIns="0" tIns="0" rIns="0" bIns="0" rtlCol="0" anchor="t"/>
          <a:lstStyle/>
          <a:p>
            <a:pPr marL="0" indent="0">
              <a:buNone/>
            </a:pPr>
            <a:r>
              <a:rPr lang="en-US" sz="2000" dirty="0">
                <a:solidFill>
                  <a:schemeClr val="bg2"/>
                </a:solidFill>
              </a:rPr>
              <a:t>Project status and decisions</a:t>
            </a:r>
            <a:endParaRPr lang="en-US" sz="2000" dirty="0"/>
          </a:p>
        </p:txBody>
      </p:sp>
      <p:sp>
        <p:nvSpPr>
          <p:cNvPr id="9" name="Members">
            <a:extLst>
              <a:ext uri="{FF2B5EF4-FFF2-40B4-BE49-F238E27FC236}">
                <a16:creationId xmlns:a16="http://schemas.microsoft.com/office/drawing/2014/main" id="{99DC265D-93C8-0946-F9C3-64FEB1411C7D}"/>
              </a:ext>
            </a:extLst>
          </p:cNvPr>
          <p:cNvSpPr txBox="1"/>
          <p:nvPr/>
        </p:nvSpPr>
        <p:spPr>
          <a:xfrm>
            <a:off x="587829" y="2849162"/>
            <a:ext cx="7008222" cy="411480"/>
          </a:xfrm>
          <a:prstGeom prst="rect">
            <a:avLst/>
          </a:prstGeom>
          <a:noFill/>
          <a:ln/>
        </p:spPr>
        <p:txBody>
          <a:bodyPr wrap="square" lIns="0" tIns="0" rIns="0" bIns="0" rtlCol="0" anchor="t"/>
          <a:lstStyle/>
          <a:p>
            <a:pPr marL="0" indent="0">
              <a:buNone/>
            </a:pPr>
            <a:r>
              <a:rPr lang="en-US" sz="1200" dirty="0">
                <a:solidFill>
                  <a:schemeClr val="bg2"/>
                </a:solidFill>
              </a:rPr>
              <a:t>Discuss key decisions taken during implementation, risks changes to the project and the status of the project</a:t>
            </a:r>
            <a:endParaRPr lang="en-US" sz="1200" dirty="0"/>
          </a:p>
        </p:txBody>
      </p:sp>
    </p:spTree>
    <p:extLst>
      <p:ext uri="{BB962C8B-B14F-4D97-AF65-F5344CB8AC3E}">
        <p14:creationId xmlns:p14="http://schemas.microsoft.com/office/powerpoint/2010/main" val="2833542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Key implementation decisions</a:t>
            </a:r>
            <a:endParaRPr lang="en-US" sz="2800" dirty="0"/>
          </a:p>
        </p:txBody>
      </p:sp>
      <p:sp>
        <p:nvSpPr>
          <p:cNvPr id="3" name="Decision card 1"/>
          <p:cNvSpPr/>
          <p:nvPr/>
        </p:nvSpPr>
        <p:spPr>
          <a:xfrm>
            <a:off x="457200" y="1097280"/>
            <a:ext cx="2651760" cy="1645920"/>
          </a:xfrm>
          <a:prstGeom prst="roundRect">
            <a:avLst>
              <a:gd name="adj" fmla="val 4444"/>
            </a:avLst>
          </a:prstGeom>
          <a:solidFill>
            <a:schemeClr val="bg2"/>
          </a:solidFill>
          <a:ln w="12700">
            <a:solidFill>
              <a:schemeClr val="bg2"/>
            </a:solidFill>
            <a:prstDash val="solid"/>
          </a:ln>
        </p:spPr>
        <p:txBody>
          <a:bodyPr/>
          <a:lstStyle/>
          <a:p>
            <a:endParaRPr lang="en-ZA"/>
          </a:p>
        </p:txBody>
      </p:sp>
      <p:sp>
        <p:nvSpPr>
          <p:cNvPr id="4" name="Decision icon 1 circle"/>
          <p:cNvSpPr/>
          <p:nvPr/>
        </p:nvSpPr>
        <p:spPr>
          <a:xfrm>
            <a:off x="594360" y="123444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5" name="Decision icon 1" descr="Decision icon 1"/>
          <p:cNvPicPr>
            <a:picLocks noChangeAspect="1"/>
          </p:cNvPicPr>
          <p:nvPr/>
        </p:nvPicPr>
        <p:blipFill>
          <a:blip r:embed="rId3"/>
          <a:stretch>
            <a:fillRect/>
          </a:stretch>
        </p:blipFill>
        <p:spPr>
          <a:xfrm>
            <a:off x="713232" y="1353312"/>
            <a:ext cx="219456" cy="219456"/>
          </a:xfrm>
          <a:prstGeom prst="rect">
            <a:avLst/>
          </a:prstGeom>
        </p:spPr>
      </p:pic>
      <p:sp>
        <p:nvSpPr>
          <p:cNvPr id="6" name="Decision heading 1"/>
          <p:cNvSpPr txBox="1"/>
          <p:nvPr/>
        </p:nvSpPr>
        <p:spPr>
          <a:xfrm>
            <a:off x="1143000" y="1188720"/>
            <a:ext cx="1874520" cy="548640"/>
          </a:xfrm>
          <a:prstGeom prst="rect">
            <a:avLst/>
          </a:prstGeom>
          <a:noFill/>
          <a:ln/>
        </p:spPr>
        <p:txBody>
          <a:bodyPr wrap="square" lIns="0" tIns="0" rIns="0" bIns="0" rtlCol="0" anchor="ctr"/>
          <a:lstStyle/>
          <a:p>
            <a:pPr marL="0" indent="0">
              <a:buNone/>
            </a:pPr>
            <a:r>
              <a:rPr lang="en-US" sz="1300" b="1" dirty="0">
                <a:solidFill>
                  <a:schemeClr val="tx2"/>
                </a:solidFill>
              </a:rPr>
              <a:t>Supabase as the only integration point</a:t>
            </a:r>
            <a:endParaRPr lang="en-US" sz="1300" dirty="0"/>
          </a:p>
        </p:txBody>
      </p:sp>
      <p:sp>
        <p:nvSpPr>
          <p:cNvPr id="7" name="Decision text 1"/>
          <p:cNvSpPr txBox="1"/>
          <p:nvPr/>
        </p:nvSpPr>
        <p:spPr>
          <a:xfrm>
            <a:off x="594360" y="1828800"/>
            <a:ext cx="2377440" cy="868680"/>
          </a:xfrm>
          <a:prstGeom prst="rect">
            <a:avLst/>
          </a:prstGeom>
          <a:noFill/>
          <a:ln/>
        </p:spPr>
        <p:txBody>
          <a:bodyPr wrap="square" lIns="0" tIns="0" rIns="0" bIns="0" rtlCol="0" anchor="t"/>
          <a:lstStyle/>
          <a:p>
            <a:pPr marL="0" indent="0">
              <a:buNone/>
            </a:pPr>
            <a:r>
              <a:rPr lang="en-US" sz="1200" dirty="0">
                <a:solidFill>
                  <a:schemeClr val="tx1"/>
                </a:solidFill>
              </a:rPr>
              <a:t>No custom API between the apps. Both use the same project, which is what IR1 to IR4 require.</a:t>
            </a:r>
            <a:endParaRPr lang="en-US" sz="1200" dirty="0"/>
          </a:p>
        </p:txBody>
      </p:sp>
      <p:sp>
        <p:nvSpPr>
          <p:cNvPr id="8" name="Decision card 2"/>
          <p:cNvSpPr/>
          <p:nvPr/>
        </p:nvSpPr>
        <p:spPr>
          <a:xfrm>
            <a:off x="3246120" y="1097280"/>
            <a:ext cx="2651760" cy="1645920"/>
          </a:xfrm>
          <a:prstGeom prst="roundRect">
            <a:avLst>
              <a:gd name="adj" fmla="val 4444"/>
            </a:avLst>
          </a:prstGeom>
          <a:solidFill>
            <a:schemeClr val="bg2"/>
          </a:solidFill>
          <a:ln w="12700">
            <a:solidFill>
              <a:schemeClr val="bg2"/>
            </a:solidFill>
            <a:prstDash val="solid"/>
          </a:ln>
        </p:spPr>
        <p:txBody>
          <a:bodyPr/>
          <a:lstStyle/>
          <a:p>
            <a:endParaRPr lang="en-ZA"/>
          </a:p>
        </p:txBody>
      </p:sp>
      <p:sp>
        <p:nvSpPr>
          <p:cNvPr id="9" name="Decision icon 2 circle"/>
          <p:cNvSpPr/>
          <p:nvPr/>
        </p:nvSpPr>
        <p:spPr>
          <a:xfrm>
            <a:off x="3383280" y="123444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10" name="Decision icon 2" descr="Decision icon 2"/>
          <p:cNvPicPr>
            <a:picLocks noChangeAspect="1"/>
          </p:cNvPicPr>
          <p:nvPr/>
        </p:nvPicPr>
        <p:blipFill>
          <a:blip r:embed="rId4"/>
          <a:stretch>
            <a:fillRect/>
          </a:stretch>
        </p:blipFill>
        <p:spPr>
          <a:xfrm>
            <a:off x="3502152" y="1353312"/>
            <a:ext cx="219456" cy="219456"/>
          </a:xfrm>
          <a:prstGeom prst="rect">
            <a:avLst/>
          </a:prstGeom>
        </p:spPr>
      </p:pic>
      <p:sp>
        <p:nvSpPr>
          <p:cNvPr id="11" name="Decision heading 2"/>
          <p:cNvSpPr txBox="1"/>
          <p:nvPr/>
        </p:nvSpPr>
        <p:spPr>
          <a:xfrm>
            <a:off x="3931920" y="1188720"/>
            <a:ext cx="1874520" cy="548640"/>
          </a:xfrm>
          <a:prstGeom prst="rect">
            <a:avLst/>
          </a:prstGeom>
          <a:noFill/>
          <a:ln/>
        </p:spPr>
        <p:txBody>
          <a:bodyPr wrap="square" lIns="0" tIns="0" rIns="0" bIns="0" rtlCol="0" anchor="ctr"/>
          <a:lstStyle/>
          <a:p>
            <a:pPr marL="0" indent="0">
              <a:buNone/>
            </a:pPr>
            <a:r>
              <a:rPr lang="en-US" sz="1300" b="1" dirty="0">
                <a:solidFill>
                  <a:schemeClr val="tx2"/>
                </a:solidFill>
              </a:rPr>
              <a:t>Roles in the profiles table</a:t>
            </a:r>
            <a:endParaRPr lang="en-US" sz="1300" dirty="0"/>
          </a:p>
        </p:txBody>
      </p:sp>
      <p:sp>
        <p:nvSpPr>
          <p:cNvPr id="12" name="Decision text 2"/>
          <p:cNvSpPr txBox="1"/>
          <p:nvPr/>
        </p:nvSpPr>
        <p:spPr>
          <a:xfrm>
            <a:off x="3383280" y="1828800"/>
            <a:ext cx="2377440" cy="868680"/>
          </a:xfrm>
          <a:prstGeom prst="rect">
            <a:avLst/>
          </a:prstGeom>
          <a:noFill/>
          <a:ln/>
        </p:spPr>
        <p:txBody>
          <a:bodyPr wrap="square" lIns="0" tIns="0" rIns="0" bIns="0" rtlCol="0" anchor="t"/>
          <a:lstStyle/>
          <a:p>
            <a:pPr marL="0" indent="0">
              <a:buNone/>
            </a:pPr>
            <a:r>
              <a:rPr lang="en-US" sz="1200" dirty="0">
                <a:solidFill>
                  <a:schemeClr val="tx1"/>
                </a:solidFill>
              </a:rPr>
              <a:t>One place decides what Parent, Admin and SuperAdmin can reach, checked on the server.</a:t>
            </a:r>
            <a:endParaRPr lang="en-US" sz="1200" dirty="0"/>
          </a:p>
        </p:txBody>
      </p:sp>
      <p:sp>
        <p:nvSpPr>
          <p:cNvPr id="13" name="Decision card 3"/>
          <p:cNvSpPr/>
          <p:nvPr/>
        </p:nvSpPr>
        <p:spPr>
          <a:xfrm>
            <a:off x="6035040" y="1097280"/>
            <a:ext cx="2651760" cy="1645920"/>
          </a:xfrm>
          <a:prstGeom prst="roundRect">
            <a:avLst>
              <a:gd name="adj" fmla="val 4444"/>
            </a:avLst>
          </a:prstGeom>
          <a:solidFill>
            <a:schemeClr val="bg2"/>
          </a:solidFill>
          <a:ln w="12700">
            <a:solidFill>
              <a:schemeClr val="bg2"/>
            </a:solidFill>
            <a:prstDash val="solid"/>
          </a:ln>
        </p:spPr>
        <p:txBody>
          <a:bodyPr/>
          <a:lstStyle/>
          <a:p>
            <a:endParaRPr lang="en-ZA"/>
          </a:p>
        </p:txBody>
      </p:sp>
      <p:sp>
        <p:nvSpPr>
          <p:cNvPr id="14" name="Decision icon 3 circle"/>
          <p:cNvSpPr/>
          <p:nvPr/>
        </p:nvSpPr>
        <p:spPr>
          <a:xfrm>
            <a:off x="6172200" y="123444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15" name="Decision icon 3" descr="Decision icon 3"/>
          <p:cNvPicPr>
            <a:picLocks noChangeAspect="1"/>
          </p:cNvPicPr>
          <p:nvPr/>
        </p:nvPicPr>
        <p:blipFill>
          <a:blip r:embed="rId5"/>
          <a:stretch>
            <a:fillRect/>
          </a:stretch>
        </p:blipFill>
        <p:spPr>
          <a:xfrm>
            <a:off x="6291072" y="1353312"/>
            <a:ext cx="219456" cy="219456"/>
          </a:xfrm>
          <a:prstGeom prst="rect">
            <a:avLst/>
          </a:prstGeom>
        </p:spPr>
      </p:pic>
      <p:sp>
        <p:nvSpPr>
          <p:cNvPr id="16" name="Decision heading 3"/>
          <p:cNvSpPr txBox="1"/>
          <p:nvPr/>
        </p:nvSpPr>
        <p:spPr>
          <a:xfrm>
            <a:off x="6720840" y="1188720"/>
            <a:ext cx="1874520" cy="548640"/>
          </a:xfrm>
          <a:prstGeom prst="rect">
            <a:avLst/>
          </a:prstGeom>
          <a:noFill/>
          <a:ln/>
        </p:spPr>
        <p:txBody>
          <a:bodyPr wrap="square" lIns="0" tIns="0" rIns="0" bIns="0" rtlCol="0" anchor="ctr"/>
          <a:lstStyle/>
          <a:p>
            <a:pPr marL="0" indent="0">
              <a:buNone/>
            </a:pPr>
            <a:r>
              <a:rPr lang="en-US" sz="1300" b="1" dirty="0">
                <a:solidFill>
                  <a:schemeClr val="tx2"/>
                </a:solidFill>
              </a:rPr>
              <a:t>MVVM and MVC</a:t>
            </a:r>
            <a:endParaRPr lang="en-US" sz="1300" dirty="0"/>
          </a:p>
        </p:txBody>
      </p:sp>
      <p:sp>
        <p:nvSpPr>
          <p:cNvPr id="17" name="Decision text 3"/>
          <p:cNvSpPr txBox="1"/>
          <p:nvPr/>
        </p:nvSpPr>
        <p:spPr>
          <a:xfrm>
            <a:off x="6172200" y="1828800"/>
            <a:ext cx="2377440" cy="868680"/>
          </a:xfrm>
          <a:prstGeom prst="rect">
            <a:avLst/>
          </a:prstGeom>
          <a:noFill/>
          <a:ln/>
        </p:spPr>
        <p:txBody>
          <a:bodyPr wrap="square" lIns="0" tIns="0" rIns="0" bIns="0" rtlCol="0" anchor="t"/>
          <a:lstStyle/>
          <a:p>
            <a:pPr marL="0" indent="0">
              <a:buNone/>
            </a:pPr>
            <a:r>
              <a:rPr lang="en-US" sz="1200" dirty="0">
                <a:solidFill>
                  <a:schemeClr val="tx1"/>
                </a:solidFill>
              </a:rPr>
              <a:t>Each app follows the pattern that suits its platform, with matching models and table names.</a:t>
            </a:r>
            <a:endParaRPr lang="en-US" sz="1200" dirty="0"/>
          </a:p>
        </p:txBody>
      </p:sp>
      <p:sp>
        <p:nvSpPr>
          <p:cNvPr id="18" name="Decision card 4"/>
          <p:cNvSpPr/>
          <p:nvPr/>
        </p:nvSpPr>
        <p:spPr>
          <a:xfrm>
            <a:off x="457200" y="2880360"/>
            <a:ext cx="2651760" cy="1645920"/>
          </a:xfrm>
          <a:prstGeom prst="roundRect">
            <a:avLst>
              <a:gd name="adj" fmla="val 4444"/>
            </a:avLst>
          </a:prstGeom>
          <a:solidFill>
            <a:schemeClr val="bg2"/>
          </a:solidFill>
          <a:ln w="12700">
            <a:solidFill>
              <a:schemeClr val="bg2"/>
            </a:solidFill>
            <a:prstDash val="solid"/>
          </a:ln>
        </p:spPr>
        <p:txBody>
          <a:bodyPr/>
          <a:lstStyle/>
          <a:p>
            <a:endParaRPr lang="en-ZA"/>
          </a:p>
        </p:txBody>
      </p:sp>
      <p:sp>
        <p:nvSpPr>
          <p:cNvPr id="19" name="Decision icon 4 circle"/>
          <p:cNvSpPr/>
          <p:nvPr/>
        </p:nvSpPr>
        <p:spPr>
          <a:xfrm>
            <a:off x="594360" y="301752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20" name="Decision icon 4" descr="Decision icon 4"/>
          <p:cNvPicPr>
            <a:picLocks noChangeAspect="1"/>
          </p:cNvPicPr>
          <p:nvPr/>
        </p:nvPicPr>
        <p:blipFill>
          <a:blip r:embed="rId6"/>
          <a:stretch>
            <a:fillRect/>
          </a:stretch>
        </p:blipFill>
        <p:spPr>
          <a:xfrm>
            <a:off x="713232" y="3136392"/>
            <a:ext cx="219456" cy="219456"/>
          </a:xfrm>
          <a:prstGeom prst="rect">
            <a:avLst/>
          </a:prstGeom>
        </p:spPr>
      </p:pic>
      <p:sp>
        <p:nvSpPr>
          <p:cNvPr id="21" name="Decision heading 4"/>
          <p:cNvSpPr txBox="1"/>
          <p:nvPr/>
        </p:nvSpPr>
        <p:spPr>
          <a:xfrm>
            <a:off x="1143000" y="2971800"/>
            <a:ext cx="1874520" cy="548640"/>
          </a:xfrm>
          <a:prstGeom prst="rect">
            <a:avLst/>
          </a:prstGeom>
          <a:noFill/>
          <a:ln/>
        </p:spPr>
        <p:txBody>
          <a:bodyPr wrap="square" lIns="0" tIns="0" rIns="0" bIns="0" rtlCol="0" anchor="ctr"/>
          <a:lstStyle/>
          <a:p>
            <a:pPr marL="0" indent="0">
              <a:buNone/>
            </a:pPr>
            <a:r>
              <a:rPr lang="en-US" sz="1300" b="1" dirty="0">
                <a:solidFill>
                  <a:schemeClr val="tx2"/>
                </a:solidFill>
              </a:rPr>
              <a:t>Six-step application form</a:t>
            </a:r>
            <a:endParaRPr lang="en-US" sz="1300" dirty="0"/>
          </a:p>
        </p:txBody>
      </p:sp>
      <p:sp>
        <p:nvSpPr>
          <p:cNvPr id="22" name="Decision text 4"/>
          <p:cNvSpPr txBox="1"/>
          <p:nvPr/>
        </p:nvSpPr>
        <p:spPr>
          <a:xfrm>
            <a:off x="594360" y="3611880"/>
            <a:ext cx="2377440" cy="868680"/>
          </a:xfrm>
          <a:prstGeom prst="rect">
            <a:avLst/>
          </a:prstGeom>
          <a:noFill/>
          <a:ln/>
        </p:spPr>
        <p:txBody>
          <a:bodyPr wrap="square" lIns="0" tIns="0" rIns="0" bIns="0" rtlCol="0" anchor="t"/>
          <a:lstStyle/>
          <a:p>
            <a:pPr marL="0" indent="0">
              <a:buNone/>
            </a:pPr>
            <a:r>
              <a:rPr lang="en-US" sz="1200" dirty="0">
                <a:solidFill>
                  <a:schemeClr val="tx1"/>
                </a:solidFill>
              </a:rPr>
              <a:t>Splitting the form into steps and validating each step reduces wrongly filled forms (NR4).</a:t>
            </a:r>
            <a:endParaRPr lang="en-US" sz="1200" dirty="0"/>
          </a:p>
        </p:txBody>
      </p:sp>
      <p:sp>
        <p:nvSpPr>
          <p:cNvPr id="23" name="Decision card 5"/>
          <p:cNvSpPr/>
          <p:nvPr/>
        </p:nvSpPr>
        <p:spPr>
          <a:xfrm>
            <a:off x="3246120" y="2880360"/>
            <a:ext cx="2651760" cy="1645920"/>
          </a:xfrm>
          <a:prstGeom prst="roundRect">
            <a:avLst>
              <a:gd name="adj" fmla="val 4444"/>
            </a:avLst>
          </a:prstGeom>
          <a:solidFill>
            <a:schemeClr val="bg2"/>
          </a:solidFill>
          <a:ln w="12700">
            <a:solidFill>
              <a:schemeClr val="bg2"/>
            </a:solidFill>
            <a:prstDash val="solid"/>
          </a:ln>
        </p:spPr>
        <p:txBody>
          <a:bodyPr/>
          <a:lstStyle/>
          <a:p>
            <a:endParaRPr lang="en-ZA"/>
          </a:p>
        </p:txBody>
      </p:sp>
      <p:sp>
        <p:nvSpPr>
          <p:cNvPr id="24" name="Decision icon 5 circle"/>
          <p:cNvSpPr/>
          <p:nvPr/>
        </p:nvSpPr>
        <p:spPr>
          <a:xfrm>
            <a:off x="3383280" y="301752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25" name="Decision icon 5" descr="Decision icon 5"/>
          <p:cNvPicPr>
            <a:picLocks noChangeAspect="1"/>
          </p:cNvPicPr>
          <p:nvPr/>
        </p:nvPicPr>
        <p:blipFill>
          <a:blip r:embed="rId7"/>
          <a:stretch>
            <a:fillRect/>
          </a:stretch>
        </p:blipFill>
        <p:spPr>
          <a:xfrm>
            <a:off x="3502152" y="3136392"/>
            <a:ext cx="219456" cy="219456"/>
          </a:xfrm>
          <a:prstGeom prst="rect">
            <a:avLst/>
          </a:prstGeom>
        </p:spPr>
      </p:pic>
      <p:sp>
        <p:nvSpPr>
          <p:cNvPr id="26" name="Decision heading 5"/>
          <p:cNvSpPr txBox="1"/>
          <p:nvPr/>
        </p:nvSpPr>
        <p:spPr>
          <a:xfrm>
            <a:off x="3931920" y="2971800"/>
            <a:ext cx="1874520" cy="548640"/>
          </a:xfrm>
          <a:prstGeom prst="rect">
            <a:avLst/>
          </a:prstGeom>
          <a:noFill/>
          <a:ln/>
        </p:spPr>
        <p:txBody>
          <a:bodyPr wrap="square" lIns="0" tIns="0" rIns="0" bIns="0" rtlCol="0" anchor="ctr"/>
          <a:lstStyle/>
          <a:p>
            <a:pPr marL="0" indent="0">
              <a:buNone/>
            </a:pPr>
            <a:r>
              <a:rPr lang="en-US" sz="1300" b="1" dirty="0">
                <a:solidFill>
                  <a:schemeClr val="tx2"/>
                </a:solidFill>
              </a:rPr>
              <a:t>Files in storage, links in the database</a:t>
            </a:r>
            <a:endParaRPr lang="en-US" sz="1300" dirty="0"/>
          </a:p>
        </p:txBody>
      </p:sp>
      <p:sp>
        <p:nvSpPr>
          <p:cNvPr id="27" name="Decision text 5"/>
          <p:cNvSpPr txBox="1"/>
          <p:nvPr/>
        </p:nvSpPr>
        <p:spPr>
          <a:xfrm>
            <a:off x="3383280" y="3611880"/>
            <a:ext cx="2377440" cy="868680"/>
          </a:xfrm>
          <a:prstGeom prst="rect">
            <a:avLst/>
          </a:prstGeom>
          <a:noFill/>
          <a:ln/>
        </p:spPr>
        <p:txBody>
          <a:bodyPr wrap="square" lIns="0" tIns="0" rIns="0" bIns="0" rtlCol="0" anchor="t"/>
          <a:lstStyle/>
          <a:p>
            <a:pPr marL="0" indent="0">
              <a:buNone/>
            </a:pPr>
            <a:r>
              <a:rPr lang="en-US" sz="1200" dirty="0">
                <a:solidFill>
                  <a:schemeClr val="tx1"/>
                </a:solidFill>
              </a:rPr>
              <a:t>Documents and photos sit in storage buckets; tables hold only the links.</a:t>
            </a:r>
            <a:endParaRPr lang="en-US" sz="1200" dirty="0"/>
          </a:p>
        </p:txBody>
      </p:sp>
      <p:sp>
        <p:nvSpPr>
          <p:cNvPr id="28" name="Decision card 6"/>
          <p:cNvSpPr/>
          <p:nvPr/>
        </p:nvSpPr>
        <p:spPr>
          <a:xfrm>
            <a:off x="6035040" y="2880360"/>
            <a:ext cx="2651760" cy="1645920"/>
          </a:xfrm>
          <a:prstGeom prst="roundRect">
            <a:avLst>
              <a:gd name="adj" fmla="val 4444"/>
            </a:avLst>
          </a:prstGeom>
          <a:solidFill>
            <a:schemeClr val="bg2"/>
          </a:solidFill>
          <a:ln w="12700">
            <a:solidFill>
              <a:schemeClr val="bg2"/>
            </a:solidFill>
            <a:prstDash val="solid"/>
          </a:ln>
        </p:spPr>
        <p:txBody>
          <a:bodyPr/>
          <a:lstStyle/>
          <a:p>
            <a:endParaRPr lang="en-ZA"/>
          </a:p>
        </p:txBody>
      </p:sp>
      <p:sp>
        <p:nvSpPr>
          <p:cNvPr id="29" name="Decision icon 6 circle"/>
          <p:cNvSpPr/>
          <p:nvPr/>
        </p:nvSpPr>
        <p:spPr>
          <a:xfrm>
            <a:off x="6172200" y="3017520"/>
            <a:ext cx="457200" cy="457200"/>
          </a:xfrm>
          <a:prstGeom prst="ellipse">
            <a:avLst/>
          </a:prstGeom>
          <a:solidFill>
            <a:schemeClr val="accent1"/>
          </a:solidFill>
          <a:ln w="12700">
            <a:solidFill>
              <a:schemeClr val="accent1"/>
            </a:solidFill>
            <a:prstDash val="solid"/>
          </a:ln>
        </p:spPr>
        <p:txBody>
          <a:bodyPr/>
          <a:lstStyle/>
          <a:p>
            <a:endParaRPr lang="en-ZA"/>
          </a:p>
        </p:txBody>
      </p:sp>
      <p:pic>
        <p:nvPicPr>
          <p:cNvPr id="30" name="Decision icon 6" descr="Decision icon 6"/>
          <p:cNvPicPr>
            <a:picLocks noChangeAspect="1"/>
          </p:cNvPicPr>
          <p:nvPr/>
        </p:nvPicPr>
        <p:blipFill>
          <a:blip r:embed="rId8"/>
          <a:stretch>
            <a:fillRect/>
          </a:stretch>
        </p:blipFill>
        <p:spPr>
          <a:xfrm>
            <a:off x="6291072" y="3136392"/>
            <a:ext cx="219456" cy="219456"/>
          </a:xfrm>
          <a:prstGeom prst="rect">
            <a:avLst/>
          </a:prstGeom>
        </p:spPr>
      </p:pic>
      <p:sp>
        <p:nvSpPr>
          <p:cNvPr id="31" name="Decision heading 6"/>
          <p:cNvSpPr txBox="1"/>
          <p:nvPr/>
        </p:nvSpPr>
        <p:spPr>
          <a:xfrm>
            <a:off x="6720840" y="2971800"/>
            <a:ext cx="1874520" cy="548640"/>
          </a:xfrm>
          <a:prstGeom prst="rect">
            <a:avLst/>
          </a:prstGeom>
          <a:noFill/>
          <a:ln/>
        </p:spPr>
        <p:txBody>
          <a:bodyPr wrap="square" lIns="0" tIns="0" rIns="0" bIns="0" rtlCol="0" anchor="ctr"/>
          <a:lstStyle/>
          <a:p>
            <a:pPr marL="0" indent="0">
              <a:buNone/>
            </a:pPr>
            <a:r>
              <a:rPr lang="en-US" sz="1300" b="1" dirty="0">
                <a:solidFill>
                  <a:schemeClr val="tx2"/>
                </a:solidFill>
              </a:rPr>
              <a:t>Secrets kept out of GitHub</a:t>
            </a:r>
            <a:endParaRPr lang="en-US" sz="1300" dirty="0"/>
          </a:p>
        </p:txBody>
      </p:sp>
      <p:sp>
        <p:nvSpPr>
          <p:cNvPr id="32" name="Decision text 6"/>
          <p:cNvSpPr txBox="1"/>
          <p:nvPr/>
        </p:nvSpPr>
        <p:spPr>
          <a:xfrm>
            <a:off x="6172200" y="3611880"/>
            <a:ext cx="2377440" cy="868680"/>
          </a:xfrm>
          <a:prstGeom prst="rect">
            <a:avLst/>
          </a:prstGeom>
          <a:noFill/>
          <a:ln/>
        </p:spPr>
        <p:txBody>
          <a:bodyPr wrap="square" lIns="0" tIns="0" rIns="0" bIns="0" rtlCol="0" anchor="t"/>
          <a:lstStyle/>
          <a:p>
            <a:pPr marL="0" indent="0">
              <a:buNone/>
            </a:pPr>
            <a:r>
              <a:rPr lang="en-US" sz="1200" dirty="0">
                <a:solidFill>
                  <a:schemeClr val="tx1"/>
                </a:solidFill>
              </a:rPr>
              <a:t>Keys are supplied locally and the web server holds the privileged key.</a:t>
            </a:r>
            <a:endParaRPr lang="en-US" sz="1200" dirty="0"/>
          </a:p>
        </p:txBody>
      </p:sp>
      <p:sp>
        <p:nvSpPr>
          <p:cNvPr id="3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Risks and how we managed them</a:t>
            </a:r>
            <a:endParaRPr lang="en-US" sz="2800" dirty="0"/>
          </a:p>
        </p:txBody>
      </p:sp>
      <p:sp>
        <p:nvSpPr>
          <p:cNvPr id="3" name="Risk row R1"/>
          <p:cNvSpPr/>
          <p:nvPr/>
        </p:nvSpPr>
        <p:spPr>
          <a:xfrm>
            <a:off x="457200" y="1051560"/>
            <a:ext cx="8229600" cy="512064"/>
          </a:xfrm>
          <a:prstGeom prst="roundRect">
            <a:avLst>
              <a:gd name="adj" fmla="val 14286"/>
            </a:avLst>
          </a:prstGeom>
          <a:solidFill>
            <a:schemeClr val="bg2"/>
          </a:solidFill>
          <a:ln w="12700">
            <a:solidFill>
              <a:schemeClr val="bg2"/>
            </a:solidFill>
            <a:prstDash val="solid"/>
          </a:ln>
        </p:spPr>
        <p:txBody>
          <a:bodyPr/>
          <a:lstStyle/>
          <a:p>
            <a:endParaRPr lang="en-ZA"/>
          </a:p>
        </p:txBody>
      </p:sp>
      <p:sp>
        <p:nvSpPr>
          <p:cNvPr id="4" name="Risk id R1"/>
          <p:cNvSpPr txBox="1"/>
          <p:nvPr/>
        </p:nvSpPr>
        <p:spPr>
          <a:xfrm>
            <a:off x="594360" y="1051560"/>
            <a:ext cx="548640" cy="512064"/>
          </a:xfrm>
          <a:prstGeom prst="rect">
            <a:avLst/>
          </a:prstGeom>
          <a:noFill/>
          <a:ln/>
        </p:spPr>
        <p:txBody>
          <a:bodyPr wrap="square" lIns="0" tIns="0" rIns="0" bIns="0" rtlCol="0" anchor="ctr"/>
          <a:lstStyle/>
          <a:p>
            <a:pPr marL="0" indent="0">
              <a:buNone/>
            </a:pPr>
            <a:r>
              <a:rPr lang="en-US" sz="1500" b="1" dirty="0">
                <a:solidFill>
                  <a:schemeClr val="accent1"/>
                </a:solidFill>
              </a:rPr>
              <a:t>R1</a:t>
            </a:r>
            <a:endParaRPr lang="en-US" sz="1500" dirty="0"/>
          </a:p>
        </p:txBody>
      </p:sp>
      <p:sp>
        <p:nvSpPr>
          <p:cNvPr id="5" name="Risk name R1"/>
          <p:cNvSpPr txBox="1"/>
          <p:nvPr/>
        </p:nvSpPr>
        <p:spPr>
          <a:xfrm>
            <a:off x="1188720" y="1051560"/>
            <a:ext cx="2926080" cy="512064"/>
          </a:xfrm>
          <a:prstGeom prst="rect">
            <a:avLst/>
          </a:prstGeom>
          <a:noFill/>
          <a:ln/>
        </p:spPr>
        <p:txBody>
          <a:bodyPr wrap="square" lIns="0" tIns="0" rIns="0" bIns="0" rtlCol="0" anchor="ctr"/>
          <a:lstStyle/>
          <a:p>
            <a:pPr marL="0" indent="0">
              <a:buNone/>
            </a:pPr>
            <a:r>
              <a:rPr lang="en-US" sz="1300" b="1" dirty="0">
                <a:solidFill>
                  <a:schemeClr val="tx2"/>
                </a:solidFill>
              </a:rPr>
              <a:t>Integration may be too hard</a:t>
            </a:r>
            <a:endParaRPr lang="en-US" sz="1300" dirty="0"/>
          </a:p>
        </p:txBody>
      </p:sp>
      <p:sp>
        <p:nvSpPr>
          <p:cNvPr id="6" name="Risk plan R1"/>
          <p:cNvSpPr txBox="1"/>
          <p:nvPr/>
        </p:nvSpPr>
        <p:spPr>
          <a:xfrm>
            <a:off x="4206240" y="1051560"/>
            <a:ext cx="4389120" cy="512064"/>
          </a:xfrm>
          <a:prstGeom prst="rect">
            <a:avLst/>
          </a:prstGeom>
          <a:noFill/>
          <a:ln/>
        </p:spPr>
        <p:txBody>
          <a:bodyPr wrap="square" lIns="0" tIns="0" rIns="0" bIns="0" rtlCol="0" anchor="ctr"/>
          <a:lstStyle/>
          <a:p>
            <a:pPr marL="0" indent="0">
              <a:buNone/>
            </a:pPr>
            <a:r>
              <a:rPr lang="en-US" sz="1200" dirty="0">
                <a:solidFill>
                  <a:schemeClr val="tx1"/>
                </a:solidFill>
              </a:rPr>
              <a:t>Researched Supabase with Flutter and ASP.NET early; consult the </a:t>
            </a:r>
            <a:r>
              <a:rPr lang="en-US" sz="1200" dirty="0"/>
              <a:t>lecturer with problems that </a:t>
            </a:r>
            <a:r>
              <a:rPr lang="en-US" sz="1200" dirty="0" err="1"/>
              <a:t>occured</a:t>
            </a:r>
            <a:endParaRPr lang="en-US" sz="1200" dirty="0"/>
          </a:p>
        </p:txBody>
      </p:sp>
      <p:sp>
        <p:nvSpPr>
          <p:cNvPr id="7" name="Risk row R3"/>
          <p:cNvSpPr/>
          <p:nvPr/>
        </p:nvSpPr>
        <p:spPr>
          <a:xfrm>
            <a:off x="457200" y="1636776"/>
            <a:ext cx="8229600" cy="512064"/>
          </a:xfrm>
          <a:prstGeom prst="roundRect">
            <a:avLst>
              <a:gd name="adj" fmla="val 14286"/>
            </a:avLst>
          </a:prstGeom>
          <a:solidFill>
            <a:schemeClr val="bg2"/>
          </a:solidFill>
          <a:ln w="12700">
            <a:solidFill>
              <a:schemeClr val="bg2"/>
            </a:solidFill>
            <a:prstDash val="solid"/>
          </a:ln>
        </p:spPr>
        <p:txBody>
          <a:bodyPr/>
          <a:lstStyle/>
          <a:p>
            <a:endParaRPr lang="en-ZA"/>
          </a:p>
        </p:txBody>
      </p:sp>
      <p:sp>
        <p:nvSpPr>
          <p:cNvPr id="8" name="Risk id R3"/>
          <p:cNvSpPr txBox="1"/>
          <p:nvPr/>
        </p:nvSpPr>
        <p:spPr>
          <a:xfrm>
            <a:off x="594360" y="1636776"/>
            <a:ext cx="548640" cy="512064"/>
          </a:xfrm>
          <a:prstGeom prst="rect">
            <a:avLst/>
          </a:prstGeom>
          <a:noFill/>
          <a:ln/>
        </p:spPr>
        <p:txBody>
          <a:bodyPr wrap="square" lIns="0" tIns="0" rIns="0" bIns="0" rtlCol="0" anchor="ctr"/>
          <a:lstStyle/>
          <a:p>
            <a:pPr marL="0" indent="0">
              <a:buNone/>
            </a:pPr>
            <a:r>
              <a:rPr lang="en-US" sz="1500" b="1" dirty="0">
                <a:solidFill>
                  <a:schemeClr val="accent1"/>
                </a:solidFill>
              </a:rPr>
              <a:t>R3</a:t>
            </a:r>
            <a:endParaRPr lang="en-US" sz="1500" dirty="0"/>
          </a:p>
        </p:txBody>
      </p:sp>
      <p:sp>
        <p:nvSpPr>
          <p:cNvPr id="9" name="Risk name R3"/>
          <p:cNvSpPr txBox="1"/>
          <p:nvPr/>
        </p:nvSpPr>
        <p:spPr>
          <a:xfrm>
            <a:off x="1188720" y="1636776"/>
            <a:ext cx="2926080" cy="512064"/>
          </a:xfrm>
          <a:prstGeom prst="rect">
            <a:avLst/>
          </a:prstGeom>
          <a:noFill/>
          <a:ln/>
        </p:spPr>
        <p:txBody>
          <a:bodyPr wrap="square" lIns="0" tIns="0" rIns="0" bIns="0" rtlCol="0" anchor="ctr"/>
          <a:lstStyle/>
          <a:p>
            <a:pPr marL="0" indent="0">
              <a:buNone/>
            </a:pPr>
            <a:r>
              <a:rPr lang="en-US" sz="1300" b="1" dirty="0">
                <a:solidFill>
                  <a:schemeClr val="tx2"/>
                </a:solidFill>
              </a:rPr>
              <a:t>Group coordination and miscommunication</a:t>
            </a:r>
            <a:endParaRPr lang="en-US" sz="1300" dirty="0"/>
          </a:p>
        </p:txBody>
      </p:sp>
      <p:sp>
        <p:nvSpPr>
          <p:cNvPr id="10" name="Risk plan R3"/>
          <p:cNvSpPr txBox="1"/>
          <p:nvPr/>
        </p:nvSpPr>
        <p:spPr>
          <a:xfrm>
            <a:off x="4206240" y="1636776"/>
            <a:ext cx="4389120" cy="512064"/>
          </a:xfrm>
          <a:prstGeom prst="rect">
            <a:avLst/>
          </a:prstGeom>
          <a:noFill/>
          <a:ln/>
        </p:spPr>
        <p:txBody>
          <a:bodyPr wrap="square" lIns="0" tIns="0" rIns="0" bIns="0" rtlCol="0" anchor="ctr"/>
          <a:lstStyle/>
          <a:p>
            <a:pPr marL="0" indent="0">
              <a:buNone/>
            </a:pPr>
            <a:r>
              <a:rPr lang="en-US" sz="1200" dirty="0">
                <a:solidFill>
                  <a:schemeClr val="tx1"/>
                </a:solidFill>
              </a:rPr>
              <a:t>Regular team meetings to share progress and setbacks; reassign tasks if needed</a:t>
            </a:r>
            <a:endParaRPr lang="en-US" sz="1200" dirty="0"/>
          </a:p>
        </p:txBody>
      </p:sp>
      <p:sp>
        <p:nvSpPr>
          <p:cNvPr id="11" name="Risk row R4"/>
          <p:cNvSpPr/>
          <p:nvPr/>
        </p:nvSpPr>
        <p:spPr>
          <a:xfrm>
            <a:off x="457200" y="2221992"/>
            <a:ext cx="8229600" cy="512064"/>
          </a:xfrm>
          <a:prstGeom prst="roundRect">
            <a:avLst>
              <a:gd name="adj" fmla="val 14286"/>
            </a:avLst>
          </a:prstGeom>
          <a:solidFill>
            <a:schemeClr val="bg2"/>
          </a:solidFill>
          <a:ln w="12700">
            <a:solidFill>
              <a:schemeClr val="bg2"/>
            </a:solidFill>
            <a:prstDash val="solid"/>
          </a:ln>
        </p:spPr>
        <p:txBody>
          <a:bodyPr/>
          <a:lstStyle/>
          <a:p>
            <a:endParaRPr lang="en-ZA"/>
          </a:p>
        </p:txBody>
      </p:sp>
      <p:sp>
        <p:nvSpPr>
          <p:cNvPr id="12" name="Risk id R4"/>
          <p:cNvSpPr txBox="1"/>
          <p:nvPr/>
        </p:nvSpPr>
        <p:spPr>
          <a:xfrm>
            <a:off x="594360" y="2221992"/>
            <a:ext cx="548640" cy="512064"/>
          </a:xfrm>
          <a:prstGeom prst="rect">
            <a:avLst/>
          </a:prstGeom>
          <a:noFill/>
          <a:ln/>
        </p:spPr>
        <p:txBody>
          <a:bodyPr wrap="square" lIns="0" tIns="0" rIns="0" bIns="0" rtlCol="0" anchor="ctr"/>
          <a:lstStyle/>
          <a:p>
            <a:pPr marL="0" indent="0">
              <a:buNone/>
            </a:pPr>
            <a:r>
              <a:rPr lang="en-US" sz="1500" b="1" dirty="0">
                <a:solidFill>
                  <a:schemeClr val="accent1"/>
                </a:solidFill>
              </a:rPr>
              <a:t>R4</a:t>
            </a:r>
            <a:endParaRPr lang="en-US" sz="1500" dirty="0"/>
          </a:p>
        </p:txBody>
      </p:sp>
      <p:sp>
        <p:nvSpPr>
          <p:cNvPr id="13" name="Risk name R4"/>
          <p:cNvSpPr txBox="1"/>
          <p:nvPr/>
        </p:nvSpPr>
        <p:spPr>
          <a:xfrm>
            <a:off x="1188720" y="2221992"/>
            <a:ext cx="2926080" cy="512064"/>
          </a:xfrm>
          <a:prstGeom prst="rect">
            <a:avLst/>
          </a:prstGeom>
          <a:noFill/>
          <a:ln/>
        </p:spPr>
        <p:txBody>
          <a:bodyPr wrap="square" lIns="0" tIns="0" rIns="0" bIns="0" rtlCol="0" anchor="ctr"/>
          <a:lstStyle/>
          <a:p>
            <a:pPr marL="0" indent="0">
              <a:buNone/>
            </a:pPr>
            <a:r>
              <a:rPr lang="en-US" sz="1300" b="1" dirty="0">
                <a:solidFill>
                  <a:schemeClr val="tx2"/>
                </a:solidFill>
              </a:rPr>
              <a:t>Limited testing time near the deadline</a:t>
            </a:r>
            <a:endParaRPr lang="en-US" sz="1300" dirty="0"/>
          </a:p>
        </p:txBody>
      </p:sp>
      <p:sp>
        <p:nvSpPr>
          <p:cNvPr id="14" name="Risk plan R4"/>
          <p:cNvSpPr txBox="1"/>
          <p:nvPr/>
        </p:nvSpPr>
        <p:spPr>
          <a:xfrm>
            <a:off x="4206240" y="2221992"/>
            <a:ext cx="4389120" cy="512064"/>
          </a:xfrm>
          <a:prstGeom prst="rect">
            <a:avLst/>
          </a:prstGeom>
          <a:noFill/>
          <a:ln/>
        </p:spPr>
        <p:txBody>
          <a:bodyPr wrap="square" lIns="0" tIns="0" rIns="0" bIns="0" rtlCol="0" anchor="ctr"/>
          <a:lstStyle/>
          <a:p>
            <a:pPr marL="0" indent="0">
              <a:buNone/>
            </a:pPr>
            <a:r>
              <a:rPr lang="en-US" sz="1200" dirty="0">
                <a:solidFill>
                  <a:schemeClr val="tx1"/>
                </a:solidFill>
              </a:rPr>
              <a:t>Test with different data throughout development, not only at the end</a:t>
            </a:r>
            <a:endParaRPr lang="en-US" sz="1200" dirty="0"/>
          </a:p>
        </p:txBody>
      </p:sp>
      <p:sp>
        <p:nvSpPr>
          <p:cNvPr id="15" name="Risk row R5"/>
          <p:cNvSpPr/>
          <p:nvPr/>
        </p:nvSpPr>
        <p:spPr>
          <a:xfrm>
            <a:off x="457200" y="2807208"/>
            <a:ext cx="8229600" cy="512064"/>
          </a:xfrm>
          <a:prstGeom prst="roundRect">
            <a:avLst>
              <a:gd name="adj" fmla="val 14286"/>
            </a:avLst>
          </a:prstGeom>
          <a:solidFill>
            <a:schemeClr val="bg2"/>
          </a:solidFill>
          <a:ln w="12700">
            <a:solidFill>
              <a:schemeClr val="bg2"/>
            </a:solidFill>
            <a:prstDash val="solid"/>
          </a:ln>
        </p:spPr>
        <p:txBody>
          <a:bodyPr/>
          <a:lstStyle/>
          <a:p>
            <a:endParaRPr lang="en-ZA"/>
          </a:p>
        </p:txBody>
      </p:sp>
      <p:sp>
        <p:nvSpPr>
          <p:cNvPr id="16" name="Risk id R5"/>
          <p:cNvSpPr txBox="1"/>
          <p:nvPr/>
        </p:nvSpPr>
        <p:spPr>
          <a:xfrm>
            <a:off x="594360" y="2807208"/>
            <a:ext cx="548640" cy="512064"/>
          </a:xfrm>
          <a:prstGeom prst="rect">
            <a:avLst/>
          </a:prstGeom>
          <a:noFill/>
          <a:ln/>
        </p:spPr>
        <p:txBody>
          <a:bodyPr wrap="square" lIns="0" tIns="0" rIns="0" bIns="0" rtlCol="0" anchor="ctr"/>
          <a:lstStyle/>
          <a:p>
            <a:pPr marL="0" indent="0">
              <a:buNone/>
            </a:pPr>
            <a:r>
              <a:rPr lang="en-US" sz="1500" b="1" dirty="0">
                <a:solidFill>
                  <a:schemeClr val="accent1"/>
                </a:solidFill>
              </a:rPr>
              <a:t>R5</a:t>
            </a:r>
            <a:endParaRPr lang="en-US" sz="1500" dirty="0"/>
          </a:p>
        </p:txBody>
      </p:sp>
      <p:sp>
        <p:nvSpPr>
          <p:cNvPr id="17" name="Risk name R5"/>
          <p:cNvSpPr txBox="1"/>
          <p:nvPr/>
        </p:nvSpPr>
        <p:spPr>
          <a:xfrm>
            <a:off x="1188720" y="2807208"/>
            <a:ext cx="2926080" cy="512064"/>
          </a:xfrm>
          <a:prstGeom prst="rect">
            <a:avLst/>
          </a:prstGeom>
          <a:noFill/>
          <a:ln/>
        </p:spPr>
        <p:txBody>
          <a:bodyPr wrap="square" lIns="0" tIns="0" rIns="0" bIns="0" rtlCol="0" anchor="ctr"/>
          <a:lstStyle/>
          <a:p>
            <a:pPr marL="0" indent="0">
              <a:buNone/>
            </a:pPr>
            <a:r>
              <a:rPr lang="en-US" sz="1300" b="1" dirty="0">
                <a:solidFill>
                  <a:schemeClr val="tx2"/>
                </a:solidFill>
              </a:rPr>
              <a:t>A task too hard for one member</a:t>
            </a:r>
            <a:endParaRPr lang="en-US" sz="1300" dirty="0"/>
          </a:p>
        </p:txBody>
      </p:sp>
      <p:sp>
        <p:nvSpPr>
          <p:cNvPr id="18" name="Risk plan R5"/>
          <p:cNvSpPr txBox="1"/>
          <p:nvPr/>
        </p:nvSpPr>
        <p:spPr>
          <a:xfrm>
            <a:off x="4206240" y="2807208"/>
            <a:ext cx="4389120" cy="512064"/>
          </a:xfrm>
          <a:prstGeom prst="rect">
            <a:avLst/>
          </a:prstGeom>
          <a:noFill/>
          <a:ln/>
        </p:spPr>
        <p:txBody>
          <a:bodyPr wrap="square" lIns="0" tIns="0" rIns="0" bIns="0" rtlCol="0" anchor="ctr"/>
          <a:lstStyle/>
          <a:p>
            <a:pPr marL="0" indent="0">
              <a:buNone/>
            </a:pPr>
            <a:r>
              <a:rPr lang="en-US" sz="1200" dirty="0">
                <a:solidFill>
                  <a:schemeClr val="tx1"/>
                </a:solidFill>
              </a:rPr>
              <a:t>Delegate by strongest skills; spread the work across members</a:t>
            </a:r>
            <a:endParaRPr lang="en-US" sz="1200" dirty="0"/>
          </a:p>
        </p:txBody>
      </p:sp>
      <p:sp>
        <p:nvSpPr>
          <p:cNvPr id="19" name="Risk row R6"/>
          <p:cNvSpPr/>
          <p:nvPr/>
        </p:nvSpPr>
        <p:spPr>
          <a:xfrm>
            <a:off x="457200" y="3392424"/>
            <a:ext cx="8229600" cy="512064"/>
          </a:xfrm>
          <a:prstGeom prst="roundRect">
            <a:avLst>
              <a:gd name="adj" fmla="val 14286"/>
            </a:avLst>
          </a:prstGeom>
          <a:solidFill>
            <a:schemeClr val="bg2"/>
          </a:solidFill>
          <a:ln w="12700">
            <a:solidFill>
              <a:schemeClr val="bg2"/>
            </a:solidFill>
            <a:prstDash val="solid"/>
          </a:ln>
        </p:spPr>
        <p:txBody>
          <a:bodyPr/>
          <a:lstStyle/>
          <a:p>
            <a:endParaRPr lang="en-ZA"/>
          </a:p>
        </p:txBody>
      </p:sp>
      <p:sp>
        <p:nvSpPr>
          <p:cNvPr id="20" name="Risk id R6"/>
          <p:cNvSpPr txBox="1"/>
          <p:nvPr/>
        </p:nvSpPr>
        <p:spPr>
          <a:xfrm>
            <a:off x="594360" y="3392424"/>
            <a:ext cx="548640" cy="512064"/>
          </a:xfrm>
          <a:prstGeom prst="rect">
            <a:avLst/>
          </a:prstGeom>
          <a:noFill/>
          <a:ln/>
        </p:spPr>
        <p:txBody>
          <a:bodyPr wrap="square" lIns="0" tIns="0" rIns="0" bIns="0" rtlCol="0" anchor="ctr"/>
          <a:lstStyle/>
          <a:p>
            <a:pPr marL="0" indent="0">
              <a:buNone/>
            </a:pPr>
            <a:r>
              <a:rPr lang="en-US" sz="1500" b="1" dirty="0">
                <a:solidFill>
                  <a:schemeClr val="accent1"/>
                </a:solidFill>
              </a:rPr>
              <a:t>R6</a:t>
            </a:r>
            <a:endParaRPr lang="en-US" sz="1500" dirty="0"/>
          </a:p>
        </p:txBody>
      </p:sp>
      <p:sp>
        <p:nvSpPr>
          <p:cNvPr id="21" name="Risk name R6"/>
          <p:cNvSpPr txBox="1"/>
          <p:nvPr/>
        </p:nvSpPr>
        <p:spPr>
          <a:xfrm>
            <a:off x="1188720" y="3392424"/>
            <a:ext cx="2926080" cy="512064"/>
          </a:xfrm>
          <a:prstGeom prst="rect">
            <a:avLst/>
          </a:prstGeom>
          <a:noFill/>
          <a:ln/>
        </p:spPr>
        <p:txBody>
          <a:bodyPr wrap="square" lIns="0" tIns="0" rIns="0" bIns="0" rtlCol="0" anchor="ctr"/>
          <a:lstStyle/>
          <a:p>
            <a:pPr marL="0" indent="0">
              <a:buNone/>
            </a:pPr>
            <a:r>
              <a:rPr lang="en-US" sz="1300" b="1" dirty="0">
                <a:solidFill>
                  <a:schemeClr val="tx2"/>
                </a:solidFill>
              </a:rPr>
              <a:t>Core functions not ready in time</a:t>
            </a:r>
            <a:endParaRPr lang="en-US" sz="1300" dirty="0"/>
          </a:p>
        </p:txBody>
      </p:sp>
      <p:sp>
        <p:nvSpPr>
          <p:cNvPr id="22" name="Risk plan R6"/>
          <p:cNvSpPr txBox="1"/>
          <p:nvPr/>
        </p:nvSpPr>
        <p:spPr>
          <a:xfrm>
            <a:off x="4206240" y="3392424"/>
            <a:ext cx="4389120" cy="512064"/>
          </a:xfrm>
          <a:prstGeom prst="rect">
            <a:avLst/>
          </a:prstGeom>
          <a:noFill/>
          <a:ln/>
        </p:spPr>
        <p:txBody>
          <a:bodyPr wrap="square" lIns="0" tIns="0" rIns="0" bIns="0" rtlCol="0" anchor="ctr"/>
          <a:lstStyle/>
          <a:p>
            <a:pPr marL="0" indent="0">
              <a:buNone/>
            </a:pPr>
            <a:r>
              <a:rPr lang="en-US" sz="1200" dirty="0">
                <a:solidFill>
                  <a:schemeClr val="tx1"/>
                </a:solidFill>
              </a:rPr>
              <a:t>Build the top-level functions first, then enhancements</a:t>
            </a:r>
            <a:endParaRPr lang="en-US" sz="1200" dirty="0"/>
          </a:p>
        </p:txBody>
      </p:sp>
      <p:sp>
        <p:nvSpPr>
          <p:cNvPr id="23" name="Risk row R7"/>
          <p:cNvSpPr/>
          <p:nvPr/>
        </p:nvSpPr>
        <p:spPr>
          <a:xfrm>
            <a:off x="457200" y="3977640"/>
            <a:ext cx="8229600" cy="512064"/>
          </a:xfrm>
          <a:prstGeom prst="roundRect">
            <a:avLst>
              <a:gd name="adj" fmla="val 14286"/>
            </a:avLst>
          </a:prstGeom>
          <a:solidFill>
            <a:schemeClr val="bg2"/>
          </a:solidFill>
          <a:ln w="12700">
            <a:solidFill>
              <a:schemeClr val="bg2"/>
            </a:solidFill>
            <a:prstDash val="solid"/>
          </a:ln>
        </p:spPr>
        <p:txBody>
          <a:bodyPr/>
          <a:lstStyle/>
          <a:p>
            <a:endParaRPr lang="en-ZA"/>
          </a:p>
        </p:txBody>
      </p:sp>
      <p:sp>
        <p:nvSpPr>
          <p:cNvPr id="24" name="Risk id R7"/>
          <p:cNvSpPr txBox="1"/>
          <p:nvPr/>
        </p:nvSpPr>
        <p:spPr>
          <a:xfrm>
            <a:off x="594360" y="3977640"/>
            <a:ext cx="548640" cy="512064"/>
          </a:xfrm>
          <a:prstGeom prst="rect">
            <a:avLst/>
          </a:prstGeom>
          <a:noFill/>
          <a:ln/>
        </p:spPr>
        <p:txBody>
          <a:bodyPr wrap="square" lIns="0" tIns="0" rIns="0" bIns="0" rtlCol="0" anchor="ctr"/>
          <a:lstStyle/>
          <a:p>
            <a:pPr marL="0" indent="0">
              <a:buNone/>
            </a:pPr>
            <a:r>
              <a:rPr lang="en-US" sz="1500" b="1" dirty="0">
                <a:solidFill>
                  <a:schemeClr val="accent1"/>
                </a:solidFill>
              </a:rPr>
              <a:t>R7</a:t>
            </a:r>
            <a:endParaRPr lang="en-US" sz="1500" dirty="0"/>
          </a:p>
        </p:txBody>
      </p:sp>
      <p:sp>
        <p:nvSpPr>
          <p:cNvPr id="25" name="Risk name R7"/>
          <p:cNvSpPr txBox="1"/>
          <p:nvPr/>
        </p:nvSpPr>
        <p:spPr>
          <a:xfrm>
            <a:off x="1188720" y="3977640"/>
            <a:ext cx="2926080" cy="512064"/>
          </a:xfrm>
          <a:prstGeom prst="rect">
            <a:avLst/>
          </a:prstGeom>
          <a:noFill/>
          <a:ln/>
        </p:spPr>
        <p:txBody>
          <a:bodyPr wrap="square" lIns="0" tIns="0" rIns="0" bIns="0" rtlCol="0" anchor="ctr"/>
          <a:lstStyle/>
          <a:p>
            <a:pPr marL="0" indent="0">
              <a:buNone/>
            </a:pPr>
            <a:r>
              <a:rPr lang="en-US" sz="1300" b="1" dirty="0">
                <a:solidFill>
                  <a:schemeClr val="tx2"/>
                </a:solidFill>
              </a:rPr>
              <a:t>GitHub version control problems</a:t>
            </a:r>
            <a:endParaRPr lang="en-US" sz="1300" dirty="0"/>
          </a:p>
        </p:txBody>
      </p:sp>
      <p:sp>
        <p:nvSpPr>
          <p:cNvPr id="26" name="Risk plan R7"/>
          <p:cNvSpPr txBox="1"/>
          <p:nvPr/>
        </p:nvSpPr>
        <p:spPr>
          <a:xfrm>
            <a:off x="4206240" y="3977640"/>
            <a:ext cx="4389120" cy="512064"/>
          </a:xfrm>
          <a:prstGeom prst="rect">
            <a:avLst/>
          </a:prstGeom>
          <a:noFill/>
          <a:ln/>
        </p:spPr>
        <p:txBody>
          <a:bodyPr wrap="square" lIns="0" tIns="0" rIns="0" bIns="0" rtlCol="0" anchor="ctr"/>
          <a:lstStyle/>
          <a:p>
            <a:pPr marL="0" indent="0">
              <a:buNone/>
            </a:pPr>
            <a:r>
              <a:rPr lang="en-US" sz="1200" dirty="0">
                <a:solidFill>
                  <a:schemeClr val="tx1"/>
                </a:solidFill>
              </a:rPr>
              <a:t>Each member commits their own tasks</a:t>
            </a:r>
            <a:r>
              <a:rPr lang="en-US" sz="1200" dirty="0"/>
              <a:t> which are regularly tested by other members</a:t>
            </a:r>
          </a:p>
        </p:txBody>
      </p:sp>
      <p:sp>
        <p:nvSpPr>
          <p:cNvPr id="2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Changes and known limitations</a:t>
            </a:r>
            <a:endParaRPr lang="en-US" sz="2800" dirty="0"/>
          </a:p>
        </p:txBody>
      </p:sp>
      <p:sp>
        <p:nvSpPr>
          <p:cNvPr id="3" name="Changes card"/>
          <p:cNvSpPr/>
          <p:nvPr/>
        </p:nvSpPr>
        <p:spPr>
          <a:xfrm>
            <a:off x="457200" y="1097280"/>
            <a:ext cx="4023360" cy="3474720"/>
          </a:xfrm>
          <a:prstGeom prst="roundRect">
            <a:avLst>
              <a:gd name="adj" fmla="val 2105"/>
            </a:avLst>
          </a:prstGeom>
          <a:solidFill>
            <a:schemeClr val="bg2"/>
          </a:solidFill>
          <a:ln w="12700">
            <a:solidFill>
              <a:schemeClr val="bg2"/>
            </a:solidFill>
            <a:prstDash val="solid"/>
          </a:ln>
        </p:spPr>
        <p:txBody>
          <a:bodyPr/>
          <a:lstStyle/>
          <a:p>
            <a:endParaRPr lang="en-ZA"/>
          </a:p>
        </p:txBody>
      </p:sp>
      <p:sp>
        <p:nvSpPr>
          <p:cNvPr id="4" name="Changes heading"/>
          <p:cNvSpPr txBox="1"/>
          <p:nvPr/>
        </p:nvSpPr>
        <p:spPr>
          <a:xfrm>
            <a:off x="640080" y="1188720"/>
            <a:ext cx="3657600" cy="320040"/>
          </a:xfrm>
          <a:prstGeom prst="rect">
            <a:avLst/>
          </a:prstGeom>
          <a:noFill/>
          <a:ln/>
        </p:spPr>
        <p:txBody>
          <a:bodyPr wrap="square" lIns="0" tIns="0" rIns="0" bIns="0" rtlCol="0" anchor="t"/>
          <a:lstStyle/>
          <a:p>
            <a:pPr marL="0" indent="0">
              <a:buNone/>
            </a:pPr>
            <a:r>
              <a:rPr lang="en-US" sz="1500" b="1" dirty="0">
                <a:solidFill>
                  <a:schemeClr val="tx2"/>
                </a:solidFill>
              </a:rPr>
              <a:t>Changes made during implementation</a:t>
            </a:r>
            <a:endParaRPr lang="en-US" sz="1500" dirty="0"/>
          </a:p>
        </p:txBody>
      </p:sp>
      <p:sp>
        <p:nvSpPr>
          <p:cNvPr id="5" name="Changes list"/>
          <p:cNvSpPr txBox="1"/>
          <p:nvPr/>
        </p:nvSpPr>
        <p:spPr>
          <a:xfrm>
            <a:off x="640080" y="160020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A SuperAdmin role was added so only  the team can register admins</a:t>
            </a:r>
            <a:endParaRPr lang="en-US" sz="1200" dirty="0"/>
          </a:p>
          <a:p>
            <a:pPr marL="342900" indent="-342900">
              <a:spcAft>
                <a:spcPts val="600"/>
              </a:spcAft>
              <a:buSzPct val="100000"/>
              <a:buChar char="•"/>
            </a:pPr>
            <a:r>
              <a:rPr lang="en-US" sz="1200" dirty="0">
                <a:solidFill>
                  <a:schemeClr val="tx1"/>
                </a:solidFill>
              </a:rPr>
              <a:t>Side navigation was changed </a:t>
            </a:r>
            <a:endParaRPr lang="en-US" sz="1200" dirty="0"/>
          </a:p>
          <a:p>
            <a:pPr marL="342900" indent="-342900">
              <a:spcAft>
                <a:spcPts val="600"/>
              </a:spcAft>
              <a:buSzPct val="100000"/>
              <a:buChar char="•"/>
            </a:pPr>
            <a:r>
              <a:rPr lang="en-US" sz="1200" dirty="0">
                <a:solidFill>
                  <a:schemeClr val="tx1"/>
                </a:solidFill>
              </a:rPr>
              <a:t>Admin work is done only on the web app, not on mobile</a:t>
            </a:r>
            <a:endParaRPr lang="en-US" sz="1200" dirty="0"/>
          </a:p>
        </p:txBody>
      </p:sp>
      <p:sp>
        <p:nvSpPr>
          <p:cNvPr id="6" name="Limitations card"/>
          <p:cNvSpPr/>
          <p:nvPr/>
        </p:nvSpPr>
        <p:spPr>
          <a:xfrm>
            <a:off x="4663440" y="1097280"/>
            <a:ext cx="4023360" cy="3474720"/>
          </a:xfrm>
          <a:prstGeom prst="roundRect">
            <a:avLst>
              <a:gd name="adj" fmla="val 2105"/>
            </a:avLst>
          </a:prstGeom>
          <a:solidFill>
            <a:schemeClr val="bg2"/>
          </a:solidFill>
          <a:ln w="12700">
            <a:solidFill>
              <a:schemeClr val="bg2"/>
            </a:solidFill>
            <a:prstDash val="solid"/>
          </a:ln>
        </p:spPr>
        <p:txBody>
          <a:bodyPr/>
          <a:lstStyle/>
          <a:p>
            <a:endParaRPr lang="en-ZA"/>
          </a:p>
        </p:txBody>
      </p:sp>
      <p:sp>
        <p:nvSpPr>
          <p:cNvPr id="7" name="Limits heading"/>
          <p:cNvSpPr txBox="1"/>
          <p:nvPr/>
        </p:nvSpPr>
        <p:spPr>
          <a:xfrm>
            <a:off x="4846320" y="1188720"/>
            <a:ext cx="3657600" cy="320040"/>
          </a:xfrm>
          <a:prstGeom prst="rect">
            <a:avLst/>
          </a:prstGeom>
          <a:noFill/>
          <a:ln/>
        </p:spPr>
        <p:txBody>
          <a:bodyPr wrap="square" lIns="0" tIns="0" rIns="0" bIns="0" rtlCol="0" anchor="t"/>
          <a:lstStyle/>
          <a:p>
            <a:pPr marL="0" indent="0">
              <a:buNone/>
            </a:pPr>
            <a:r>
              <a:rPr lang="en-US" sz="1500" b="1" dirty="0">
                <a:solidFill>
                  <a:schemeClr val="tx2"/>
                </a:solidFill>
              </a:rPr>
              <a:t>Known limitations</a:t>
            </a:r>
            <a:endParaRPr lang="en-US" sz="1500" dirty="0"/>
          </a:p>
        </p:txBody>
      </p:sp>
      <p:sp>
        <p:nvSpPr>
          <p:cNvPr id="8" name="Limits list"/>
          <p:cNvSpPr txBox="1"/>
          <p:nvPr/>
        </p:nvSpPr>
        <p:spPr>
          <a:xfrm>
            <a:off x="4846320" y="160020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No push notifications: parents see new statuses after refreshing</a:t>
            </a:r>
            <a:endParaRPr lang="en-US" sz="1200" dirty="0"/>
          </a:p>
          <a:p>
            <a:pPr marL="342900" indent="-342900">
              <a:spcAft>
                <a:spcPts val="600"/>
              </a:spcAft>
              <a:buSzPct val="100000"/>
              <a:buChar char="•"/>
            </a:pPr>
            <a:r>
              <a:rPr lang="en-US" sz="1200" dirty="0">
                <a:solidFill>
                  <a:schemeClr val="tx1"/>
                </a:solidFill>
              </a:rPr>
              <a:t>Parents cannot cancel an application</a:t>
            </a:r>
            <a:endParaRPr lang="en-US" sz="1200" dirty="0"/>
          </a:p>
          <a:p>
            <a:pPr marL="342900" indent="-342900">
              <a:spcAft>
                <a:spcPts val="600"/>
              </a:spcAft>
              <a:buSzPct val="100000"/>
              <a:buChar char="•"/>
            </a:pPr>
            <a:r>
              <a:rPr lang="en-US" sz="1200" dirty="0">
                <a:solidFill>
                  <a:schemeClr val="tx1"/>
                </a:solidFill>
              </a:rPr>
              <a:t>School updates can be deleted but not edited</a:t>
            </a:r>
            <a:endParaRPr lang="en-US" sz="1200" dirty="0"/>
          </a:p>
          <a:p>
            <a:pPr marL="342900" indent="-342900">
              <a:spcAft>
                <a:spcPts val="600"/>
              </a:spcAft>
              <a:buSzPct val="100000"/>
              <a:buChar char="•"/>
            </a:pPr>
            <a:r>
              <a:rPr lang="en-US" sz="1200" dirty="0">
                <a:solidFill>
                  <a:schemeClr val="tx1"/>
                </a:solidFill>
              </a:rPr>
              <a:t>Bulk SMS, uniform shop and e-textbooks are excluded by agreement</a:t>
            </a:r>
            <a:endParaRPr lang="en-US" sz="1200" dirty="0"/>
          </a:p>
          <a:p>
            <a:pPr marL="342900" indent="-342900">
              <a:spcAft>
                <a:spcPts val="600"/>
              </a:spcAft>
              <a:buSzPct val="100000"/>
              <a:buChar char="•"/>
            </a:pPr>
            <a:r>
              <a:rPr lang="en-US" sz="1200" dirty="0">
                <a:solidFill>
                  <a:schemeClr val="tx1"/>
                </a:solidFill>
              </a:rPr>
              <a:t>Prototype uses dummy data only</a:t>
            </a:r>
            <a:endParaRPr lang="en-US" sz="1200" dirty="0"/>
          </a:p>
          <a:p>
            <a:pPr marL="342900" indent="-342900">
              <a:spcAft>
                <a:spcPts val="600"/>
              </a:spcAft>
              <a:buSzPct val="100000"/>
              <a:buChar char="•"/>
            </a:pPr>
            <a:r>
              <a:rPr lang="en-US" sz="1200" dirty="0">
                <a:solidFill>
                  <a:schemeClr val="tx1"/>
                </a:solidFill>
              </a:rPr>
              <a:t>Stricter database-level access rules are future work</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Project status against requirements</a:t>
            </a:r>
            <a:endParaRPr lang="en-US" sz="2800" dirty="0"/>
          </a:p>
        </p:txBody>
      </p:sp>
      <p:graphicFrame>
        <p:nvGraphicFramePr>
          <p:cNvPr id="22" name="Requirements status table"/>
          <p:cNvGraphicFramePr>
            <a:graphicFrameLocks noGrp="1"/>
          </p:cNvGraphicFramePr>
          <p:nvPr>
            <p:extLst>
              <p:ext uri="{D42A27DB-BD31-4B8C-83A1-F6EECF244321}">
                <p14:modId xmlns:p14="http://schemas.microsoft.com/office/powerpoint/2010/main" val="266510517"/>
              </p:ext>
            </p:extLst>
          </p:nvPr>
        </p:nvGraphicFramePr>
        <p:xfrm>
          <a:off x="457200" y="1051560"/>
          <a:ext cx="8131126" cy="3291840"/>
        </p:xfrm>
        <a:graphic>
          <a:graphicData uri="http://schemas.openxmlformats.org/drawingml/2006/table">
            <a:tbl>
              <a:tblPr/>
              <a:tblGrid>
                <a:gridCol w="1379387">
                  <a:extLst>
                    <a:ext uri="{9D8B030D-6E8A-4147-A177-3AD203B41FA5}">
                      <a16:colId xmlns:a16="http://schemas.microsoft.com/office/drawing/2014/main" val="20000"/>
                    </a:ext>
                  </a:extLst>
                </a:gridCol>
                <a:gridCol w="3266971">
                  <a:extLst>
                    <a:ext uri="{9D8B030D-6E8A-4147-A177-3AD203B41FA5}">
                      <a16:colId xmlns:a16="http://schemas.microsoft.com/office/drawing/2014/main" val="20001"/>
                    </a:ext>
                  </a:extLst>
                </a:gridCol>
                <a:gridCol w="2177980">
                  <a:extLst>
                    <a:ext uri="{9D8B030D-6E8A-4147-A177-3AD203B41FA5}">
                      <a16:colId xmlns:a16="http://schemas.microsoft.com/office/drawing/2014/main" val="20002"/>
                    </a:ext>
                  </a:extLst>
                </a:gridCol>
                <a:gridCol w="1306788">
                  <a:extLst>
                    <a:ext uri="{9D8B030D-6E8A-4147-A177-3AD203B41FA5}">
                      <a16:colId xmlns:a16="http://schemas.microsoft.com/office/drawing/2014/main" val="20003"/>
                    </a:ext>
                  </a:extLst>
                </a:gridCol>
              </a:tblGrid>
              <a:tr h="365760">
                <a:tc>
                  <a:txBody>
                    <a:bodyPr/>
                    <a:lstStyle/>
                    <a:p>
                      <a:pPr marL="0" indent="0">
                        <a:buNone/>
                      </a:pPr>
                      <a:r>
                        <a:rPr lang="en-US" sz="1100" b="1" dirty="0">
                          <a:solidFill>
                            <a:srgbClr val="FFFFFF"/>
                          </a:solidFill>
                        </a:rPr>
                        <a:t>ID</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1B4D3E"/>
                    </a:solidFill>
                  </a:tcPr>
                </a:tc>
                <a:tc>
                  <a:txBody>
                    <a:bodyPr/>
                    <a:lstStyle/>
                    <a:p>
                      <a:pPr marL="0" indent="0">
                        <a:buNone/>
                      </a:pPr>
                      <a:r>
                        <a:rPr lang="en-US" sz="1100" b="1" dirty="0">
                          <a:solidFill>
                            <a:srgbClr val="FFFFFF"/>
                          </a:solidFill>
                        </a:rPr>
                        <a:t>Requirement</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1B4D3E"/>
                    </a:solidFill>
                  </a:tcPr>
                </a:tc>
                <a:tc>
                  <a:txBody>
                    <a:bodyPr/>
                    <a:lstStyle/>
                    <a:p>
                      <a:pPr marL="0" indent="0">
                        <a:buNone/>
                      </a:pPr>
                      <a:r>
                        <a:rPr lang="en-US" sz="1100" b="1" dirty="0">
                          <a:solidFill>
                            <a:srgbClr val="FFFFFF"/>
                          </a:solidFill>
                        </a:rPr>
                        <a:t>Where</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1B4D3E"/>
                    </a:solidFill>
                  </a:tcPr>
                </a:tc>
                <a:tc>
                  <a:txBody>
                    <a:bodyPr/>
                    <a:lstStyle/>
                    <a:p>
                      <a:pPr marL="0" indent="0">
                        <a:buNone/>
                      </a:pPr>
                      <a:r>
                        <a:rPr lang="en-US" sz="1100" b="1" dirty="0">
                          <a:solidFill>
                            <a:srgbClr val="FFFFFF"/>
                          </a:solidFill>
                        </a:rPr>
                        <a:t>Status</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1B4D3E"/>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F2A24"/>
                          </a:solidFill>
                        </a:rPr>
                        <a:t>FR1</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Parents create accounts</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Flutter, web</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b="1" dirty="0">
                          <a:solidFill>
                            <a:srgbClr val="2E7D32"/>
                          </a:solidFill>
                        </a:rPr>
                        <a:t>Working</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1F2A24"/>
                          </a:solidFill>
                        </a:rPr>
                        <a:t>FR2</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Parents create applications</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Flutter, web</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b="1" dirty="0">
                          <a:solidFill>
                            <a:srgbClr val="2E7D32"/>
                          </a:solidFill>
                        </a:rPr>
                        <a:t>Working</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1F2A24"/>
                          </a:solidFill>
                        </a:rPr>
                        <a:t>FR3</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Parents view status</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Flutter, web</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b="1" dirty="0">
                          <a:solidFill>
                            <a:srgbClr val="2E7D32"/>
                          </a:solidFill>
                        </a:rPr>
                        <a:t>Working</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1F2A24"/>
                          </a:solidFill>
                        </a:rPr>
                        <a:t>FR4</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Only admins accept or reject</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Web, Admin role</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b="1" dirty="0">
                          <a:solidFill>
                            <a:srgbClr val="2E7D32"/>
                          </a:solidFill>
                        </a:rPr>
                        <a:t>Working</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rgbClr val="1F2A24"/>
                          </a:solidFill>
                        </a:rPr>
                        <a:t>FR5, FR6</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View updates and achievements</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Flutter, web</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b="1" dirty="0">
                          <a:solidFill>
                            <a:srgbClr val="2E7D32"/>
                          </a:solidFill>
                        </a:rPr>
                        <a:t>Working</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00" dirty="0">
                          <a:solidFill>
                            <a:srgbClr val="1F2A24"/>
                          </a:solidFill>
                        </a:rPr>
                        <a:t>FR7</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Differentiate users and admins</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Roles in profiles</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b="1" dirty="0">
                          <a:solidFill>
                            <a:srgbClr val="2E7D32"/>
                          </a:solidFill>
                        </a:rPr>
                        <a:t>Working</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1100" dirty="0">
                          <a:solidFill>
                            <a:srgbClr val="1F2A24"/>
                          </a:solidFill>
                        </a:rPr>
                        <a:t>FR8</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Admins publish updates</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Web</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b="1" dirty="0">
                          <a:solidFill>
                            <a:srgbClr val="2E7D32"/>
                          </a:solidFill>
                        </a:rPr>
                        <a:t>Working</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1100" dirty="0">
                          <a:solidFill>
                            <a:srgbClr val="1F2A24"/>
                          </a:solidFill>
                        </a:rPr>
                        <a:t>IR1 to IR4</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One backend, same Auth, no direct links</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dirty="0">
                          <a:solidFill>
                            <a:srgbClr val="1F2A24"/>
                          </a:solidFill>
                        </a:rPr>
                        <a:t>Both apps</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tc>
                  <a:txBody>
                    <a:bodyPr/>
                    <a:lstStyle/>
                    <a:p>
                      <a:pPr marL="0" indent="0">
                        <a:buNone/>
                      </a:pPr>
                      <a:r>
                        <a:rPr lang="en-US" sz="1100" b="1" dirty="0">
                          <a:solidFill>
                            <a:srgbClr val="2E7D32"/>
                          </a:solidFill>
                        </a:rPr>
                        <a:t>Working</a:t>
                      </a:r>
                      <a:endParaRPr lang="en-US" sz="1100" dirty="0"/>
                    </a:p>
                  </a:txBody>
                  <a:tcPr marL="73152" marR="73152" marT="0" marB="0" anchor="ctr">
                    <a:lnL w="6350" cap="flat" cmpd="sng" algn="ctr">
                      <a:solidFill>
                        <a:srgbClr val="C9DCC9"/>
                      </a:solidFill>
                      <a:prstDash val="solid"/>
                      <a:round/>
                      <a:headEnd type="none" w="med" len="med"/>
                      <a:tailEnd type="none" w="med" len="med"/>
                    </a:lnL>
                    <a:lnR w="6350" cap="flat" cmpd="sng" algn="ctr">
                      <a:solidFill>
                        <a:srgbClr val="C9DCC9"/>
                      </a:solidFill>
                      <a:prstDash val="solid"/>
                      <a:round/>
                      <a:headEnd type="none" w="med" len="med"/>
                      <a:tailEnd type="none" w="med" len="med"/>
                    </a:lnR>
                    <a:lnT w="6350" cap="flat" cmpd="sng" algn="ctr">
                      <a:solidFill>
                        <a:srgbClr val="C9DCC9"/>
                      </a:solidFill>
                      <a:prstDash val="solid"/>
                      <a:round/>
                      <a:headEnd type="none" w="med" len="med"/>
                      <a:tailEnd type="none" w="med" len="med"/>
                    </a:lnT>
                    <a:lnB w="6350" cap="flat" cmpd="sng" algn="ctr">
                      <a:solidFill>
                        <a:srgbClr val="C9DC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Conclusion and future work</a:t>
            </a:r>
            <a:endParaRPr lang="en-US" sz="2800" dirty="0"/>
          </a:p>
        </p:txBody>
      </p:sp>
      <p:sp>
        <p:nvSpPr>
          <p:cNvPr id="3" name="Conclusion card"/>
          <p:cNvSpPr/>
          <p:nvPr/>
        </p:nvSpPr>
        <p:spPr>
          <a:xfrm>
            <a:off x="457200" y="1097280"/>
            <a:ext cx="4023360" cy="3474720"/>
          </a:xfrm>
          <a:prstGeom prst="roundRect">
            <a:avLst>
              <a:gd name="adj" fmla="val 2105"/>
            </a:avLst>
          </a:prstGeom>
          <a:solidFill>
            <a:schemeClr val="tx2"/>
          </a:solidFill>
          <a:ln w="12700">
            <a:solidFill>
              <a:schemeClr val="tx2"/>
            </a:solidFill>
            <a:prstDash val="solid"/>
          </a:ln>
        </p:spPr>
        <p:txBody>
          <a:bodyPr/>
          <a:lstStyle/>
          <a:p>
            <a:endParaRPr lang="en-ZA"/>
          </a:p>
        </p:txBody>
      </p:sp>
      <p:sp>
        <p:nvSpPr>
          <p:cNvPr id="4" name="Achieved heading"/>
          <p:cNvSpPr txBox="1"/>
          <p:nvPr/>
        </p:nvSpPr>
        <p:spPr>
          <a:xfrm>
            <a:off x="640080" y="1188720"/>
            <a:ext cx="3657600" cy="320040"/>
          </a:xfrm>
          <a:prstGeom prst="rect">
            <a:avLst/>
          </a:prstGeom>
          <a:noFill/>
          <a:ln/>
        </p:spPr>
        <p:txBody>
          <a:bodyPr wrap="square" lIns="0" tIns="0" rIns="0" bIns="0" rtlCol="0" anchor="t"/>
          <a:lstStyle/>
          <a:p>
            <a:pPr marL="0" indent="0">
              <a:buNone/>
            </a:pPr>
            <a:r>
              <a:rPr lang="en-US" sz="1600" b="1" dirty="0">
                <a:solidFill>
                  <a:schemeClr val="bg1"/>
                </a:solidFill>
              </a:rPr>
              <a:t>What we achieved</a:t>
            </a:r>
            <a:endParaRPr lang="en-US" sz="1600" dirty="0"/>
          </a:p>
        </p:txBody>
      </p:sp>
      <p:sp>
        <p:nvSpPr>
          <p:cNvPr id="5" name="Achieved list"/>
          <p:cNvSpPr txBox="1"/>
          <p:nvPr/>
        </p:nvSpPr>
        <p:spPr>
          <a:xfrm>
            <a:off x="640080" y="160020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rPr>
              <a:t>A working Flutter app, ASP.NET app and shared Supabase backend</a:t>
            </a:r>
            <a:endParaRPr lang="en-US" sz="1300" dirty="0"/>
          </a:p>
          <a:p>
            <a:pPr marL="342900" indent="-342900">
              <a:spcAft>
                <a:spcPts val="600"/>
              </a:spcAft>
              <a:buSzPct val="100000"/>
              <a:buChar char="•"/>
            </a:pPr>
            <a:r>
              <a:rPr lang="en-US" sz="1300" dirty="0">
                <a:solidFill>
                  <a:schemeClr val="bg1"/>
                </a:solidFill>
              </a:rPr>
              <a:t>Parents can apply, upload documents and track their application without visiting the school</a:t>
            </a:r>
            <a:endParaRPr lang="en-US" sz="1300" dirty="0"/>
          </a:p>
          <a:p>
            <a:pPr marL="342900" indent="-342900">
              <a:spcAft>
                <a:spcPts val="600"/>
              </a:spcAft>
              <a:buSzPct val="100000"/>
              <a:buChar char="•"/>
            </a:pPr>
            <a:r>
              <a:rPr lang="en-US" sz="1300" dirty="0">
                <a:solidFill>
                  <a:schemeClr val="bg1"/>
                </a:solidFill>
              </a:rPr>
              <a:t>Admins can decide, comment and publish from one place</a:t>
            </a:r>
            <a:endParaRPr lang="en-US" sz="1300" dirty="0"/>
          </a:p>
          <a:p>
            <a:pPr marL="342900" indent="-342900">
              <a:spcAft>
                <a:spcPts val="600"/>
              </a:spcAft>
              <a:buSzPct val="100000"/>
              <a:buChar char="•"/>
            </a:pPr>
            <a:r>
              <a:rPr lang="en-US" sz="1300" dirty="0">
                <a:solidFill>
                  <a:schemeClr val="bg1"/>
                </a:solidFill>
              </a:rPr>
              <a:t>Three shared processes show the apps working on the same data</a:t>
            </a:r>
            <a:endParaRPr lang="en-US" sz="1300" dirty="0"/>
          </a:p>
          <a:p>
            <a:pPr marL="342900" indent="-342900">
              <a:spcAft>
                <a:spcPts val="600"/>
              </a:spcAft>
              <a:buSzPct val="100000"/>
              <a:buChar char="•"/>
            </a:pPr>
            <a:r>
              <a:rPr lang="en-US" sz="1300" dirty="0">
                <a:solidFill>
                  <a:schemeClr val="bg1"/>
                </a:solidFill>
              </a:rPr>
              <a:t>Scope was managed with the stakeholder from Phase 1 to Phase 3</a:t>
            </a:r>
            <a:endParaRPr lang="en-US" sz="1300" dirty="0"/>
          </a:p>
        </p:txBody>
      </p:sp>
      <p:sp>
        <p:nvSpPr>
          <p:cNvPr id="6" name="Future card"/>
          <p:cNvSpPr/>
          <p:nvPr/>
        </p:nvSpPr>
        <p:spPr>
          <a:xfrm>
            <a:off x="4663440" y="1097280"/>
            <a:ext cx="4023360" cy="3474720"/>
          </a:xfrm>
          <a:prstGeom prst="roundRect">
            <a:avLst>
              <a:gd name="adj" fmla="val 2105"/>
            </a:avLst>
          </a:prstGeom>
          <a:solidFill>
            <a:schemeClr val="bg2"/>
          </a:solidFill>
          <a:ln w="12700">
            <a:solidFill>
              <a:schemeClr val="bg2"/>
            </a:solidFill>
            <a:prstDash val="solid"/>
          </a:ln>
        </p:spPr>
        <p:txBody>
          <a:bodyPr/>
          <a:lstStyle/>
          <a:p>
            <a:endParaRPr lang="en-ZA"/>
          </a:p>
        </p:txBody>
      </p:sp>
      <p:sp>
        <p:nvSpPr>
          <p:cNvPr id="7" name="Future heading"/>
          <p:cNvSpPr txBox="1"/>
          <p:nvPr/>
        </p:nvSpPr>
        <p:spPr>
          <a:xfrm>
            <a:off x="4846320" y="1188720"/>
            <a:ext cx="3657600" cy="320040"/>
          </a:xfrm>
          <a:prstGeom prst="rect">
            <a:avLst/>
          </a:prstGeom>
          <a:noFill/>
          <a:ln/>
        </p:spPr>
        <p:txBody>
          <a:bodyPr wrap="square" lIns="0" tIns="0" rIns="0" bIns="0" rtlCol="0" anchor="t"/>
          <a:lstStyle/>
          <a:p>
            <a:pPr marL="0" indent="0">
              <a:buNone/>
            </a:pPr>
            <a:r>
              <a:rPr lang="en-US" sz="1600" b="1" dirty="0">
                <a:solidFill>
                  <a:schemeClr val="tx2"/>
                </a:solidFill>
              </a:rPr>
              <a:t>Possible next steps</a:t>
            </a:r>
            <a:endParaRPr lang="en-US" sz="1600" dirty="0"/>
          </a:p>
        </p:txBody>
      </p:sp>
      <p:sp>
        <p:nvSpPr>
          <p:cNvPr id="8" name="Future list"/>
          <p:cNvSpPr txBox="1"/>
          <p:nvPr/>
        </p:nvSpPr>
        <p:spPr>
          <a:xfrm>
            <a:off x="4846320" y="160020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Real-time updates and push notifications</a:t>
            </a:r>
            <a:endParaRPr lang="en-US" sz="1300" dirty="0"/>
          </a:p>
          <a:p>
            <a:pPr marL="342900" indent="-342900">
              <a:spcAft>
                <a:spcPts val="600"/>
              </a:spcAft>
              <a:buSzPct val="100000"/>
              <a:buChar char="•"/>
            </a:pPr>
            <a:r>
              <a:rPr lang="en-US" sz="1300" dirty="0">
                <a:solidFill>
                  <a:schemeClr val="tx1"/>
                </a:solidFill>
              </a:rPr>
              <a:t>Cancel an application and edit school updates</a:t>
            </a:r>
            <a:endParaRPr lang="en-US" sz="1300" dirty="0"/>
          </a:p>
          <a:p>
            <a:pPr marL="342900" indent="-342900">
              <a:spcAft>
                <a:spcPts val="600"/>
              </a:spcAft>
              <a:buSzPct val="100000"/>
              <a:buChar char="•"/>
            </a:pPr>
            <a:r>
              <a:rPr lang="en-US" sz="1300" dirty="0">
                <a:solidFill>
                  <a:schemeClr val="tx1"/>
                </a:solidFill>
              </a:rPr>
              <a:t>Database-level access rules for stronger security</a:t>
            </a:r>
            <a:endParaRPr lang="en-US" sz="1300" dirty="0"/>
          </a:p>
          <a:p>
            <a:pPr marL="342900" indent="-342900">
              <a:spcAft>
                <a:spcPts val="600"/>
              </a:spcAft>
              <a:buSzPct val="100000"/>
              <a:buChar char="•"/>
            </a:pPr>
            <a:r>
              <a:rPr lang="en-US" sz="1300" dirty="0">
                <a:solidFill>
                  <a:schemeClr val="tx1"/>
                </a:solidFill>
              </a:rPr>
              <a:t>Revisit excluded features </a:t>
            </a:r>
            <a:endParaRPr lang="en-US" sz="1300" dirty="0"/>
          </a:p>
          <a:p>
            <a:pPr marL="342900" indent="-342900">
              <a:spcAft>
                <a:spcPts val="600"/>
              </a:spcAft>
              <a:buSzPct val="100000"/>
              <a:buChar char="•"/>
            </a:pPr>
            <a:r>
              <a:rPr lang="en-US" sz="1300" dirty="0">
                <a:solidFill>
                  <a:schemeClr val="tx1"/>
                </a:solidFill>
              </a:rPr>
              <a:t>Reuse the architecture for other projects with the same problem</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8A77C-6B79-57E6-5673-A57CA2E10A56}"/>
            </a:ext>
          </a:extLst>
        </p:cNvPr>
        <p:cNvGrpSpPr/>
        <p:nvPr/>
      </p:nvGrpSpPr>
      <p:grpSpPr>
        <a:xfrm>
          <a:off x="0" y="0"/>
          <a:ext cx="0" cy="0"/>
          <a:chOff x="0" y="0"/>
          <a:chExt cx="0" cy="0"/>
        </a:xfrm>
      </p:grpSpPr>
      <p:sp>
        <p:nvSpPr>
          <p:cNvPr id="3" name="Group">
            <a:extLst>
              <a:ext uri="{FF2B5EF4-FFF2-40B4-BE49-F238E27FC236}">
                <a16:creationId xmlns:a16="http://schemas.microsoft.com/office/drawing/2014/main" id="{F90DE045-F568-6E9E-B117-DF3CFDEA7020}"/>
              </a:ext>
            </a:extLst>
          </p:cNvPr>
          <p:cNvSpPr txBox="1"/>
          <p:nvPr/>
        </p:nvSpPr>
        <p:spPr>
          <a:xfrm>
            <a:off x="597625" y="1866182"/>
            <a:ext cx="1312817" cy="365760"/>
          </a:xfrm>
          <a:prstGeom prst="rect">
            <a:avLst/>
          </a:prstGeom>
          <a:noFill/>
          <a:ln/>
        </p:spPr>
        <p:txBody>
          <a:bodyPr wrap="square" lIns="0" tIns="0" rIns="0" bIns="0" rtlCol="0" anchor="t"/>
          <a:lstStyle/>
          <a:p>
            <a:pPr marL="0" indent="0">
              <a:buNone/>
            </a:pPr>
            <a:r>
              <a:rPr lang="en-US" sz="1600" dirty="0">
                <a:solidFill>
                  <a:schemeClr val="accent4"/>
                </a:solidFill>
              </a:rPr>
              <a:t>Section 5 </a:t>
            </a:r>
            <a:endParaRPr lang="en-US" sz="1600" dirty="0"/>
          </a:p>
        </p:txBody>
      </p:sp>
      <p:sp>
        <p:nvSpPr>
          <p:cNvPr id="5" name="Rectangle 4">
            <a:extLst>
              <a:ext uri="{FF2B5EF4-FFF2-40B4-BE49-F238E27FC236}">
                <a16:creationId xmlns:a16="http://schemas.microsoft.com/office/drawing/2014/main" id="{F7B56DCB-766F-AEC2-9F84-E2BFFE31DD2E}"/>
              </a:ext>
            </a:extLst>
          </p:cNvPr>
          <p:cNvSpPr/>
          <p:nvPr/>
        </p:nvSpPr>
        <p:spPr>
          <a:xfrm>
            <a:off x="597625" y="2431975"/>
            <a:ext cx="1545938" cy="61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2"/>
              </a:solidFill>
            </a:endParaRPr>
          </a:p>
        </p:txBody>
      </p:sp>
      <p:sp>
        <p:nvSpPr>
          <p:cNvPr id="7" name="Subtitle">
            <a:extLst>
              <a:ext uri="{FF2B5EF4-FFF2-40B4-BE49-F238E27FC236}">
                <a16:creationId xmlns:a16="http://schemas.microsoft.com/office/drawing/2014/main" id="{84F25AD5-20F4-601E-F6CC-84377DDFFFA9}"/>
              </a:ext>
            </a:extLst>
          </p:cNvPr>
          <p:cNvSpPr txBox="1"/>
          <p:nvPr/>
        </p:nvSpPr>
        <p:spPr>
          <a:xfrm>
            <a:off x="597625" y="2571750"/>
            <a:ext cx="4095206" cy="411480"/>
          </a:xfrm>
          <a:prstGeom prst="rect">
            <a:avLst/>
          </a:prstGeom>
          <a:noFill/>
          <a:ln/>
        </p:spPr>
        <p:txBody>
          <a:bodyPr wrap="square" lIns="0" tIns="0" rIns="0" bIns="0" rtlCol="0" anchor="t"/>
          <a:lstStyle/>
          <a:p>
            <a:pPr marL="0" indent="0">
              <a:buNone/>
            </a:pPr>
            <a:r>
              <a:rPr lang="en-US" sz="2000" dirty="0">
                <a:solidFill>
                  <a:schemeClr val="bg2"/>
                </a:solidFill>
              </a:rPr>
              <a:t>Project Evidence</a:t>
            </a:r>
            <a:endParaRPr lang="en-US" sz="2000" dirty="0"/>
          </a:p>
        </p:txBody>
      </p:sp>
    </p:spTree>
    <p:extLst>
      <p:ext uri="{BB962C8B-B14F-4D97-AF65-F5344CB8AC3E}">
        <p14:creationId xmlns:p14="http://schemas.microsoft.com/office/powerpoint/2010/main" val="2789441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C0993F-732F-9AEE-BCF4-A920F4C9754F}"/>
              </a:ext>
            </a:extLst>
          </p:cNvPr>
          <p:cNvSpPr txBox="1"/>
          <p:nvPr/>
        </p:nvSpPr>
        <p:spPr>
          <a:xfrm>
            <a:off x="492369" y="405695"/>
            <a:ext cx="5690381" cy="523220"/>
          </a:xfrm>
          <a:prstGeom prst="rect">
            <a:avLst/>
          </a:prstGeom>
          <a:noFill/>
        </p:spPr>
        <p:txBody>
          <a:bodyPr wrap="square">
            <a:spAutoFit/>
          </a:bodyPr>
          <a:lstStyle/>
          <a:p>
            <a:pPr marL="0" indent="0">
              <a:buNone/>
            </a:pPr>
            <a:r>
              <a:rPr lang="en-US" sz="2800" b="1" dirty="0">
                <a:solidFill>
                  <a:schemeClr val="tx2"/>
                </a:solidFill>
                <a:latin typeface="Cambria" pitchFamily="34" charset="0"/>
                <a:ea typeface="Cambria" pitchFamily="34" charset="-122"/>
                <a:cs typeface="Cambria" pitchFamily="34" charset="-120"/>
              </a:rPr>
              <a:t>Project Evidence </a:t>
            </a:r>
            <a:endParaRPr lang="en-US" sz="2800" dirty="0"/>
          </a:p>
        </p:txBody>
      </p:sp>
      <p:sp>
        <p:nvSpPr>
          <p:cNvPr id="5" name="TextBox 4">
            <a:extLst>
              <a:ext uri="{FF2B5EF4-FFF2-40B4-BE49-F238E27FC236}">
                <a16:creationId xmlns:a16="http://schemas.microsoft.com/office/drawing/2014/main" id="{5C02C063-47AF-1525-D502-8F7298BE18AE}"/>
              </a:ext>
            </a:extLst>
          </p:cNvPr>
          <p:cNvSpPr txBox="1"/>
          <p:nvPr/>
        </p:nvSpPr>
        <p:spPr>
          <a:xfrm>
            <a:off x="583809" y="928915"/>
            <a:ext cx="4572000" cy="292388"/>
          </a:xfrm>
          <a:prstGeom prst="rect">
            <a:avLst/>
          </a:prstGeom>
          <a:noFill/>
        </p:spPr>
        <p:txBody>
          <a:bodyPr wrap="square">
            <a:spAutoFit/>
          </a:bodyPr>
          <a:lstStyle/>
          <a:p>
            <a:pPr algn="l">
              <a:spcBef>
                <a:spcPts val="0"/>
              </a:spcBef>
              <a:spcAft>
                <a:spcPts val="400"/>
              </a:spcAft>
            </a:pPr>
            <a:r>
              <a:rPr lang="en-GB" sz="1300" b="1" spc="180" dirty="0">
                <a:solidFill>
                  <a:schemeClr val="tx2"/>
                </a:solidFill>
                <a:latin typeface="Segoe UI"/>
              </a:rPr>
              <a:t>Strategic Tools - GitHub</a:t>
            </a:r>
            <a:endParaRPr lang="en-GB" sz="1300" b="1" i="0" spc="180" dirty="0">
              <a:solidFill>
                <a:schemeClr val="tx2"/>
              </a:solidFill>
              <a:latin typeface="Segoe UI"/>
            </a:endParaRPr>
          </a:p>
        </p:txBody>
      </p:sp>
      <p:sp>
        <p:nvSpPr>
          <p:cNvPr id="8" name="Rectangle 7">
            <a:extLst>
              <a:ext uri="{FF2B5EF4-FFF2-40B4-BE49-F238E27FC236}">
                <a16:creationId xmlns:a16="http://schemas.microsoft.com/office/drawing/2014/main" id="{EAE83C9C-703C-0197-8AFF-E167A3ED7A8E}"/>
              </a:ext>
            </a:extLst>
          </p:cNvPr>
          <p:cNvSpPr/>
          <p:nvPr/>
        </p:nvSpPr>
        <p:spPr>
          <a:xfrm>
            <a:off x="703385" y="1242404"/>
            <a:ext cx="689317" cy="61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2"/>
              </a:solidFill>
            </a:endParaRPr>
          </a:p>
        </p:txBody>
      </p:sp>
      <p:sp>
        <p:nvSpPr>
          <p:cNvPr id="10" name="Rectangle 2">
            <a:extLst>
              <a:ext uri="{FF2B5EF4-FFF2-40B4-BE49-F238E27FC236}">
                <a16:creationId xmlns:a16="http://schemas.microsoft.com/office/drawing/2014/main" id="{BC07FCF6-DFAE-44B7-7DB0-588F7FADC438}"/>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A"/>
          </a:p>
        </p:txBody>
      </p:sp>
      <p:pic>
        <p:nvPicPr>
          <p:cNvPr id="1025" name="Picture 17">
            <a:extLst>
              <a:ext uri="{FF2B5EF4-FFF2-40B4-BE49-F238E27FC236}">
                <a16:creationId xmlns:a16="http://schemas.microsoft.com/office/drawing/2014/main" id="{3EAF7A6C-CCD3-268E-C49F-3DE14CCBA3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385" y="1578959"/>
            <a:ext cx="5715000" cy="27733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3">
            <a:extLst>
              <a:ext uri="{FF2B5EF4-FFF2-40B4-BE49-F238E27FC236}">
                <a16:creationId xmlns:a16="http://schemas.microsoft.com/office/drawing/2014/main" id="{1915DE9C-FBE2-B0D3-28CA-5D1AF3DD8EFD}"/>
              </a:ext>
            </a:extLst>
          </p:cNvPr>
          <p:cNvSpPr>
            <a:spLocks noChangeArrowheads="1"/>
          </p:cNvSpPr>
          <p:nvPr/>
        </p:nvSpPr>
        <p:spPr bwMode="auto">
          <a:xfrm>
            <a:off x="647114" y="4352322"/>
            <a:ext cx="638673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1"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Flutter mobile application </a:t>
            </a:r>
            <a:r>
              <a:rPr kumimoji="0" lang="en-GB" altLang="en-US" sz="1100" b="0" i="1" u="none" strike="noStrike" cap="none" normalizeH="0" baseline="0" dirty="0" err="1">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github</a:t>
            </a:r>
            <a:r>
              <a:rPr kumimoji="0" lang="en-GB" altLang="en-US" sz="1100" b="0" i="1"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repository: </a:t>
            </a:r>
            <a:r>
              <a:rPr kumimoji="0" lang="en-GB" altLang="en-US" sz="1100" b="0" i="1"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hlinkClick r:id="rId3"/>
              </a:rPr>
              <a:t>https://github.com/WIL-Project-Hub/Setshabelo-Integrated-Flutter-Mobile-Application</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76992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8">
            <a:extLst>
              <a:ext uri="{FF2B5EF4-FFF2-40B4-BE49-F238E27FC236}">
                <a16:creationId xmlns:a16="http://schemas.microsoft.com/office/drawing/2014/main" id="{95C182D4-BBDA-39F6-CB6B-736640F46B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123" y="1407174"/>
            <a:ext cx="5859409" cy="27892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2558523C-7A76-BD96-4CF7-00E22D82D2CE}"/>
              </a:ext>
            </a:extLst>
          </p:cNvPr>
          <p:cNvSpPr>
            <a:spLocks noChangeArrowheads="1"/>
          </p:cNvSpPr>
          <p:nvPr/>
        </p:nvSpPr>
        <p:spPr bwMode="auto">
          <a:xfrm>
            <a:off x="372794" y="4241844"/>
            <a:ext cx="6239021"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1"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en-ZA"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1"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ASP.NET web application </a:t>
            </a:r>
            <a:r>
              <a:rPr kumimoji="0" lang="en-GB" altLang="en-US" sz="1100" b="0" i="1" u="none" strike="noStrike" cap="none" normalizeH="0" baseline="0" dirty="0" err="1">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github</a:t>
            </a:r>
            <a:r>
              <a:rPr kumimoji="0" lang="en-GB" altLang="en-US" sz="1100" b="0" i="1"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repository</a:t>
            </a:r>
            <a:r>
              <a:rPr kumimoji="0" lang="en-GB" altLang="en-US" sz="1100" b="0" i="1"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hlinkClick r:id="rId3"/>
              </a:rPr>
              <a:t>: https://github.com/WIL-Project-Hub/Setshabelo-Integrated-Website-Application</a:t>
            </a: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E2C1491F-0635-0800-A48A-98A42F1B0157}"/>
              </a:ext>
            </a:extLst>
          </p:cNvPr>
          <p:cNvSpPr txBox="1"/>
          <p:nvPr/>
        </p:nvSpPr>
        <p:spPr>
          <a:xfrm>
            <a:off x="443132" y="262757"/>
            <a:ext cx="4902590" cy="523220"/>
          </a:xfrm>
          <a:prstGeom prst="rect">
            <a:avLst/>
          </a:prstGeom>
          <a:noFill/>
        </p:spPr>
        <p:txBody>
          <a:bodyPr wrap="square">
            <a:spAutoFit/>
          </a:bodyPr>
          <a:lstStyle/>
          <a:p>
            <a:pPr marL="0" indent="0">
              <a:buNone/>
            </a:pPr>
            <a:r>
              <a:rPr lang="en-US" sz="2800" b="1" dirty="0">
                <a:solidFill>
                  <a:schemeClr val="tx2"/>
                </a:solidFill>
                <a:latin typeface="Cambria" pitchFamily="34" charset="0"/>
                <a:ea typeface="Cambria" pitchFamily="34" charset="-122"/>
                <a:cs typeface="Cambria" pitchFamily="34" charset="-120"/>
              </a:rPr>
              <a:t>Project Evidence </a:t>
            </a:r>
            <a:endParaRPr lang="en-US" sz="2800" dirty="0"/>
          </a:p>
        </p:txBody>
      </p:sp>
      <p:sp>
        <p:nvSpPr>
          <p:cNvPr id="7" name="TextBox 6">
            <a:extLst>
              <a:ext uri="{FF2B5EF4-FFF2-40B4-BE49-F238E27FC236}">
                <a16:creationId xmlns:a16="http://schemas.microsoft.com/office/drawing/2014/main" id="{17758907-793A-4972-FDC3-7B6F308F90E5}"/>
              </a:ext>
            </a:extLst>
          </p:cNvPr>
          <p:cNvSpPr txBox="1"/>
          <p:nvPr/>
        </p:nvSpPr>
        <p:spPr>
          <a:xfrm>
            <a:off x="545123" y="769272"/>
            <a:ext cx="4572000" cy="292388"/>
          </a:xfrm>
          <a:prstGeom prst="rect">
            <a:avLst/>
          </a:prstGeom>
          <a:noFill/>
        </p:spPr>
        <p:txBody>
          <a:bodyPr wrap="square">
            <a:spAutoFit/>
          </a:bodyPr>
          <a:lstStyle/>
          <a:p>
            <a:pPr algn="l">
              <a:spcBef>
                <a:spcPts val="0"/>
              </a:spcBef>
              <a:spcAft>
                <a:spcPts val="400"/>
              </a:spcAft>
            </a:pPr>
            <a:r>
              <a:rPr lang="en-GB" sz="1300" b="1" spc="180" dirty="0">
                <a:solidFill>
                  <a:schemeClr val="tx2"/>
                </a:solidFill>
                <a:latin typeface="Segoe UI"/>
              </a:rPr>
              <a:t>Strategic Tools - GitHub</a:t>
            </a:r>
            <a:endParaRPr lang="en-GB" sz="1300" b="1" i="0" spc="180" dirty="0">
              <a:solidFill>
                <a:schemeClr val="tx2"/>
              </a:solidFill>
              <a:latin typeface="Segoe UI"/>
            </a:endParaRPr>
          </a:p>
        </p:txBody>
      </p:sp>
      <p:sp>
        <p:nvSpPr>
          <p:cNvPr id="9" name="Rectangle 8">
            <a:extLst>
              <a:ext uri="{FF2B5EF4-FFF2-40B4-BE49-F238E27FC236}">
                <a16:creationId xmlns:a16="http://schemas.microsoft.com/office/drawing/2014/main" id="{E6F14A7E-855F-8349-0A5A-49D6FAFDE94C}"/>
              </a:ext>
            </a:extLst>
          </p:cNvPr>
          <p:cNvSpPr/>
          <p:nvPr/>
        </p:nvSpPr>
        <p:spPr>
          <a:xfrm>
            <a:off x="640081" y="1092650"/>
            <a:ext cx="689317" cy="61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2"/>
              </a:solidFill>
            </a:endParaRPr>
          </a:p>
        </p:txBody>
      </p:sp>
    </p:spTree>
    <p:extLst>
      <p:ext uri="{BB962C8B-B14F-4D97-AF65-F5344CB8AC3E}">
        <p14:creationId xmlns:p14="http://schemas.microsoft.com/office/powerpoint/2010/main" val="2572802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5194E-97E8-F052-D927-D354AB1078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1D154F-A4D3-4723-3475-A46AF023D5EB}"/>
              </a:ext>
            </a:extLst>
          </p:cNvPr>
          <p:cNvSpPr txBox="1"/>
          <p:nvPr/>
        </p:nvSpPr>
        <p:spPr>
          <a:xfrm>
            <a:off x="393895" y="410123"/>
            <a:ext cx="4572000" cy="523220"/>
          </a:xfrm>
          <a:prstGeom prst="rect">
            <a:avLst/>
          </a:prstGeom>
          <a:noFill/>
        </p:spPr>
        <p:txBody>
          <a:bodyPr wrap="square">
            <a:spAutoFit/>
          </a:bodyPr>
          <a:lstStyle/>
          <a:p>
            <a:pPr marL="0" indent="0">
              <a:buNone/>
            </a:pPr>
            <a:r>
              <a:rPr lang="en-US" sz="2800" b="1" dirty="0">
                <a:solidFill>
                  <a:schemeClr val="tx2"/>
                </a:solidFill>
                <a:latin typeface="Cambria" pitchFamily="34" charset="0"/>
                <a:ea typeface="Cambria" pitchFamily="34" charset="-122"/>
                <a:cs typeface="Cambria" pitchFamily="34" charset="-120"/>
              </a:rPr>
              <a:t>Project Evidence </a:t>
            </a:r>
            <a:endParaRPr lang="en-US" sz="2800" dirty="0"/>
          </a:p>
        </p:txBody>
      </p:sp>
      <p:sp>
        <p:nvSpPr>
          <p:cNvPr id="5" name="TextBox 4">
            <a:extLst>
              <a:ext uri="{FF2B5EF4-FFF2-40B4-BE49-F238E27FC236}">
                <a16:creationId xmlns:a16="http://schemas.microsoft.com/office/drawing/2014/main" id="{DC73305D-2AAD-C706-40ED-DA1B588524AF}"/>
              </a:ext>
            </a:extLst>
          </p:cNvPr>
          <p:cNvSpPr txBox="1"/>
          <p:nvPr/>
        </p:nvSpPr>
        <p:spPr>
          <a:xfrm>
            <a:off x="506437" y="863163"/>
            <a:ext cx="4572000" cy="292388"/>
          </a:xfrm>
          <a:prstGeom prst="rect">
            <a:avLst/>
          </a:prstGeom>
          <a:noFill/>
        </p:spPr>
        <p:txBody>
          <a:bodyPr wrap="square">
            <a:spAutoFit/>
          </a:bodyPr>
          <a:lstStyle/>
          <a:p>
            <a:pPr algn="l">
              <a:spcBef>
                <a:spcPts val="0"/>
              </a:spcBef>
              <a:spcAft>
                <a:spcPts val="400"/>
              </a:spcAft>
            </a:pPr>
            <a:r>
              <a:rPr lang="en-GB" sz="1300" b="1" spc="180" dirty="0">
                <a:solidFill>
                  <a:schemeClr val="tx2"/>
                </a:solidFill>
                <a:latin typeface="Segoe UI"/>
              </a:rPr>
              <a:t>Strategic Tools – </a:t>
            </a:r>
            <a:r>
              <a:rPr lang="en-GB" sz="1300" b="1" spc="180" dirty="0" err="1">
                <a:solidFill>
                  <a:schemeClr val="tx2"/>
                </a:solidFill>
                <a:latin typeface="Segoe UI"/>
              </a:rPr>
              <a:t>Supabase</a:t>
            </a:r>
            <a:endParaRPr lang="en-GB" sz="1300" b="1" i="0" spc="180" dirty="0">
              <a:solidFill>
                <a:schemeClr val="tx2"/>
              </a:solidFill>
              <a:latin typeface="Segoe UI"/>
            </a:endParaRPr>
          </a:p>
        </p:txBody>
      </p:sp>
      <p:sp>
        <p:nvSpPr>
          <p:cNvPr id="7" name="Rectangle 6">
            <a:extLst>
              <a:ext uri="{FF2B5EF4-FFF2-40B4-BE49-F238E27FC236}">
                <a16:creationId xmlns:a16="http://schemas.microsoft.com/office/drawing/2014/main" id="{FC7C8E04-EF79-3A5D-36EA-DD4A8AAB529D}"/>
              </a:ext>
            </a:extLst>
          </p:cNvPr>
          <p:cNvSpPr/>
          <p:nvPr/>
        </p:nvSpPr>
        <p:spPr>
          <a:xfrm>
            <a:off x="576776" y="1210182"/>
            <a:ext cx="689317" cy="61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2"/>
              </a:solidFill>
            </a:endParaRPr>
          </a:p>
        </p:txBody>
      </p:sp>
      <p:pic>
        <p:nvPicPr>
          <p:cNvPr id="4" name="Picture 3">
            <a:extLst>
              <a:ext uri="{FF2B5EF4-FFF2-40B4-BE49-F238E27FC236}">
                <a16:creationId xmlns:a16="http://schemas.microsoft.com/office/drawing/2014/main" id="{5FD6E833-20D2-44C9-F965-62696E6FD66E}"/>
              </a:ext>
            </a:extLst>
          </p:cNvPr>
          <p:cNvPicPr>
            <a:picLocks noChangeAspect="1"/>
          </p:cNvPicPr>
          <p:nvPr/>
        </p:nvPicPr>
        <p:blipFill>
          <a:blip r:embed="rId2"/>
          <a:stretch>
            <a:fillRect/>
          </a:stretch>
        </p:blipFill>
        <p:spPr>
          <a:xfrm>
            <a:off x="506436" y="1386382"/>
            <a:ext cx="8131127" cy="3531783"/>
          </a:xfrm>
          <a:prstGeom prst="rect">
            <a:avLst/>
          </a:prstGeom>
        </p:spPr>
      </p:pic>
    </p:spTree>
    <p:extLst>
      <p:ext uri="{BB962C8B-B14F-4D97-AF65-F5344CB8AC3E}">
        <p14:creationId xmlns:p14="http://schemas.microsoft.com/office/powerpoint/2010/main" val="4031928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27F547-897C-7773-6DD5-C7A5F98560C0}"/>
              </a:ext>
            </a:extLst>
          </p:cNvPr>
          <p:cNvSpPr txBox="1"/>
          <p:nvPr/>
        </p:nvSpPr>
        <p:spPr>
          <a:xfrm>
            <a:off x="393895" y="410123"/>
            <a:ext cx="4572000" cy="523220"/>
          </a:xfrm>
          <a:prstGeom prst="rect">
            <a:avLst/>
          </a:prstGeom>
          <a:noFill/>
        </p:spPr>
        <p:txBody>
          <a:bodyPr wrap="square">
            <a:spAutoFit/>
          </a:bodyPr>
          <a:lstStyle/>
          <a:p>
            <a:pPr marL="0" indent="0">
              <a:buNone/>
            </a:pPr>
            <a:r>
              <a:rPr lang="en-US" sz="2800" b="1" dirty="0">
                <a:solidFill>
                  <a:schemeClr val="tx2"/>
                </a:solidFill>
                <a:latin typeface="Cambria" pitchFamily="34" charset="0"/>
                <a:ea typeface="Cambria" pitchFamily="34" charset="-122"/>
                <a:cs typeface="Cambria" pitchFamily="34" charset="-120"/>
              </a:rPr>
              <a:t>Project Evidence </a:t>
            </a:r>
            <a:endParaRPr lang="en-US" sz="2800" dirty="0"/>
          </a:p>
        </p:txBody>
      </p:sp>
      <p:sp>
        <p:nvSpPr>
          <p:cNvPr id="5" name="TextBox 4">
            <a:extLst>
              <a:ext uri="{FF2B5EF4-FFF2-40B4-BE49-F238E27FC236}">
                <a16:creationId xmlns:a16="http://schemas.microsoft.com/office/drawing/2014/main" id="{08D2E539-E90C-043C-EB7B-C04F4677CE87}"/>
              </a:ext>
            </a:extLst>
          </p:cNvPr>
          <p:cNvSpPr txBox="1"/>
          <p:nvPr/>
        </p:nvSpPr>
        <p:spPr>
          <a:xfrm>
            <a:off x="393895" y="1009357"/>
            <a:ext cx="4572000" cy="292388"/>
          </a:xfrm>
          <a:prstGeom prst="rect">
            <a:avLst/>
          </a:prstGeom>
          <a:noFill/>
        </p:spPr>
        <p:txBody>
          <a:bodyPr wrap="square">
            <a:spAutoFit/>
          </a:bodyPr>
          <a:lstStyle/>
          <a:p>
            <a:pPr algn="l">
              <a:spcBef>
                <a:spcPts val="0"/>
              </a:spcBef>
              <a:spcAft>
                <a:spcPts val="400"/>
              </a:spcAft>
            </a:pPr>
            <a:r>
              <a:rPr lang="en-GB" sz="1300" b="1" spc="180" dirty="0">
                <a:solidFill>
                  <a:schemeClr val="tx2"/>
                </a:solidFill>
                <a:latin typeface="Segoe UI"/>
              </a:rPr>
              <a:t>Strategic Tools – </a:t>
            </a:r>
            <a:r>
              <a:rPr lang="en-GB" sz="1300" b="1" spc="180" dirty="0" err="1">
                <a:solidFill>
                  <a:schemeClr val="tx2"/>
                </a:solidFill>
                <a:latin typeface="Segoe UI"/>
              </a:rPr>
              <a:t>Supabase</a:t>
            </a:r>
            <a:r>
              <a:rPr lang="en-GB" sz="1300" b="1" spc="180" dirty="0">
                <a:solidFill>
                  <a:schemeClr val="tx2"/>
                </a:solidFill>
                <a:latin typeface="Segoe UI"/>
              </a:rPr>
              <a:t> schema</a:t>
            </a:r>
            <a:endParaRPr lang="en-GB" sz="1300" b="1" i="0" spc="180" dirty="0">
              <a:solidFill>
                <a:schemeClr val="tx2"/>
              </a:solidFill>
              <a:latin typeface="Segoe UI"/>
            </a:endParaRPr>
          </a:p>
        </p:txBody>
      </p:sp>
      <p:sp>
        <p:nvSpPr>
          <p:cNvPr id="7" name="Rectangle 6">
            <a:extLst>
              <a:ext uri="{FF2B5EF4-FFF2-40B4-BE49-F238E27FC236}">
                <a16:creationId xmlns:a16="http://schemas.microsoft.com/office/drawing/2014/main" id="{164F13DA-8672-9F51-1C12-AB98882395F4}"/>
              </a:ext>
            </a:extLst>
          </p:cNvPr>
          <p:cNvSpPr/>
          <p:nvPr/>
        </p:nvSpPr>
        <p:spPr>
          <a:xfrm>
            <a:off x="498399" y="1377759"/>
            <a:ext cx="689317" cy="61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2"/>
              </a:solidFill>
            </a:endParaRPr>
          </a:p>
        </p:txBody>
      </p:sp>
      <p:pic>
        <p:nvPicPr>
          <p:cNvPr id="9" name="Picture 8">
            <a:extLst>
              <a:ext uri="{FF2B5EF4-FFF2-40B4-BE49-F238E27FC236}">
                <a16:creationId xmlns:a16="http://schemas.microsoft.com/office/drawing/2014/main" id="{8B6DDEDF-6EDE-8D4D-5A3C-B8E5920A7C2D}"/>
              </a:ext>
            </a:extLst>
          </p:cNvPr>
          <p:cNvPicPr>
            <a:picLocks noChangeAspect="1"/>
          </p:cNvPicPr>
          <p:nvPr/>
        </p:nvPicPr>
        <p:blipFill>
          <a:blip r:embed="rId2"/>
          <a:stretch>
            <a:fillRect/>
          </a:stretch>
        </p:blipFill>
        <p:spPr>
          <a:xfrm>
            <a:off x="0" y="1645920"/>
            <a:ext cx="9144000" cy="3417586"/>
          </a:xfrm>
          <a:prstGeom prst="rect">
            <a:avLst/>
          </a:prstGeom>
        </p:spPr>
      </p:pic>
    </p:spTree>
    <p:extLst>
      <p:ext uri="{BB962C8B-B14F-4D97-AF65-F5344CB8AC3E}">
        <p14:creationId xmlns:p14="http://schemas.microsoft.com/office/powerpoint/2010/main" val="2981057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D4F747-F67E-F597-E63F-5CA509147A82}"/>
              </a:ext>
            </a:extLst>
          </p:cNvPr>
          <p:cNvSpPr txBox="1"/>
          <p:nvPr/>
        </p:nvSpPr>
        <p:spPr>
          <a:xfrm>
            <a:off x="393895" y="410123"/>
            <a:ext cx="4572000" cy="523220"/>
          </a:xfrm>
          <a:prstGeom prst="rect">
            <a:avLst/>
          </a:prstGeom>
          <a:noFill/>
        </p:spPr>
        <p:txBody>
          <a:bodyPr wrap="square">
            <a:spAutoFit/>
          </a:bodyPr>
          <a:lstStyle/>
          <a:p>
            <a:pPr marL="0" indent="0">
              <a:buNone/>
            </a:pPr>
            <a:r>
              <a:rPr lang="en-US" sz="2800" b="1" dirty="0">
                <a:solidFill>
                  <a:schemeClr val="tx2"/>
                </a:solidFill>
                <a:latin typeface="Cambria" pitchFamily="34" charset="0"/>
                <a:ea typeface="Cambria" pitchFamily="34" charset="-122"/>
                <a:cs typeface="Cambria" pitchFamily="34" charset="-120"/>
              </a:rPr>
              <a:t>Project Evidence </a:t>
            </a:r>
            <a:endParaRPr lang="en-US" sz="2800" dirty="0"/>
          </a:p>
        </p:txBody>
      </p:sp>
      <p:sp>
        <p:nvSpPr>
          <p:cNvPr id="5" name="TextBox 4">
            <a:extLst>
              <a:ext uri="{FF2B5EF4-FFF2-40B4-BE49-F238E27FC236}">
                <a16:creationId xmlns:a16="http://schemas.microsoft.com/office/drawing/2014/main" id="{099E14B4-AFB8-1731-BC99-B8EBEFCC38D4}"/>
              </a:ext>
            </a:extLst>
          </p:cNvPr>
          <p:cNvSpPr txBox="1"/>
          <p:nvPr/>
        </p:nvSpPr>
        <p:spPr>
          <a:xfrm>
            <a:off x="506437" y="863163"/>
            <a:ext cx="4572000" cy="292388"/>
          </a:xfrm>
          <a:prstGeom prst="rect">
            <a:avLst/>
          </a:prstGeom>
          <a:noFill/>
        </p:spPr>
        <p:txBody>
          <a:bodyPr wrap="square">
            <a:spAutoFit/>
          </a:bodyPr>
          <a:lstStyle/>
          <a:p>
            <a:pPr algn="l">
              <a:spcBef>
                <a:spcPts val="0"/>
              </a:spcBef>
              <a:spcAft>
                <a:spcPts val="400"/>
              </a:spcAft>
            </a:pPr>
            <a:r>
              <a:rPr lang="en-GB" sz="1300" b="1" spc="180" dirty="0">
                <a:solidFill>
                  <a:schemeClr val="tx2"/>
                </a:solidFill>
                <a:latin typeface="Segoe UI"/>
              </a:rPr>
              <a:t>Strategic Tools – Microsoft Project</a:t>
            </a:r>
            <a:endParaRPr lang="en-GB" sz="1300" b="1" i="0" spc="180" dirty="0">
              <a:solidFill>
                <a:schemeClr val="tx2"/>
              </a:solidFill>
              <a:latin typeface="Segoe UI"/>
            </a:endParaRPr>
          </a:p>
        </p:txBody>
      </p:sp>
      <p:sp>
        <p:nvSpPr>
          <p:cNvPr id="7" name="Rectangle 6">
            <a:extLst>
              <a:ext uri="{FF2B5EF4-FFF2-40B4-BE49-F238E27FC236}">
                <a16:creationId xmlns:a16="http://schemas.microsoft.com/office/drawing/2014/main" id="{395639F3-A09C-E0A1-8491-341C4B695950}"/>
              </a:ext>
            </a:extLst>
          </p:cNvPr>
          <p:cNvSpPr/>
          <p:nvPr/>
        </p:nvSpPr>
        <p:spPr>
          <a:xfrm>
            <a:off x="626013" y="1179641"/>
            <a:ext cx="689317" cy="61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2"/>
              </a:solidFill>
            </a:endParaRPr>
          </a:p>
        </p:txBody>
      </p:sp>
      <p:pic>
        <p:nvPicPr>
          <p:cNvPr id="9" name="Picture 8">
            <a:extLst>
              <a:ext uri="{FF2B5EF4-FFF2-40B4-BE49-F238E27FC236}">
                <a16:creationId xmlns:a16="http://schemas.microsoft.com/office/drawing/2014/main" id="{5CA85E2B-4C90-D73F-D842-27F50E1625A7}"/>
              </a:ext>
            </a:extLst>
          </p:cNvPr>
          <p:cNvPicPr>
            <a:picLocks noChangeAspect="1"/>
          </p:cNvPicPr>
          <p:nvPr/>
        </p:nvPicPr>
        <p:blipFill>
          <a:blip r:embed="rId2"/>
          <a:stretch>
            <a:fillRect/>
          </a:stretch>
        </p:blipFill>
        <p:spPr>
          <a:xfrm>
            <a:off x="506437" y="1386383"/>
            <a:ext cx="8067821" cy="3533654"/>
          </a:xfrm>
          <a:prstGeom prst="rect">
            <a:avLst/>
          </a:prstGeom>
        </p:spPr>
      </p:pic>
    </p:spTree>
    <p:extLst>
      <p:ext uri="{BB962C8B-B14F-4D97-AF65-F5344CB8AC3E}">
        <p14:creationId xmlns:p14="http://schemas.microsoft.com/office/powerpoint/2010/main" val="3812112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9B347-D068-7D66-C6FB-707261D72F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39C488-A8FB-66E2-007C-488EB162654C}"/>
              </a:ext>
            </a:extLst>
          </p:cNvPr>
          <p:cNvSpPr txBox="1"/>
          <p:nvPr/>
        </p:nvSpPr>
        <p:spPr>
          <a:xfrm>
            <a:off x="393895" y="410123"/>
            <a:ext cx="4572000" cy="523220"/>
          </a:xfrm>
          <a:prstGeom prst="rect">
            <a:avLst/>
          </a:prstGeom>
          <a:noFill/>
        </p:spPr>
        <p:txBody>
          <a:bodyPr wrap="square">
            <a:spAutoFit/>
          </a:bodyPr>
          <a:lstStyle/>
          <a:p>
            <a:pPr marL="0" indent="0">
              <a:buNone/>
            </a:pPr>
            <a:r>
              <a:rPr lang="en-US" sz="2800" b="1" dirty="0">
                <a:solidFill>
                  <a:schemeClr val="tx2"/>
                </a:solidFill>
                <a:latin typeface="Cambria" pitchFamily="34" charset="0"/>
                <a:ea typeface="Cambria" pitchFamily="34" charset="-122"/>
                <a:cs typeface="Cambria" pitchFamily="34" charset="-120"/>
              </a:rPr>
              <a:t>Project Evidence </a:t>
            </a:r>
            <a:endParaRPr lang="en-US" sz="2800" dirty="0"/>
          </a:p>
        </p:txBody>
      </p:sp>
      <p:sp>
        <p:nvSpPr>
          <p:cNvPr id="5" name="TextBox 4">
            <a:extLst>
              <a:ext uri="{FF2B5EF4-FFF2-40B4-BE49-F238E27FC236}">
                <a16:creationId xmlns:a16="http://schemas.microsoft.com/office/drawing/2014/main" id="{635EA71F-74C4-9AA9-524D-DE38A5486827}"/>
              </a:ext>
            </a:extLst>
          </p:cNvPr>
          <p:cNvSpPr txBox="1"/>
          <p:nvPr/>
        </p:nvSpPr>
        <p:spPr>
          <a:xfrm>
            <a:off x="506437" y="863163"/>
            <a:ext cx="4572000" cy="292388"/>
          </a:xfrm>
          <a:prstGeom prst="rect">
            <a:avLst/>
          </a:prstGeom>
          <a:noFill/>
        </p:spPr>
        <p:txBody>
          <a:bodyPr wrap="square">
            <a:spAutoFit/>
          </a:bodyPr>
          <a:lstStyle/>
          <a:p>
            <a:pPr algn="l">
              <a:spcBef>
                <a:spcPts val="0"/>
              </a:spcBef>
              <a:spcAft>
                <a:spcPts val="400"/>
              </a:spcAft>
            </a:pPr>
            <a:r>
              <a:rPr lang="en-GB" sz="1300" b="1" spc="180" dirty="0">
                <a:solidFill>
                  <a:schemeClr val="tx2"/>
                </a:solidFill>
                <a:latin typeface="Segoe UI"/>
              </a:rPr>
              <a:t>Strategic Tools – Progress Tracker</a:t>
            </a:r>
            <a:endParaRPr lang="en-GB" sz="1300" b="1" i="0" spc="180" dirty="0">
              <a:solidFill>
                <a:schemeClr val="tx2"/>
              </a:solidFill>
              <a:latin typeface="Segoe UI"/>
            </a:endParaRPr>
          </a:p>
        </p:txBody>
      </p:sp>
      <p:sp>
        <p:nvSpPr>
          <p:cNvPr id="7" name="Rectangle 6">
            <a:extLst>
              <a:ext uri="{FF2B5EF4-FFF2-40B4-BE49-F238E27FC236}">
                <a16:creationId xmlns:a16="http://schemas.microsoft.com/office/drawing/2014/main" id="{B5A08D3E-0A3A-9110-BB17-DF0DAB005626}"/>
              </a:ext>
            </a:extLst>
          </p:cNvPr>
          <p:cNvSpPr/>
          <p:nvPr/>
        </p:nvSpPr>
        <p:spPr>
          <a:xfrm>
            <a:off x="576776" y="1210182"/>
            <a:ext cx="689317" cy="61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2"/>
              </a:solidFill>
            </a:endParaRPr>
          </a:p>
        </p:txBody>
      </p:sp>
      <p:pic>
        <p:nvPicPr>
          <p:cNvPr id="4" name="Picture 3">
            <a:extLst>
              <a:ext uri="{FF2B5EF4-FFF2-40B4-BE49-F238E27FC236}">
                <a16:creationId xmlns:a16="http://schemas.microsoft.com/office/drawing/2014/main" id="{1571D8A0-AAB2-BD08-3D2B-33466781ED24}"/>
              </a:ext>
            </a:extLst>
          </p:cNvPr>
          <p:cNvPicPr>
            <a:picLocks noChangeAspect="1"/>
          </p:cNvPicPr>
          <p:nvPr/>
        </p:nvPicPr>
        <p:blipFill>
          <a:blip r:embed="rId2"/>
          <a:stretch>
            <a:fillRect/>
          </a:stretch>
        </p:blipFill>
        <p:spPr>
          <a:xfrm>
            <a:off x="506437" y="1447464"/>
            <a:ext cx="8245678" cy="3385793"/>
          </a:xfrm>
          <a:prstGeom prst="rect">
            <a:avLst/>
          </a:prstGeom>
        </p:spPr>
      </p:pic>
    </p:spTree>
    <p:extLst>
      <p:ext uri="{BB962C8B-B14F-4D97-AF65-F5344CB8AC3E}">
        <p14:creationId xmlns:p14="http://schemas.microsoft.com/office/powerpoint/2010/main" val="1723864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1FB9C-541D-D219-5BBB-6C0DDC52469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5DF8F9-C4F3-DA4B-B8E2-56E917EDB5A9}"/>
              </a:ext>
            </a:extLst>
          </p:cNvPr>
          <p:cNvSpPr txBox="1"/>
          <p:nvPr/>
        </p:nvSpPr>
        <p:spPr>
          <a:xfrm>
            <a:off x="393895" y="410123"/>
            <a:ext cx="4572000" cy="523220"/>
          </a:xfrm>
          <a:prstGeom prst="rect">
            <a:avLst/>
          </a:prstGeom>
          <a:noFill/>
        </p:spPr>
        <p:txBody>
          <a:bodyPr wrap="square">
            <a:spAutoFit/>
          </a:bodyPr>
          <a:lstStyle/>
          <a:p>
            <a:pPr marL="0" indent="0">
              <a:buNone/>
            </a:pPr>
            <a:r>
              <a:rPr lang="en-US" sz="2800" b="1" dirty="0">
                <a:solidFill>
                  <a:schemeClr val="tx2"/>
                </a:solidFill>
                <a:latin typeface="Cambria" pitchFamily="34" charset="0"/>
                <a:ea typeface="Cambria" pitchFamily="34" charset="-122"/>
                <a:cs typeface="Cambria" pitchFamily="34" charset="-120"/>
              </a:rPr>
              <a:t>Project Evidence </a:t>
            </a:r>
            <a:endParaRPr lang="en-US" sz="2800" dirty="0"/>
          </a:p>
        </p:txBody>
      </p:sp>
      <p:sp>
        <p:nvSpPr>
          <p:cNvPr id="5" name="TextBox 4">
            <a:extLst>
              <a:ext uri="{FF2B5EF4-FFF2-40B4-BE49-F238E27FC236}">
                <a16:creationId xmlns:a16="http://schemas.microsoft.com/office/drawing/2014/main" id="{D1A21C53-D379-B246-7A8D-B5E5FE9BAE85}"/>
              </a:ext>
            </a:extLst>
          </p:cNvPr>
          <p:cNvSpPr txBox="1"/>
          <p:nvPr/>
        </p:nvSpPr>
        <p:spPr>
          <a:xfrm>
            <a:off x="506437" y="863163"/>
            <a:ext cx="4572000" cy="292388"/>
          </a:xfrm>
          <a:prstGeom prst="rect">
            <a:avLst/>
          </a:prstGeom>
          <a:noFill/>
        </p:spPr>
        <p:txBody>
          <a:bodyPr wrap="square">
            <a:spAutoFit/>
          </a:bodyPr>
          <a:lstStyle/>
          <a:p>
            <a:pPr algn="l">
              <a:spcBef>
                <a:spcPts val="0"/>
              </a:spcBef>
              <a:spcAft>
                <a:spcPts val="400"/>
              </a:spcAft>
            </a:pPr>
            <a:r>
              <a:rPr lang="en-GB" sz="1300" b="1" spc="180" dirty="0">
                <a:solidFill>
                  <a:schemeClr val="tx2"/>
                </a:solidFill>
                <a:latin typeface="Segoe UI"/>
              </a:rPr>
              <a:t>Prototype Acceptance</a:t>
            </a:r>
            <a:endParaRPr lang="en-GB" sz="1300" b="1" i="0" spc="180" dirty="0">
              <a:solidFill>
                <a:schemeClr val="tx2"/>
              </a:solidFill>
              <a:latin typeface="Segoe UI"/>
            </a:endParaRPr>
          </a:p>
        </p:txBody>
      </p:sp>
      <p:sp>
        <p:nvSpPr>
          <p:cNvPr id="7" name="Rectangle 6">
            <a:extLst>
              <a:ext uri="{FF2B5EF4-FFF2-40B4-BE49-F238E27FC236}">
                <a16:creationId xmlns:a16="http://schemas.microsoft.com/office/drawing/2014/main" id="{4BD9E51E-1F86-631F-341C-C79D9482D3AC}"/>
              </a:ext>
            </a:extLst>
          </p:cNvPr>
          <p:cNvSpPr/>
          <p:nvPr/>
        </p:nvSpPr>
        <p:spPr>
          <a:xfrm>
            <a:off x="576776" y="1210182"/>
            <a:ext cx="689317" cy="610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2"/>
              </a:solidFill>
            </a:endParaRPr>
          </a:p>
        </p:txBody>
      </p:sp>
      <p:graphicFrame>
        <p:nvGraphicFramePr>
          <p:cNvPr id="2" name="Object 1">
            <a:extLst>
              <a:ext uri="{FF2B5EF4-FFF2-40B4-BE49-F238E27FC236}">
                <a16:creationId xmlns:a16="http://schemas.microsoft.com/office/drawing/2014/main" id="{D9ECB41D-FC49-46A3-1CC1-BA08614255BC}"/>
              </a:ext>
            </a:extLst>
          </p:cNvPr>
          <p:cNvGraphicFramePr>
            <a:graphicFrameLocks noChangeAspect="1"/>
          </p:cNvGraphicFramePr>
          <p:nvPr>
            <p:extLst>
              <p:ext uri="{D42A27DB-BD31-4B8C-83A1-F6EECF244321}">
                <p14:modId xmlns:p14="http://schemas.microsoft.com/office/powerpoint/2010/main" val="3875384035"/>
              </p:ext>
            </p:extLst>
          </p:nvPr>
        </p:nvGraphicFramePr>
        <p:xfrm>
          <a:off x="2211412" y="1441938"/>
          <a:ext cx="3908034" cy="3453620"/>
        </p:xfrm>
        <a:graphic>
          <a:graphicData uri="http://schemas.openxmlformats.org/presentationml/2006/ole">
            <mc:AlternateContent xmlns:mc="http://schemas.openxmlformats.org/markup-compatibility/2006">
              <mc:Choice xmlns:v="urn:schemas-microsoft-com:vml" Requires="v">
                <p:oleObj name="Acrobat Document" r:id="rId2" imgW="16230387" imgH="23004701" progId="Acrobat.Document.DC">
                  <p:embed/>
                </p:oleObj>
              </mc:Choice>
              <mc:Fallback>
                <p:oleObj name="Acrobat Document" r:id="rId2" imgW="16230387" imgH="23004701" progId="Acrobat.Document.DC">
                  <p:embed/>
                  <p:pic>
                    <p:nvPicPr>
                      <p:cNvPr id="0" name=""/>
                      <p:cNvPicPr/>
                      <p:nvPr/>
                    </p:nvPicPr>
                    <p:blipFill>
                      <a:blip r:embed="rId3"/>
                      <a:stretch>
                        <a:fillRect/>
                      </a:stretch>
                    </p:blipFill>
                    <p:spPr>
                      <a:xfrm>
                        <a:off x="2211412" y="1441938"/>
                        <a:ext cx="3908034" cy="3453620"/>
                      </a:xfrm>
                      <a:prstGeom prst="rect">
                        <a:avLst/>
                      </a:prstGeom>
                    </p:spPr>
                  </p:pic>
                </p:oleObj>
              </mc:Fallback>
            </mc:AlternateContent>
          </a:graphicData>
        </a:graphic>
      </p:graphicFrame>
    </p:spTree>
    <p:extLst>
      <p:ext uri="{BB962C8B-B14F-4D97-AF65-F5344CB8AC3E}">
        <p14:creationId xmlns:p14="http://schemas.microsoft.com/office/powerpoint/2010/main" val="281274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Close title"/>
          <p:cNvSpPr txBox="1"/>
          <p:nvPr/>
        </p:nvSpPr>
        <p:spPr>
          <a:xfrm>
            <a:off x="604911" y="583810"/>
            <a:ext cx="8046720" cy="822960"/>
          </a:xfrm>
          <a:prstGeom prst="rect">
            <a:avLst/>
          </a:prstGeom>
          <a:noFill/>
          <a:ln/>
        </p:spPr>
        <p:txBody>
          <a:bodyPr wrap="square" lIns="0" tIns="0" rIns="0" bIns="0" rtlCol="0" anchor="ctr"/>
          <a:lstStyle/>
          <a:p>
            <a:pPr marL="0" indent="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3" name="Close subtitle"/>
          <p:cNvSpPr txBox="1"/>
          <p:nvPr/>
        </p:nvSpPr>
        <p:spPr>
          <a:xfrm>
            <a:off x="745587" y="1532060"/>
            <a:ext cx="8046720" cy="457200"/>
          </a:xfrm>
          <a:prstGeom prst="rect">
            <a:avLst/>
          </a:prstGeom>
          <a:noFill/>
          <a:ln/>
        </p:spPr>
        <p:txBody>
          <a:bodyPr wrap="square" lIns="0" tIns="0" rIns="0" bIns="0" rtlCol="0" anchor="t"/>
          <a:lstStyle/>
          <a:p>
            <a:pPr marL="0" indent="0">
              <a:buNone/>
            </a:pPr>
            <a:r>
              <a:rPr lang="en-US" sz="2200" b="1" dirty="0" err="1">
                <a:solidFill>
                  <a:schemeClr val="bg2"/>
                </a:solidFill>
              </a:rPr>
              <a:t>Setshabelo</a:t>
            </a:r>
            <a:r>
              <a:rPr lang="en-US" sz="2200" b="1" dirty="0">
                <a:solidFill>
                  <a:schemeClr val="bg2"/>
                </a:solidFill>
              </a:rPr>
              <a:t> Admission System</a:t>
            </a:r>
            <a:endParaRPr lang="en-US" sz="2200" b="1" dirty="0"/>
          </a:p>
        </p:txBody>
      </p:sp>
      <p:sp>
        <p:nvSpPr>
          <p:cNvPr id="5" name="Close group"/>
          <p:cNvSpPr txBox="1"/>
          <p:nvPr/>
        </p:nvSpPr>
        <p:spPr>
          <a:xfrm>
            <a:off x="829994" y="2274571"/>
            <a:ext cx="2715064" cy="297179"/>
          </a:xfrm>
          <a:prstGeom prst="rect">
            <a:avLst/>
          </a:prstGeom>
          <a:noFill/>
          <a:ln/>
        </p:spPr>
        <p:txBody>
          <a:bodyPr wrap="square" lIns="0" tIns="0" rIns="0" bIns="0" rtlCol="0" anchor="t"/>
          <a:lstStyle/>
          <a:p>
            <a:pPr marL="0" indent="0">
              <a:buNone/>
            </a:pPr>
            <a:r>
              <a:rPr lang="en-US" u="sng" dirty="0">
                <a:solidFill>
                  <a:schemeClr val="bg2"/>
                </a:solidFill>
              </a:rPr>
              <a:t>Group 0: Secret Design</a:t>
            </a:r>
            <a:endParaRPr lang="en-US" u="sng" dirty="0"/>
          </a:p>
        </p:txBody>
      </p:sp>
      <p:sp>
        <p:nvSpPr>
          <p:cNvPr id="7" name="TextBox 6">
            <a:extLst>
              <a:ext uri="{FF2B5EF4-FFF2-40B4-BE49-F238E27FC236}">
                <a16:creationId xmlns:a16="http://schemas.microsoft.com/office/drawing/2014/main" id="{81CA13EF-DE1E-3122-EDC1-9A1069032F89}"/>
              </a:ext>
            </a:extLst>
          </p:cNvPr>
          <p:cNvSpPr txBox="1"/>
          <p:nvPr/>
        </p:nvSpPr>
        <p:spPr>
          <a:xfrm>
            <a:off x="745587" y="2571750"/>
            <a:ext cx="2371803" cy="1569660"/>
          </a:xfrm>
          <a:prstGeom prst="rect">
            <a:avLst/>
          </a:prstGeom>
          <a:noFill/>
        </p:spPr>
        <p:txBody>
          <a:bodyPr wrap="none" rtlCol="0">
            <a:spAutoFit/>
          </a:bodyPr>
          <a:lstStyle/>
          <a:p>
            <a:pPr marL="285750" indent="-285750">
              <a:buFont typeface="Arial" panose="020B0604020202020204" pitchFamily="34" charset="0"/>
              <a:buChar char="•"/>
            </a:pPr>
            <a:r>
              <a:rPr lang="en-GB" sz="1600" dirty="0">
                <a:solidFill>
                  <a:schemeClr val="bg1"/>
                </a:solidFill>
              </a:rPr>
              <a:t>Relebohile Thito</a:t>
            </a:r>
          </a:p>
          <a:p>
            <a:pPr marL="285750" indent="-285750">
              <a:buFont typeface="Arial" panose="020B0604020202020204" pitchFamily="34" charset="0"/>
              <a:buChar char="•"/>
            </a:pPr>
            <a:r>
              <a:rPr lang="en-GB" sz="1600" dirty="0">
                <a:solidFill>
                  <a:schemeClr val="bg1"/>
                </a:solidFill>
              </a:rPr>
              <a:t>Lebohang Molise</a:t>
            </a:r>
          </a:p>
          <a:p>
            <a:pPr marL="285750" indent="-285750">
              <a:buFont typeface="Arial" panose="020B0604020202020204" pitchFamily="34" charset="0"/>
              <a:buChar char="•"/>
            </a:pPr>
            <a:r>
              <a:rPr lang="en-GB" sz="1600" dirty="0">
                <a:solidFill>
                  <a:schemeClr val="bg1"/>
                </a:solidFill>
              </a:rPr>
              <a:t>Tshepo M </a:t>
            </a:r>
            <a:r>
              <a:rPr lang="en-GB" sz="1600" dirty="0" err="1">
                <a:solidFill>
                  <a:schemeClr val="bg1"/>
                </a:solidFill>
              </a:rPr>
              <a:t>Masimong</a:t>
            </a:r>
            <a:endParaRPr lang="en-GB" sz="1600" dirty="0">
              <a:solidFill>
                <a:schemeClr val="bg1"/>
              </a:solidFill>
            </a:endParaRPr>
          </a:p>
          <a:p>
            <a:pPr marL="285750" indent="-285750">
              <a:buFont typeface="Arial" panose="020B0604020202020204" pitchFamily="34" charset="0"/>
              <a:buChar char="•"/>
            </a:pPr>
            <a:r>
              <a:rPr lang="en-GB" sz="1600" dirty="0">
                <a:solidFill>
                  <a:schemeClr val="bg1"/>
                </a:solidFill>
              </a:rPr>
              <a:t>Njabulo R.A Mthethwa</a:t>
            </a:r>
          </a:p>
          <a:p>
            <a:pPr marL="285750" indent="-285750">
              <a:buFont typeface="Arial" panose="020B0604020202020204" pitchFamily="34" charset="0"/>
              <a:buChar char="•"/>
            </a:pPr>
            <a:r>
              <a:rPr lang="en-GB" sz="1600" dirty="0">
                <a:solidFill>
                  <a:schemeClr val="bg1"/>
                </a:solidFill>
              </a:rPr>
              <a:t>Andries M </a:t>
            </a:r>
            <a:r>
              <a:rPr lang="en-GB" sz="1600" dirty="0" err="1">
                <a:solidFill>
                  <a:schemeClr val="bg1"/>
                </a:solidFill>
              </a:rPr>
              <a:t>Matona</a:t>
            </a:r>
            <a:endParaRPr lang="en-GB" sz="1600" dirty="0">
              <a:solidFill>
                <a:schemeClr val="bg1"/>
              </a:solidFill>
            </a:endParaRPr>
          </a:p>
          <a:p>
            <a:pPr marL="285750" indent="-285750">
              <a:buFont typeface="Arial" panose="020B0604020202020204" pitchFamily="34" charset="0"/>
              <a:buChar char="•"/>
            </a:pPr>
            <a:r>
              <a:rPr lang="en-GB" sz="1600" dirty="0" err="1">
                <a:solidFill>
                  <a:schemeClr val="bg1"/>
                </a:solidFill>
              </a:rPr>
              <a:t>Lonwabo</a:t>
            </a:r>
            <a:r>
              <a:rPr lang="en-GB" sz="1600" dirty="0">
                <a:solidFill>
                  <a:schemeClr val="bg1"/>
                </a:solidFill>
              </a:rPr>
              <a:t> </a:t>
            </a:r>
            <a:r>
              <a:rPr lang="en-GB" sz="1600" dirty="0" err="1">
                <a:solidFill>
                  <a:schemeClr val="bg1"/>
                </a:solidFill>
              </a:rPr>
              <a:t>Sifumba</a:t>
            </a:r>
            <a:endParaRPr lang="en-ZA" sz="1600" dirty="0">
              <a:solidFill>
                <a:schemeClr val="bg1"/>
              </a:solidFill>
            </a:endParaRPr>
          </a:p>
        </p:txBody>
      </p:sp>
    </p:spTree>
  </p:cSld>
  <p:clrMapOvr>
    <a:masterClrMapping/>
  </p:clrMapOvr>
</p:sld>
</file>

<file path=ppt/theme/theme1.xml><?xml version="1.0" encoding="utf-8"?>
<a:theme xmlns:a="http://schemas.openxmlformats.org/drawingml/2006/main" name="Setshabelo">
  <a:themeElements>
    <a:clrScheme name="Setshabelo">
      <a:dk1>
        <a:srgbClr val="1F2A24"/>
      </a:dk1>
      <a:lt1>
        <a:srgbClr val="FFFFFF"/>
      </a:lt1>
      <a:dk2>
        <a:srgbClr val="1B4D3E"/>
      </a:dk2>
      <a:lt2>
        <a:srgbClr val="E8F3E5"/>
      </a:lt2>
      <a:accent1>
        <a:srgbClr val="2E7D32"/>
      </a:accent1>
      <a:accent2>
        <a:srgbClr val="E0952B"/>
      </a:accent2>
      <a:accent3>
        <a:srgbClr val="2A8C9E"/>
      </a:accent3>
      <a:accent4>
        <a:srgbClr val="8DB580"/>
      </a:accent4>
      <a:accent5>
        <a:srgbClr val="5B6B63"/>
      </a:accent5>
      <a:accent6>
        <a:srgbClr val="C0392B"/>
      </a:accent6>
      <a:hlink>
        <a:srgbClr val="2E7D32"/>
      </a:hlink>
      <a:folHlink>
        <a:srgbClr val="5B6B63"/>
      </a:folHlink>
    </a:clrScheme>
    <a:fontScheme name="Setshabel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4205</Words>
  <Application>Microsoft Office PowerPoint</Application>
  <PresentationFormat>On-screen Show (16:9)</PresentationFormat>
  <Paragraphs>459</Paragraphs>
  <Slides>32</Slides>
  <Notes>20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39" baseType="lpstr">
      <vt:lpstr>Aptos</vt:lpstr>
      <vt:lpstr>Arial</vt:lpstr>
      <vt:lpstr>Calibri</vt:lpstr>
      <vt:lpstr>Cambria</vt:lpstr>
      <vt:lpstr>Segoe UI</vt:lpstr>
      <vt:lpstr>Setshabelo</vt:lpstr>
      <vt:lpstr>Acrobat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Setshabelo Admission System - Phase 3 Final Presentation</dc:title>
  <dc:subject>PptxGenJS Presentation</dc:subject>
  <dc:creator>Group 0: Secret Design</dc:creator>
  <cp:lastModifiedBy>Thito Relebohile</cp:lastModifiedBy>
  <cp:revision>6</cp:revision>
  <dcterms:created xsi:type="dcterms:W3CDTF">2026-10-24T22:20:25Z</dcterms:created>
  <dcterms:modified xsi:type="dcterms:W3CDTF">2026-10-25T12:55:18Z</dcterms:modified>
</cp:coreProperties>
</file>