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7" d="100"/>
          <a:sy n="117" d="100"/>
        </p:scale>
        <p:origin x="318"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29273A-D054-4741-9B3B-2191B7ED50D1}"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9C6B70-BBE7-454D-9FA4-52174809A7D5}" type="slidenum">
              <a:rPr lang="en-US" smtClean="0"/>
              <a:t>‹#›</a:t>
            </a:fld>
            <a:endParaRPr lang="en-US"/>
          </a:p>
        </p:txBody>
      </p:sp>
    </p:spTree>
    <p:extLst>
      <p:ext uri="{BB962C8B-B14F-4D97-AF65-F5344CB8AC3E}">
        <p14:creationId xmlns:p14="http://schemas.microsoft.com/office/powerpoint/2010/main" val="147411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Full SRS text: 'The purpose of this document is to present a detailed description of the system. It will explain the purpose and features of the system, what the system will do, constraints under which it will operate. This document is intended for both the stakeholders and the development team.'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Setshabelo Primary School currently uses onsite registrations. This affects parents (long queues) and admin staff (bulk paper processing). The school needs a more streamlined, organised method of receiving applications, and a communication channel that doesn't exclude parents without social media access.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purpose of the prototype is to simplify the application process for new learners, the updates sent to parents/learners, and publishing achievements as advertising. Simplification includes digitalising the application process and making updates easily accessible.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Project title: Setshabelo Connect. Aim: develop an integrated prototype for creating and managing learner applications and school updates.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Exclusions, Constraints and Assumptions as defined in the Project Scope table of the SRS.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Stakeholders and user groups table: External stakeholder, Mobile application user, Web application user — each with User and Admin roles.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Full 9-step current process from the SRS: 6.1 Application period announcement, 6.2 Parents travel to school, 6.3 Queuing, 6.4 Manual form collection, 6.5 Manual form filling (leads to wrongly filled documents), 6.6 Form submission, 6.7 Submitted forms pile up, 6.8 Manual form processing and decision making, 6.9 Outcome communicated via social media.</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Product Perspective: the prototype operates as one integrated system. Supabase is the shared backend for both ASP.NET and Flutter, handling logic, data storage, accounts and security. Flutter (MVVM) builds the mobile app, ASP.NET (MVC) builds the web app. A parent's account and application data created on one platform is immediately visible on the other. Admins log in on the web app, review applications, and can accept them, place them under review, or leave a comment visible to the parent.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Each FR maps to a stakeholder need, e.g. FR2 -&gt; parents need a convenient way to apply from home without traveling to the school; FR4 -&gt; admin staff need a streamlined way to process decisions quickly; FR6 -&gt; school admin needs a way to advertise successes and attract new learners.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NR4 directly addresses the 'wrongly filled documents' problem from the current process. NR5 (bulk SMS) was removed after the Feasibility Analysis found it too technically complex for the semester timeframe — see Refined Project Scope.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System requirements (SR1-4) and Integration requirements (IR1-4) from the Requirements Table. All are Must Have priority.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Feasibility Summary table: Technical (Feasible with changes — remove bulk SMS, learn Supabase early), Operational (Feasible), Economic (Feasible), Schedule (Feasible with changes — start Supabase early), Legal (Feasible — separate test/real data), Ethical (Feasible — continued stakeholder engagement).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Overall Feasibility Decision: the project is feasible with changes. Strengths and limitations as listed in the SRS Overall Feasibility Decision section.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These five actions ensure the project can be completed within the semester, per the SRS Overall Feasibility Decision section.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Full Risk Register (</a:t>
            </a:r>
            <a:r>
              <a:rPr dirty="0" err="1"/>
              <a:t>synchronised</a:t>
            </a:r>
            <a:r>
              <a:rPr dirty="0"/>
              <a:t> with the Project Risk Register): 13 risks scored by Likelihood (L) x Impact (I) = Score, rated Low (1-2) / Medium (3-4) / High (5-6) / Critical (7-9). Owners: R1 Lebohang Molise, R2 Relebohile </a:t>
            </a:r>
            <a:r>
              <a:rPr dirty="0" err="1"/>
              <a:t>Thito</a:t>
            </a:r>
            <a:r>
              <a:rPr dirty="0"/>
              <a:t>, R3 Tshepo M </a:t>
            </a:r>
            <a:r>
              <a:rPr dirty="0" err="1"/>
              <a:t>Masimong</a:t>
            </a:r>
            <a:r>
              <a:rPr dirty="0"/>
              <a:t>, R4 Team, R5 </a:t>
            </a:r>
            <a:r>
              <a:rPr dirty="0" err="1"/>
              <a:t>Lonwabo</a:t>
            </a:r>
            <a:r>
              <a:rPr dirty="0"/>
              <a:t> </a:t>
            </a:r>
            <a:r>
              <a:rPr dirty="0" err="1"/>
              <a:t>Sifumba</a:t>
            </a:r>
            <a:r>
              <a:rPr dirty="0"/>
              <a:t>, R6 Njabulo Mthethwa, R7 Andries M </a:t>
            </a:r>
            <a:r>
              <a:rPr dirty="0" err="1"/>
              <a:t>Matona</a:t>
            </a:r>
            <a:r>
              <a:rPr dirty="0"/>
              <a:t>, R8-R13 Team.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These three risks tie for the highest score (9 = Critical) across the synchronised Risk Register and require the most active management attention.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All core functions confirmed with the stakeholder informed = Yes. Only NR5 (bulk SMS notifications) was removed, due to scope and time constraints identified during feasibility analysis.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Full detail (from the synchronised SWOT Analysis added to the SDSRS document, cross-referencing Risk Register IDs R1-R13): Strengths - team has hands-on Flutter experience and ready access to required dev/test devices; Flutter+ASP.NET+Supabase is a strong technical fit with one shared backend; stakeholder communicates well and is fully aligned; core functions map directly to problems in the current process; project deliverable is achievable on free/available tools (Flutter, VS 2022, Supabase free tier, GitHub free tier). Weaknesses - Supabase integration is a new skill area for most of the team and ASP.NET experience is only partial (R1, R6); testing time is compressed by the semester schedule (R5); scope already had to be trimmed (bulk SMS removed) showing limited slack; team coordination and version control gaps could slow delivery (R4, R8). Opportunities - a successful prototype could be extended with the excluded features (attendance register, textbook library, uniform shop); publishing achievements publicly doubles as marketing and could attract new learners; the integrated architecture is reusable as a template for other schools with the same manual-registration problem; digitalising registration is a first-mover advantage locally. Threats - reliance on a single third-party backend risks API changes, downtime or vendor lock-in (R1); some parents may lack the digital skills/devices assumed by scope, risking lower adoption; inaccurate timeline estimates could compress delivery and force scope cuts near the deadline (R10); any future move beyond test data introduces real privacy/compliance obligations (R13); dependence on stable internet access for school and parents could disrupt use (R12).</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supabase.com/dashboard/project/hrkzdekzmqjiejjuwybh" TargetMode="External"/><Relationship Id="rId2" Type="http://schemas.openxmlformats.org/officeDocument/2006/relationships/hyperlink" Target="https://github.com/WIL-Project-Hub"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6053328"/>
            <a:ext cx="12191695" cy="18288"/>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1965960"/>
            <a:ext cx="1005840" cy="635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2194560"/>
            <a:ext cx="10881360" cy="630942"/>
          </a:xfrm>
          <a:prstGeom prst="rect">
            <a:avLst/>
          </a:prstGeom>
          <a:noFill/>
        </p:spPr>
        <p:txBody>
          <a:bodyPr wrap="square" lIns="0" tIns="0" rIns="0" bIns="0">
            <a:spAutoFit/>
          </a:bodyPr>
          <a:lstStyle/>
          <a:p>
            <a:pPr algn="l">
              <a:lnSpc>
                <a:spcPct val="105000"/>
              </a:lnSpc>
              <a:spcBef>
                <a:spcPts val="0"/>
              </a:spcBef>
              <a:spcAft>
                <a:spcPts val="400"/>
              </a:spcAft>
            </a:pPr>
            <a:r>
              <a:rPr sz="4200" b="1" i="0" dirty="0" err="1">
                <a:solidFill>
                  <a:srgbClr val="FFFFFF"/>
                </a:solidFill>
                <a:latin typeface="Segoe UI Semibold"/>
              </a:rPr>
              <a:t>Setshabelo</a:t>
            </a:r>
            <a:r>
              <a:rPr sz="4200" b="1" i="0" dirty="0">
                <a:solidFill>
                  <a:srgbClr val="FFFFFF"/>
                </a:solidFill>
                <a:latin typeface="Segoe UI Semibold"/>
              </a:rPr>
              <a:t> </a:t>
            </a:r>
            <a:r>
              <a:rPr lang="en-GB" sz="4200" b="1" dirty="0">
                <a:solidFill>
                  <a:srgbClr val="FFFFFF"/>
                </a:solidFill>
                <a:latin typeface="Segoe UI Semibold"/>
              </a:rPr>
              <a:t>Admission System</a:t>
            </a:r>
            <a:endParaRPr sz="4200" b="1" i="0" dirty="0">
              <a:solidFill>
                <a:srgbClr val="FFFFFF"/>
              </a:solidFill>
              <a:latin typeface="Segoe UI Semibold"/>
            </a:endParaRPr>
          </a:p>
        </p:txBody>
      </p:sp>
      <p:sp>
        <p:nvSpPr>
          <p:cNvPr id="5" name="TextBox 4"/>
          <p:cNvSpPr txBox="1"/>
          <p:nvPr/>
        </p:nvSpPr>
        <p:spPr>
          <a:xfrm>
            <a:off x="640080" y="3429000"/>
            <a:ext cx="10424160" cy="292388"/>
          </a:xfrm>
          <a:prstGeom prst="rect">
            <a:avLst/>
          </a:prstGeom>
          <a:noFill/>
        </p:spPr>
        <p:txBody>
          <a:bodyPr wrap="square" lIns="0" tIns="0" rIns="0" bIns="0">
            <a:spAutoFit/>
          </a:bodyPr>
          <a:lstStyle/>
          <a:p>
            <a:pPr algn="l">
              <a:spcBef>
                <a:spcPts val="0"/>
              </a:spcBef>
              <a:spcAft>
                <a:spcPts val="400"/>
              </a:spcAft>
            </a:pPr>
            <a:r>
              <a:rPr sz="1900" b="0" i="0" dirty="0">
                <a:solidFill>
                  <a:srgbClr val="C9D6E4"/>
                </a:solidFill>
                <a:latin typeface="Segoe UI"/>
              </a:rPr>
              <a:t>Software Requirements Specification </a:t>
            </a:r>
            <a:r>
              <a:rPr lang="en-GB" sz="1900" b="0" i="0" dirty="0">
                <a:solidFill>
                  <a:srgbClr val="C9D6E4"/>
                </a:solidFill>
                <a:latin typeface="Segoe UI"/>
              </a:rPr>
              <a:t>-</a:t>
            </a:r>
            <a:r>
              <a:rPr sz="1900" b="0" i="0" dirty="0">
                <a:solidFill>
                  <a:srgbClr val="C9D6E4"/>
                </a:solidFill>
                <a:latin typeface="Segoe UI"/>
              </a:rPr>
              <a:t> Presentation</a:t>
            </a:r>
          </a:p>
        </p:txBody>
      </p:sp>
      <p:sp>
        <p:nvSpPr>
          <p:cNvPr id="6" name="TextBox 5"/>
          <p:cNvSpPr txBox="1"/>
          <p:nvPr/>
        </p:nvSpPr>
        <p:spPr>
          <a:xfrm>
            <a:off x="640080" y="6172200"/>
            <a:ext cx="10515600" cy="548640"/>
          </a:xfrm>
          <a:prstGeom prst="rect">
            <a:avLst/>
          </a:prstGeom>
          <a:noFill/>
        </p:spPr>
        <p:txBody>
          <a:bodyPr wrap="square" lIns="0" tIns="0" rIns="0" bIns="0">
            <a:spAutoFit/>
          </a:bodyPr>
          <a:lstStyle/>
          <a:p>
            <a:pPr algn="l">
              <a:spcBef>
                <a:spcPts val="0"/>
              </a:spcBef>
              <a:spcAft>
                <a:spcPts val="400"/>
              </a:spcAft>
            </a:pPr>
            <a:r>
              <a:rPr sz="1250" b="0" i="0">
                <a:solidFill>
                  <a:srgbClr val="9CADC2"/>
                </a:solidFill>
                <a:latin typeface="Segoe UI"/>
              </a:rPr>
              <a:t>Group 0: Secret Design   |   SRS Version 2.0   |   31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What We'll Cover</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OVERVIEW</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58191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01</a:t>
            </a:r>
          </a:p>
        </p:txBody>
      </p:sp>
      <p:sp>
        <p:nvSpPr>
          <p:cNvPr id="8" name="TextBox 7"/>
          <p:cNvSpPr txBox="1"/>
          <p:nvPr/>
        </p:nvSpPr>
        <p:spPr>
          <a:xfrm>
            <a:off x="1508760" y="1581912"/>
            <a:ext cx="4114800" cy="1261872"/>
          </a:xfrm>
          <a:prstGeom prst="rect">
            <a:avLst/>
          </a:prstGeom>
          <a:noFill/>
        </p:spPr>
        <p:txBody>
          <a:bodyPr wrap="square" lIns="0" tIns="0" rIns="0" bIns="0">
            <a:spAutoFit/>
          </a:bodyPr>
          <a:lstStyle/>
          <a:p>
            <a:pPr algn="l">
              <a:spcBef>
                <a:spcPts val="0"/>
              </a:spcBef>
              <a:spcAft>
                <a:spcPts val="300"/>
              </a:spcAft>
            </a:pPr>
            <a:r>
              <a:rPr sz="1550" b="1" i="0">
                <a:solidFill>
                  <a:srgbClr val="202A3A"/>
                </a:solidFill>
                <a:latin typeface="Segoe UI Semibold"/>
              </a:rPr>
              <a:t>Project Overview</a:t>
            </a:r>
          </a:p>
          <a:p>
            <a:pPr algn="l">
              <a:spcBef>
                <a:spcPts val="0"/>
              </a:spcBef>
              <a:spcAft>
                <a:spcPts val="400"/>
              </a:spcAft>
            </a:pPr>
            <a:r>
              <a:rPr sz="1150" b="0" i="0">
                <a:solidFill>
                  <a:srgbClr val="637182"/>
                </a:solidFill>
                <a:latin typeface="Segoe UI"/>
              </a:rPr>
              <a:t>Problem statement, purpose, aim, objectives and scope boundaries.</a:t>
            </a:r>
          </a:p>
        </p:txBody>
      </p:sp>
      <p:sp>
        <p:nvSpPr>
          <p:cNvPr id="9" name="Rounded Rectangle 8"/>
          <p:cNvSpPr/>
          <p:nvPr/>
        </p:nvSpPr>
        <p:spPr>
          <a:xfrm>
            <a:off x="6126480" y="141732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7648" y="158191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02</a:t>
            </a:r>
          </a:p>
        </p:txBody>
      </p:sp>
      <p:sp>
        <p:nvSpPr>
          <p:cNvPr id="11" name="TextBox 10"/>
          <p:cNvSpPr txBox="1"/>
          <p:nvPr/>
        </p:nvSpPr>
        <p:spPr>
          <a:xfrm>
            <a:off x="6995160" y="1581912"/>
            <a:ext cx="4114800" cy="1261872"/>
          </a:xfrm>
          <a:prstGeom prst="rect">
            <a:avLst/>
          </a:prstGeom>
          <a:noFill/>
        </p:spPr>
        <p:txBody>
          <a:bodyPr wrap="square" lIns="0" tIns="0" rIns="0" bIns="0">
            <a:spAutoFit/>
          </a:bodyPr>
          <a:lstStyle/>
          <a:p>
            <a:pPr algn="l">
              <a:spcBef>
                <a:spcPts val="0"/>
              </a:spcBef>
              <a:spcAft>
                <a:spcPts val="300"/>
              </a:spcAft>
            </a:pPr>
            <a:r>
              <a:rPr sz="1550" b="1" i="0">
                <a:solidFill>
                  <a:srgbClr val="202A3A"/>
                </a:solidFill>
                <a:latin typeface="Segoe UI Semibold"/>
              </a:rPr>
              <a:t>Stakeholders</a:t>
            </a:r>
          </a:p>
          <a:p>
            <a:pPr algn="l">
              <a:spcBef>
                <a:spcPts val="0"/>
              </a:spcBef>
              <a:spcAft>
                <a:spcPts val="400"/>
              </a:spcAft>
            </a:pPr>
            <a:r>
              <a:rPr sz="1150" b="0" i="0">
                <a:solidFill>
                  <a:srgbClr val="637182"/>
                </a:solidFill>
                <a:latin typeface="Segoe UI"/>
              </a:rPr>
              <a:t>Who is involved and what role each group plays in the system.</a:t>
            </a:r>
          </a:p>
        </p:txBody>
      </p:sp>
      <p:sp>
        <p:nvSpPr>
          <p:cNvPr id="12" name="Rounded Rectangle 11"/>
          <p:cNvSpPr/>
          <p:nvPr/>
        </p:nvSpPr>
        <p:spPr>
          <a:xfrm>
            <a:off x="640080" y="315468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331927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03</a:t>
            </a:r>
          </a:p>
        </p:txBody>
      </p:sp>
      <p:sp>
        <p:nvSpPr>
          <p:cNvPr id="14" name="TextBox 13"/>
          <p:cNvSpPr txBox="1"/>
          <p:nvPr/>
        </p:nvSpPr>
        <p:spPr>
          <a:xfrm>
            <a:off x="1508760" y="3319272"/>
            <a:ext cx="4114800" cy="1261872"/>
          </a:xfrm>
          <a:prstGeom prst="rect">
            <a:avLst/>
          </a:prstGeom>
          <a:noFill/>
        </p:spPr>
        <p:txBody>
          <a:bodyPr wrap="square" lIns="0" tIns="0" rIns="0" bIns="0">
            <a:spAutoFit/>
          </a:bodyPr>
          <a:lstStyle/>
          <a:p>
            <a:pPr algn="l">
              <a:spcBef>
                <a:spcPts val="0"/>
              </a:spcBef>
              <a:spcAft>
                <a:spcPts val="300"/>
              </a:spcAft>
            </a:pPr>
            <a:r>
              <a:rPr sz="1550" b="1" i="0">
                <a:solidFill>
                  <a:srgbClr val="202A3A"/>
                </a:solidFill>
                <a:latin typeface="Segoe UI Semibold"/>
              </a:rPr>
              <a:t>Current vs. Proposed</a:t>
            </a:r>
          </a:p>
          <a:p>
            <a:pPr algn="l">
              <a:spcBef>
                <a:spcPts val="0"/>
              </a:spcBef>
              <a:spcAft>
                <a:spcPts val="400"/>
              </a:spcAft>
            </a:pPr>
            <a:r>
              <a:rPr sz="1150" b="0" i="0">
                <a:solidFill>
                  <a:srgbClr val="637182"/>
                </a:solidFill>
                <a:latin typeface="Segoe UI"/>
              </a:rPr>
              <a:t>Today's paper-based process and the digital solution replacing it.</a:t>
            </a:r>
          </a:p>
        </p:txBody>
      </p:sp>
      <p:sp>
        <p:nvSpPr>
          <p:cNvPr id="15" name="Rounded Rectangle 14"/>
          <p:cNvSpPr/>
          <p:nvPr/>
        </p:nvSpPr>
        <p:spPr>
          <a:xfrm>
            <a:off x="6126480" y="315468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27648" y="331927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04</a:t>
            </a:r>
          </a:p>
        </p:txBody>
      </p:sp>
      <p:sp>
        <p:nvSpPr>
          <p:cNvPr id="17" name="TextBox 16"/>
          <p:cNvSpPr txBox="1"/>
          <p:nvPr/>
        </p:nvSpPr>
        <p:spPr>
          <a:xfrm>
            <a:off x="6995160" y="3319272"/>
            <a:ext cx="4114800" cy="1261872"/>
          </a:xfrm>
          <a:prstGeom prst="rect">
            <a:avLst/>
          </a:prstGeom>
          <a:noFill/>
        </p:spPr>
        <p:txBody>
          <a:bodyPr wrap="square" lIns="0" tIns="0" rIns="0" bIns="0">
            <a:spAutoFit/>
          </a:bodyPr>
          <a:lstStyle/>
          <a:p>
            <a:pPr algn="l">
              <a:spcBef>
                <a:spcPts val="0"/>
              </a:spcBef>
              <a:spcAft>
                <a:spcPts val="300"/>
              </a:spcAft>
            </a:pPr>
            <a:r>
              <a:rPr sz="1550" b="1" i="0">
                <a:solidFill>
                  <a:srgbClr val="202A3A"/>
                </a:solidFill>
                <a:latin typeface="Segoe UI Semibold"/>
              </a:rPr>
              <a:t>Requirements</a:t>
            </a:r>
          </a:p>
          <a:p>
            <a:pPr algn="l">
              <a:spcBef>
                <a:spcPts val="0"/>
              </a:spcBef>
              <a:spcAft>
                <a:spcPts val="400"/>
              </a:spcAft>
            </a:pPr>
            <a:r>
              <a:rPr sz="1150" b="0" i="0">
                <a:solidFill>
                  <a:srgbClr val="637182"/>
                </a:solidFill>
                <a:latin typeface="Segoe UI"/>
              </a:rPr>
              <a:t>Functional, non-functional, system and integration requirements.</a:t>
            </a:r>
          </a:p>
        </p:txBody>
      </p:sp>
      <p:sp>
        <p:nvSpPr>
          <p:cNvPr id="18" name="Rounded Rectangle 17"/>
          <p:cNvSpPr/>
          <p:nvPr/>
        </p:nvSpPr>
        <p:spPr>
          <a:xfrm>
            <a:off x="640080" y="489204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505663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05</a:t>
            </a:r>
          </a:p>
        </p:txBody>
      </p:sp>
      <p:sp>
        <p:nvSpPr>
          <p:cNvPr id="20" name="TextBox 19"/>
          <p:cNvSpPr txBox="1"/>
          <p:nvPr/>
        </p:nvSpPr>
        <p:spPr>
          <a:xfrm>
            <a:off x="1508760" y="5056632"/>
            <a:ext cx="4114800" cy="1261872"/>
          </a:xfrm>
          <a:prstGeom prst="rect">
            <a:avLst/>
          </a:prstGeom>
          <a:noFill/>
        </p:spPr>
        <p:txBody>
          <a:bodyPr wrap="square" lIns="0" tIns="0" rIns="0" bIns="0">
            <a:spAutoFit/>
          </a:bodyPr>
          <a:lstStyle/>
          <a:p>
            <a:pPr algn="l">
              <a:spcBef>
                <a:spcPts val="0"/>
              </a:spcBef>
              <a:spcAft>
                <a:spcPts val="300"/>
              </a:spcAft>
            </a:pPr>
            <a:r>
              <a:rPr sz="1550" b="1" i="0">
                <a:solidFill>
                  <a:srgbClr val="202A3A"/>
                </a:solidFill>
                <a:latin typeface="Segoe UI Semibold"/>
              </a:rPr>
              <a:t>Feasibility Analysis</a:t>
            </a:r>
          </a:p>
          <a:p>
            <a:pPr algn="l">
              <a:spcBef>
                <a:spcPts val="0"/>
              </a:spcBef>
              <a:spcAft>
                <a:spcPts val="400"/>
              </a:spcAft>
            </a:pPr>
            <a:r>
              <a:rPr sz="1150" b="0" i="0">
                <a:solidFill>
                  <a:srgbClr val="637182"/>
                </a:solidFill>
                <a:latin typeface="Segoe UI"/>
              </a:rPr>
              <a:t>Technical, operational, economic, schedule, legal &amp; ethical review.</a:t>
            </a:r>
          </a:p>
        </p:txBody>
      </p:sp>
      <p:sp>
        <p:nvSpPr>
          <p:cNvPr id="21" name="Rounded Rectangle 20"/>
          <p:cNvSpPr/>
          <p:nvPr/>
        </p:nvSpPr>
        <p:spPr>
          <a:xfrm>
            <a:off x="6126480" y="489204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27648" y="505663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06</a:t>
            </a:r>
          </a:p>
        </p:txBody>
      </p:sp>
      <p:sp>
        <p:nvSpPr>
          <p:cNvPr id="23" name="TextBox 22"/>
          <p:cNvSpPr txBox="1"/>
          <p:nvPr/>
        </p:nvSpPr>
        <p:spPr>
          <a:xfrm>
            <a:off x="6995160" y="5056632"/>
            <a:ext cx="4114800" cy="1261872"/>
          </a:xfrm>
          <a:prstGeom prst="rect">
            <a:avLst/>
          </a:prstGeom>
          <a:noFill/>
        </p:spPr>
        <p:txBody>
          <a:bodyPr wrap="square" lIns="0" tIns="0" rIns="0" bIns="0">
            <a:spAutoFit/>
          </a:bodyPr>
          <a:lstStyle/>
          <a:p>
            <a:pPr algn="l">
              <a:spcBef>
                <a:spcPts val="0"/>
              </a:spcBef>
              <a:spcAft>
                <a:spcPts val="300"/>
              </a:spcAft>
            </a:pPr>
            <a:r>
              <a:rPr sz="1550" b="1" i="0">
                <a:solidFill>
                  <a:srgbClr val="202A3A"/>
                </a:solidFill>
                <a:latin typeface="Segoe UI Semibold"/>
              </a:rPr>
              <a:t>Risk Management &amp; SWOT</a:t>
            </a:r>
          </a:p>
          <a:p>
            <a:pPr algn="l">
              <a:spcBef>
                <a:spcPts val="0"/>
              </a:spcBef>
              <a:spcAft>
                <a:spcPts val="400"/>
              </a:spcAft>
            </a:pPr>
            <a:r>
              <a:rPr sz="1150" b="0" i="0">
                <a:solidFill>
                  <a:srgbClr val="637182"/>
                </a:solidFill>
                <a:latin typeface="Segoe UI"/>
              </a:rPr>
              <a:t>13 identified risks, the highest-priority items, and a SWOT analysis of the project overall.</a:t>
            </a:r>
          </a:p>
        </p:txBody>
      </p:sp>
      <p:sp>
        <p:nvSpPr>
          <p:cNvPr id="24" name="Rectangle 23"/>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6583680"/>
            <a:ext cx="7315200" cy="146194"/>
          </a:xfrm>
          <a:prstGeom prst="rect">
            <a:avLst/>
          </a:prstGeom>
          <a:noFill/>
        </p:spPr>
        <p:txBody>
          <a:bodyPr wrap="square" lIns="0" tIns="0" rIns="0" bIns="0">
            <a:spAutoFit/>
          </a:bodyPr>
          <a:lstStyle/>
          <a:p>
            <a:pPr algn="l">
              <a:spcBef>
                <a:spcPts val="0"/>
              </a:spcBef>
              <a:spcAft>
                <a:spcPts val="400"/>
              </a:spcAft>
            </a:pPr>
            <a:r>
              <a:rPr sz="950" b="0" i="0" dirty="0" err="1">
                <a:solidFill>
                  <a:srgbClr val="637182"/>
                </a:solidFill>
                <a:latin typeface="Segoe UI"/>
              </a:rPr>
              <a:t>Setshabelo</a:t>
            </a:r>
            <a:r>
              <a:rPr sz="950" b="0" i="0" dirty="0">
                <a:solidFill>
                  <a:srgbClr val="637182"/>
                </a:solidFill>
                <a:latin typeface="Segoe UI"/>
              </a:rPr>
              <a:t> </a:t>
            </a:r>
            <a:r>
              <a:rPr lang="en-GB" sz="950" dirty="0">
                <a:solidFill>
                  <a:srgbClr val="637182"/>
                </a:solidFill>
                <a:latin typeface="Segoe UI"/>
              </a:rPr>
              <a:t>Admission System</a:t>
            </a:r>
            <a:r>
              <a:rPr sz="950" b="0" i="0" dirty="0">
                <a:solidFill>
                  <a:srgbClr val="637182"/>
                </a:solidFill>
                <a:latin typeface="Segoe UI"/>
              </a:rPr>
              <a:t>  |  SRS Presentation</a:t>
            </a:r>
          </a:p>
        </p:txBody>
      </p:sp>
      <p:sp>
        <p:nvSpPr>
          <p:cNvPr id="26" name="TextBox 25"/>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16328"/>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01</a:t>
            </a:r>
          </a:p>
        </p:txBody>
      </p:sp>
      <p:sp>
        <p:nvSpPr>
          <p:cNvPr id="5" name="TextBox 4"/>
          <p:cNvSpPr txBox="1"/>
          <p:nvPr/>
        </p:nvSpPr>
        <p:spPr>
          <a:xfrm>
            <a:off x="640080" y="3063240"/>
            <a:ext cx="10607040" cy="1463040"/>
          </a:xfrm>
          <a:prstGeom prst="rect">
            <a:avLst/>
          </a:prstGeom>
          <a:noFill/>
        </p:spPr>
        <p:txBody>
          <a:bodyPr wrap="square" lIns="0" tIns="0" rIns="0" bIns="0">
            <a:spAutoFit/>
          </a:bodyPr>
          <a:lstStyle/>
          <a:p>
            <a:pPr algn="l">
              <a:spcBef>
                <a:spcPts val="0"/>
              </a:spcBef>
              <a:spcAft>
                <a:spcPts val="400"/>
              </a:spcAft>
            </a:pPr>
            <a:r>
              <a:rPr sz="3800" b="1" i="0">
                <a:solidFill>
                  <a:srgbClr val="FFFFFF"/>
                </a:solidFill>
                <a:latin typeface="Segoe UI Semibold"/>
              </a:rPr>
              <a:t>Project Overview</a:t>
            </a:r>
          </a:p>
        </p:txBody>
      </p:sp>
      <p:sp>
        <p:nvSpPr>
          <p:cNvPr id="6" name="TextBox 5"/>
          <p:cNvSpPr txBox="1"/>
          <p:nvPr/>
        </p:nvSpPr>
        <p:spPr>
          <a:xfrm>
            <a:off x="640080" y="3977639"/>
            <a:ext cx="9601200" cy="286553"/>
          </a:xfrm>
          <a:prstGeom prst="rect">
            <a:avLst/>
          </a:prstGeom>
          <a:noFill/>
        </p:spPr>
        <p:txBody>
          <a:bodyPr wrap="square" lIns="0" tIns="0" rIns="0" bIns="0">
            <a:spAutoFit/>
          </a:bodyPr>
          <a:lstStyle/>
          <a:p>
            <a:pPr algn="l">
              <a:lnSpc>
                <a:spcPct val="130000"/>
              </a:lnSpc>
              <a:spcBef>
                <a:spcPts val="0"/>
              </a:spcBef>
              <a:spcAft>
                <a:spcPts val="400"/>
              </a:spcAft>
            </a:pPr>
            <a:r>
              <a:rPr sz="1600" b="0" i="0" dirty="0">
                <a:solidFill>
                  <a:srgbClr val="B9C8DA"/>
                </a:solidFill>
                <a:latin typeface="Segoe UI"/>
              </a:rPr>
              <a:t>Why this project exists, what it aims to achieve, and its boundaries.</a:t>
            </a: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Introduction &amp; Document Purpose</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INTRODUCTION</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08760"/>
            <a:ext cx="10424160" cy="1877694"/>
          </a:xfrm>
          <a:prstGeom prst="rect">
            <a:avLst/>
          </a:prstGeom>
          <a:noFill/>
        </p:spPr>
        <p:txBody>
          <a:bodyPr wrap="square" lIns="0" tIns="0" rIns="0" bIns="0">
            <a:spAutoFit/>
          </a:bodyPr>
          <a:lstStyle/>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Purpose:  </a:t>
            </a:r>
            <a:r>
              <a:rPr sz="1500" b="0" i="0" dirty="0">
                <a:solidFill>
                  <a:srgbClr val="202A3A"/>
                </a:solidFill>
                <a:latin typeface="Segoe UI"/>
              </a:rPr>
              <a:t>This document describes </a:t>
            </a:r>
            <a:r>
              <a:rPr sz="1500" b="0" i="0" dirty="0" err="1">
                <a:solidFill>
                  <a:srgbClr val="202A3A"/>
                </a:solidFill>
                <a:latin typeface="Segoe UI"/>
              </a:rPr>
              <a:t>Setshabelo</a:t>
            </a:r>
            <a:r>
              <a:rPr sz="1500" b="0" i="0" dirty="0">
                <a:solidFill>
                  <a:srgbClr val="202A3A"/>
                </a:solidFill>
                <a:latin typeface="Segoe UI"/>
              </a:rPr>
              <a:t> </a:t>
            </a:r>
            <a:r>
              <a:rPr lang="en-GB" sz="1500" b="0" i="0" dirty="0">
                <a:solidFill>
                  <a:srgbClr val="202A3A"/>
                </a:solidFill>
                <a:latin typeface="Segoe UI"/>
              </a:rPr>
              <a:t>Admission System</a:t>
            </a:r>
            <a:r>
              <a:rPr sz="1500" b="0" i="0" dirty="0">
                <a:solidFill>
                  <a:srgbClr val="202A3A"/>
                </a:solidFill>
                <a:latin typeface="Segoe UI"/>
              </a:rPr>
              <a:t> </a:t>
            </a:r>
            <a:r>
              <a:rPr lang="en-GB" sz="1500" dirty="0">
                <a:solidFill>
                  <a:srgbClr val="202A3A"/>
                </a:solidFill>
                <a:latin typeface="Segoe UI"/>
              </a:rPr>
              <a:t>-</a:t>
            </a:r>
            <a:r>
              <a:rPr sz="1500" b="0" i="0" dirty="0">
                <a:solidFill>
                  <a:srgbClr val="202A3A"/>
                </a:solidFill>
                <a:latin typeface="Segoe UI"/>
              </a:rPr>
              <a:t> what the system will do, and the constraints it</a:t>
            </a:r>
            <a:r>
              <a:rPr lang="en-GB" sz="1500" b="0" i="0" dirty="0">
                <a:solidFill>
                  <a:srgbClr val="202A3A"/>
                </a:solidFill>
                <a:latin typeface="Segoe UI"/>
              </a:rPr>
              <a:t> will</a:t>
            </a:r>
            <a:r>
              <a:rPr lang="en-GB" sz="1500" dirty="0">
                <a:solidFill>
                  <a:srgbClr val="202A3A"/>
                </a:solidFill>
                <a:latin typeface="Segoe UI"/>
              </a:rPr>
              <a:t> </a:t>
            </a:r>
            <a:r>
              <a:rPr sz="1500" b="0" i="0" dirty="0">
                <a:solidFill>
                  <a:srgbClr val="202A3A"/>
                </a:solidFill>
                <a:latin typeface="Segoe UI"/>
              </a:rPr>
              <a:t>operate under.</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Audience:  </a:t>
            </a:r>
            <a:r>
              <a:rPr sz="1500" b="0" i="0" dirty="0">
                <a:solidFill>
                  <a:srgbClr val="202A3A"/>
                </a:solidFill>
                <a:latin typeface="Segoe UI"/>
              </a:rPr>
              <a:t>Written for both the school (stakeholders) and the development team, so both share one source of </a:t>
            </a:r>
            <a:r>
              <a:rPr lang="en-GB" sz="1500" b="0" i="0" dirty="0">
                <a:solidFill>
                  <a:srgbClr val="202A3A"/>
                </a:solidFill>
                <a:latin typeface="Segoe UI"/>
              </a:rPr>
              <a:t>information</a:t>
            </a:r>
            <a:r>
              <a:rPr sz="1500" b="0" i="0" dirty="0">
                <a:solidFill>
                  <a:srgbClr val="202A3A"/>
                </a:solidFill>
                <a:latin typeface="Segoe UI"/>
              </a:rPr>
              <a:t>.</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Scope of this </a:t>
            </a:r>
            <a:r>
              <a:rPr lang="en-GB" sz="1500" b="1" i="0" dirty="0">
                <a:solidFill>
                  <a:srgbClr val="202A3A"/>
                </a:solidFill>
                <a:latin typeface="Segoe UI Semibold"/>
              </a:rPr>
              <a:t>document</a:t>
            </a:r>
            <a:r>
              <a:rPr sz="1500" b="1" i="0" dirty="0">
                <a:solidFill>
                  <a:srgbClr val="202A3A"/>
                </a:solidFill>
                <a:latin typeface="Segoe UI Semibold"/>
              </a:rPr>
              <a:t>:  </a:t>
            </a:r>
            <a:r>
              <a:rPr sz="1500" b="0" i="0" dirty="0">
                <a:solidFill>
                  <a:srgbClr val="202A3A"/>
                </a:solidFill>
                <a:latin typeface="Segoe UI"/>
              </a:rPr>
              <a:t>A shortened, presentation-ready walkthrough of the full SRS </a:t>
            </a:r>
            <a:r>
              <a:rPr lang="en-GB" sz="1500" b="0" i="0" dirty="0">
                <a:solidFill>
                  <a:srgbClr val="202A3A"/>
                </a:solidFill>
                <a:latin typeface="Segoe UI"/>
              </a:rPr>
              <a:t>-</a:t>
            </a:r>
            <a:r>
              <a:rPr sz="1500" b="0" i="0" dirty="0">
                <a:solidFill>
                  <a:srgbClr val="202A3A"/>
                </a:solidFill>
                <a:latin typeface="Segoe UI"/>
              </a:rPr>
              <a:t> requirements, feasibility findings,</a:t>
            </a:r>
            <a:r>
              <a:rPr lang="en-GB" sz="1500" b="0" i="0" dirty="0">
                <a:solidFill>
                  <a:srgbClr val="202A3A"/>
                </a:solidFill>
                <a:latin typeface="Segoe UI"/>
              </a:rPr>
              <a:t> </a:t>
            </a:r>
            <a:r>
              <a:rPr sz="1500" b="0" i="0" dirty="0">
                <a:solidFill>
                  <a:srgbClr val="202A3A"/>
                </a:solidFill>
                <a:latin typeface="Segoe UI"/>
              </a:rPr>
              <a:t>risk register</a:t>
            </a:r>
            <a:r>
              <a:rPr lang="en-GB" sz="1500" b="0" i="0" dirty="0">
                <a:solidFill>
                  <a:srgbClr val="202A3A"/>
                </a:solidFill>
                <a:latin typeface="Segoe UI"/>
              </a:rPr>
              <a:t>, and SWOT Analysis</a:t>
            </a:r>
            <a:r>
              <a:rPr sz="1500" b="0" i="0" dirty="0">
                <a:solidFill>
                  <a:srgbClr val="202A3A"/>
                </a:solidFill>
                <a:latin typeface="Segoe UI"/>
              </a:rPr>
              <a:t>.</a:t>
            </a: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a:t>
            </a:r>
            <a:r>
              <a:rPr sz="950" b="0" i="0" dirty="0">
                <a:solidFill>
                  <a:srgbClr val="637182"/>
                </a:solidFill>
                <a:latin typeface="Segoe UI"/>
              </a:rPr>
              <a:t>|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Problem Statement</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THE CHALLENGE</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08760"/>
            <a:ext cx="10424160" cy="2297039"/>
          </a:xfrm>
          <a:prstGeom prst="rect">
            <a:avLst/>
          </a:prstGeom>
          <a:noFill/>
        </p:spPr>
        <p:txBody>
          <a:bodyPr wrap="square" lIns="0" tIns="0" rIns="0" bIns="0">
            <a:spAutoFit/>
          </a:bodyPr>
          <a:lstStyle/>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Manual, onsite registration:  </a:t>
            </a:r>
            <a:r>
              <a:rPr sz="1500" b="0" i="0" dirty="0">
                <a:solidFill>
                  <a:srgbClr val="202A3A"/>
                </a:solidFill>
                <a:latin typeface="Segoe UI"/>
              </a:rPr>
              <a:t>Parents must travel to </a:t>
            </a:r>
            <a:r>
              <a:rPr sz="1500" b="0" i="0" dirty="0" err="1">
                <a:solidFill>
                  <a:srgbClr val="202A3A"/>
                </a:solidFill>
                <a:latin typeface="Segoe UI"/>
              </a:rPr>
              <a:t>Setshabelo</a:t>
            </a:r>
            <a:r>
              <a:rPr sz="1500" b="0" i="0" dirty="0">
                <a:solidFill>
                  <a:srgbClr val="202A3A"/>
                </a:solidFill>
                <a:latin typeface="Segoe UI"/>
              </a:rPr>
              <a:t> Primary School at the start of each year to apply in person</a:t>
            </a:r>
            <a:r>
              <a:rPr lang="en-GB" sz="1500" dirty="0">
                <a:solidFill>
                  <a:srgbClr val="202A3A"/>
                </a:solidFill>
                <a:latin typeface="Segoe UI"/>
              </a:rPr>
              <a:t> and </a:t>
            </a:r>
            <a:r>
              <a:rPr sz="1500" b="0" i="0" dirty="0">
                <a:solidFill>
                  <a:srgbClr val="202A3A"/>
                </a:solidFill>
                <a:latin typeface="Segoe UI"/>
              </a:rPr>
              <a:t>on paper.</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Error-prone paperwork:  </a:t>
            </a:r>
            <a:r>
              <a:rPr sz="1500" b="0" i="0" dirty="0">
                <a:solidFill>
                  <a:srgbClr val="202A3A"/>
                </a:solidFill>
                <a:latin typeface="Segoe UI"/>
              </a:rPr>
              <a:t>Hand-filled forms </a:t>
            </a:r>
            <a:r>
              <a:rPr lang="en-GB" sz="1500" b="0" i="0" dirty="0">
                <a:solidFill>
                  <a:srgbClr val="202A3A"/>
                </a:solidFill>
                <a:latin typeface="Segoe UI"/>
              </a:rPr>
              <a:t>often</a:t>
            </a:r>
            <a:r>
              <a:rPr sz="1500" b="0" i="0" dirty="0">
                <a:solidFill>
                  <a:srgbClr val="202A3A"/>
                </a:solidFill>
                <a:latin typeface="Segoe UI"/>
              </a:rPr>
              <a:t> result in missing information or wrongly filled documents.</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Long queues, heavy admin load:  </a:t>
            </a:r>
            <a:r>
              <a:rPr sz="1500" b="0" i="0" dirty="0">
                <a:solidFill>
                  <a:srgbClr val="202A3A"/>
                </a:solidFill>
                <a:latin typeface="Segoe UI"/>
              </a:rPr>
              <a:t>Parents wait in long physical lines</a:t>
            </a:r>
            <a:r>
              <a:rPr lang="en-GB" sz="1500" b="0" i="0" dirty="0">
                <a:solidFill>
                  <a:srgbClr val="202A3A"/>
                </a:solidFill>
                <a:latin typeface="Segoe UI"/>
              </a:rPr>
              <a:t> and</a:t>
            </a:r>
            <a:r>
              <a:rPr sz="1500" b="0" i="0" dirty="0">
                <a:solidFill>
                  <a:srgbClr val="202A3A"/>
                </a:solidFill>
                <a:latin typeface="Segoe UI"/>
              </a:rPr>
              <a:t> admin staff must process large batches of paper at once.</a:t>
            </a:r>
          </a:p>
          <a:p>
            <a:pPr>
              <a:lnSpc>
                <a:spcPct val="115000"/>
              </a:lnSpc>
              <a:spcAft>
                <a:spcPts val="1200"/>
              </a:spcAft>
            </a:pPr>
            <a:r>
              <a:rPr sz="1500" b="1" i="0" dirty="0">
                <a:solidFill>
                  <a:srgbClr val="1E7A7E"/>
                </a:solidFill>
                <a:latin typeface="Segoe UI"/>
              </a:rPr>
              <a:t>•  </a:t>
            </a:r>
            <a:r>
              <a:rPr lang="en-GB" sz="1500" b="1" i="0" dirty="0">
                <a:solidFill>
                  <a:srgbClr val="202A3A"/>
                </a:solidFill>
                <a:latin typeface="Segoe UI Semibold"/>
              </a:rPr>
              <a:t>Unreliable</a:t>
            </a:r>
            <a:r>
              <a:rPr sz="1500" b="1" i="0" dirty="0">
                <a:solidFill>
                  <a:srgbClr val="202A3A"/>
                </a:solidFill>
                <a:latin typeface="Segoe UI Semibold"/>
              </a:rPr>
              <a:t> communication:  </a:t>
            </a:r>
            <a:r>
              <a:rPr sz="1500" b="0" i="0" dirty="0">
                <a:solidFill>
                  <a:srgbClr val="202A3A"/>
                </a:solidFill>
                <a:latin typeface="Segoe UI"/>
              </a:rPr>
              <a:t>The school relies on social media for updates and outcomes</a:t>
            </a:r>
            <a:r>
              <a:rPr lang="en-GB" sz="1500" b="0" i="0" dirty="0">
                <a:solidFill>
                  <a:srgbClr val="202A3A"/>
                </a:solidFill>
                <a:latin typeface="Segoe UI"/>
              </a:rPr>
              <a:t>, </a:t>
            </a:r>
            <a:r>
              <a:rPr sz="1500" b="0" i="0" dirty="0">
                <a:solidFill>
                  <a:srgbClr val="202A3A"/>
                </a:solidFill>
                <a:latin typeface="Segoe UI"/>
              </a:rPr>
              <a:t>but not every parent has reliable access.</a:t>
            </a: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a:t>
            </a:r>
            <a:r>
              <a:rPr sz="950" b="0" i="0" dirty="0">
                <a:solidFill>
                  <a:srgbClr val="637182"/>
                </a:solidFill>
                <a:latin typeface="Segoe UI"/>
              </a:rPr>
              <a:t>|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Purpose, Aim &amp; Objectives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VISION</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08760"/>
            <a:ext cx="10424160" cy="1346779"/>
          </a:xfrm>
          <a:prstGeom prst="rect">
            <a:avLst/>
          </a:prstGeom>
          <a:noFill/>
        </p:spPr>
        <p:txBody>
          <a:bodyPr wrap="square" lIns="0" tIns="0" rIns="0" bIns="0">
            <a:spAutoFit/>
          </a:bodyPr>
          <a:lstStyle/>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Purpose:  </a:t>
            </a:r>
            <a:r>
              <a:rPr sz="1500" b="0" i="0" dirty="0">
                <a:solidFill>
                  <a:srgbClr val="202A3A"/>
                </a:solidFill>
                <a:latin typeface="Segoe UI"/>
              </a:rPr>
              <a:t>Simplify the application process for new learners, keep parents and learners updated, and publish school achievements to attract new </a:t>
            </a:r>
            <a:r>
              <a:rPr lang="en-GB" sz="1500" b="0" i="0" dirty="0">
                <a:solidFill>
                  <a:srgbClr val="202A3A"/>
                </a:solidFill>
                <a:latin typeface="Segoe UI"/>
              </a:rPr>
              <a:t>learners</a:t>
            </a:r>
            <a:r>
              <a:rPr sz="1500" b="0" i="0" dirty="0">
                <a:solidFill>
                  <a:srgbClr val="202A3A"/>
                </a:solidFill>
                <a:latin typeface="Segoe UI"/>
              </a:rPr>
              <a:t>.</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Aim:  </a:t>
            </a:r>
            <a:r>
              <a:rPr sz="1500" b="0" i="0" dirty="0">
                <a:solidFill>
                  <a:srgbClr val="202A3A"/>
                </a:solidFill>
                <a:latin typeface="Segoe UI"/>
              </a:rPr>
              <a:t>Digitalize the application process and make school updates easily accessible to everyone.</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In short:  </a:t>
            </a:r>
            <a:r>
              <a:rPr sz="1500" b="0" i="0" dirty="0">
                <a:solidFill>
                  <a:srgbClr val="202A3A"/>
                </a:solidFill>
                <a:latin typeface="Segoe UI"/>
              </a:rPr>
              <a:t>Replace queues and paper with accounts, forms, and dashboards for both parents and school administrators.</a:t>
            </a: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Project Scope</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SCOPE DEFINITION</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4864" cy="384048"/>
          </a:xfrm>
          <a:prstGeom prst="rect">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536192"/>
            <a:ext cx="5166360" cy="457200"/>
          </a:xfrm>
          <a:prstGeom prst="rect">
            <a:avLst/>
          </a:prstGeom>
          <a:noFill/>
        </p:spPr>
        <p:txBody>
          <a:bodyPr wrap="square" lIns="0" tIns="0" rIns="0" bIns="0">
            <a:spAutoFit/>
          </a:bodyPr>
          <a:lstStyle/>
          <a:p>
            <a:pPr algn="l">
              <a:spcBef>
                <a:spcPts val="0"/>
              </a:spcBef>
              <a:spcAft>
                <a:spcPts val="400"/>
              </a:spcAft>
            </a:pPr>
            <a:r>
              <a:rPr sz="1700" b="1" i="0">
                <a:solidFill>
                  <a:srgbClr val="202A3A"/>
                </a:solidFill>
                <a:latin typeface="Segoe UI Semibold"/>
              </a:rPr>
              <a:t>Objectives</a:t>
            </a:r>
          </a:p>
        </p:txBody>
      </p:sp>
      <p:sp>
        <p:nvSpPr>
          <p:cNvPr id="8" name="TextBox 7"/>
          <p:cNvSpPr txBox="1"/>
          <p:nvPr/>
        </p:nvSpPr>
        <p:spPr>
          <a:xfrm>
            <a:off x="685800" y="2121408"/>
            <a:ext cx="5166360" cy="1529265"/>
          </a:xfrm>
          <a:prstGeom prst="rect">
            <a:avLst/>
          </a:prstGeom>
          <a:noFill/>
        </p:spPr>
        <p:txBody>
          <a:bodyPr wrap="square" lIns="0" tIns="0" rIns="0" bIns="0">
            <a:spAutoFit/>
          </a:bodyPr>
          <a:lstStyle/>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Parents can create and view applications for their children, and access school updates</a:t>
            </a: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Admins can accept and reject applications</a:t>
            </a: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Admins can publish school updates</a:t>
            </a:r>
            <a:r>
              <a:rPr lang="en-GB" sz="1350" b="0" i="0" dirty="0">
                <a:solidFill>
                  <a:srgbClr val="202A3A"/>
                </a:solidFill>
                <a:latin typeface="Segoe UI"/>
              </a:rPr>
              <a:t> and achievements</a:t>
            </a:r>
            <a:endParaRPr sz="1350" b="0" i="0" dirty="0">
              <a:solidFill>
                <a:srgbClr val="202A3A"/>
              </a:solidFill>
              <a:latin typeface="Segoe UI"/>
            </a:endParaRP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All users can view school achievements</a:t>
            </a:r>
          </a:p>
        </p:txBody>
      </p:sp>
      <p:sp>
        <p:nvSpPr>
          <p:cNvPr id="9" name="Rectangle 8"/>
          <p:cNvSpPr/>
          <p:nvPr/>
        </p:nvSpPr>
        <p:spPr>
          <a:xfrm>
            <a:off x="6309360" y="1554480"/>
            <a:ext cx="54864" cy="384048"/>
          </a:xfrm>
          <a:prstGeom prst="rect">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8" y="1536192"/>
            <a:ext cx="5166360" cy="457200"/>
          </a:xfrm>
          <a:prstGeom prst="rect">
            <a:avLst/>
          </a:prstGeom>
          <a:noFill/>
        </p:spPr>
        <p:txBody>
          <a:bodyPr wrap="square" lIns="0" tIns="0" rIns="0" bIns="0">
            <a:spAutoFit/>
          </a:bodyPr>
          <a:lstStyle/>
          <a:p>
            <a:pPr algn="l">
              <a:spcBef>
                <a:spcPts val="0"/>
              </a:spcBef>
              <a:spcAft>
                <a:spcPts val="400"/>
              </a:spcAft>
            </a:pPr>
            <a:r>
              <a:rPr sz="1700" b="1" i="0">
                <a:solidFill>
                  <a:srgbClr val="202A3A"/>
                </a:solidFill>
                <a:latin typeface="Segoe UI Semibold"/>
              </a:rPr>
              <a:t>Deliverable &amp; Acceptance</a:t>
            </a:r>
          </a:p>
        </p:txBody>
      </p:sp>
      <p:sp>
        <p:nvSpPr>
          <p:cNvPr id="11" name="TextBox 10"/>
          <p:cNvSpPr txBox="1"/>
          <p:nvPr/>
        </p:nvSpPr>
        <p:spPr>
          <a:xfrm>
            <a:off x="6309360" y="2121408"/>
            <a:ext cx="5166360" cy="4297680"/>
          </a:xfrm>
          <a:prstGeom prst="rect">
            <a:avLst/>
          </a:prstGeom>
          <a:noFill/>
        </p:spPr>
        <p:txBody>
          <a:bodyPr wrap="square" lIns="0" tIns="0" rIns="0" bIns="0">
            <a:spAutoFit/>
          </a:bodyPr>
          <a:lstStyle/>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Deliverable: an integrated Flutter (mobile) + ASP.NET (web) application</a:t>
            </a:r>
          </a:p>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Acceptance: Flutter and ASP.NET share the same backend</a:t>
            </a:r>
          </a:p>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Acceptance: users can perform the same actions on mobile and web</a:t>
            </a:r>
          </a:p>
        </p:txBody>
      </p:sp>
      <p:sp>
        <p:nvSpPr>
          <p:cNvPr id="12" name="Rectangle 11"/>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14" name="TextBox 13"/>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Scope Boundaries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WHAT'S IN, WHAT'S OUT</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08760"/>
            <a:ext cx="3444240" cy="48463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08760"/>
            <a:ext cx="54864" cy="4846320"/>
          </a:xfrm>
          <a:prstGeom prst="rect">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Exclusions</a:t>
            </a:r>
          </a:p>
        </p:txBody>
      </p:sp>
      <p:sp>
        <p:nvSpPr>
          <p:cNvPr id="9" name="Rounded Rectangle 8"/>
          <p:cNvSpPr/>
          <p:nvPr/>
        </p:nvSpPr>
        <p:spPr>
          <a:xfrm>
            <a:off x="2868168" y="1645920"/>
            <a:ext cx="1051560" cy="274320"/>
          </a:xfrm>
          <a:prstGeom prst="roundRect">
            <a:avLst>
              <a:gd name="adj" fmla="val 50000"/>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OUT OF SCOPE</a:t>
            </a:r>
          </a:p>
        </p:txBody>
      </p:sp>
      <p:sp>
        <p:nvSpPr>
          <p:cNvPr id="10" name="TextBox 9"/>
          <p:cNvSpPr txBox="1"/>
          <p:nvPr/>
        </p:nvSpPr>
        <p:spPr>
          <a:xfrm>
            <a:off x="859536" y="2020824"/>
            <a:ext cx="3005328" cy="1105495"/>
          </a:xfrm>
          <a:prstGeom prst="rect">
            <a:avLst/>
          </a:prstGeom>
          <a:noFill/>
        </p:spPr>
        <p:txBody>
          <a:bodyPr wrap="square" lIns="0" tIns="0" rIns="0" bIns="0">
            <a:spAutoFit/>
          </a:bodyPr>
          <a:lstStyle/>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Built-in uniform shop</a:t>
            </a:r>
          </a:p>
          <a:p>
            <a:pPr>
              <a:lnSpc>
                <a:spcPct val="108000"/>
              </a:lnSpc>
              <a:spcAft>
                <a:spcPts val="400"/>
              </a:spcAft>
            </a:pPr>
            <a:r>
              <a:rPr sz="1100" b="1" i="0" dirty="0">
                <a:solidFill>
                  <a:srgbClr val="1E7A7E"/>
                </a:solidFill>
                <a:latin typeface="Segoe UI"/>
              </a:rPr>
              <a:t>–  </a:t>
            </a:r>
            <a:r>
              <a:rPr lang="en-GB" sz="1100" b="0" i="0" dirty="0">
                <a:solidFill>
                  <a:srgbClr val="202A3A"/>
                </a:solidFill>
                <a:latin typeface="Segoe UI"/>
              </a:rPr>
              <a:t>Bulk SMS</a:t>
            </a:r>
            <a:endParaRPr sz="1100" b="0" i="0" dirty="0">
              <a:solidFill>
                <a:srgbClr val="202A3A"/>
              </a:solidFill>
              <a:latin typeface="Segoe UI"/>
            </a:endParaRPr>
          </a:p>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Built-in textbook library</a:t>
            </a:r>
            <a:endParaRPr lang="en-GB" sz="1100" b="0" i="0" dirty="0">
              <a:solidFill>
                <a:srgbClr val="202A3A"/>
              </a:solidFill>
              <a:latin typeface="Segoe UI"/>
            </a:endParaRPr>
          </a:p>
          <a:p>
            <a:pPr>
              <a:lnSpc>
                <a:spcPct val="108000"/>
              </a:lnSpc>
              <a:spcAft>
                <a:spcPts val="400"/>
              </a:spcAft>
            </a:pPr>
            <a:r>
              <a:rPr lang="en-US" sz="1100" b="1" dirty="0">
                <a:solidFill>
                  <a:srgbClr val="1E7A7E"/>
                </a:solidFill>
                <a:latin typeface="Segoe UI"/>
              </a:rPr>
              <a:t>–  </a:t>
            </a:r>
            <a:r>
              <a:rPr lang="en-US" sz="1100" dirty="0">
                <a:solidFill>
                  <a:srgbClr val="202A3A"/>
                </a:solidFill>
                <a:latin typeface="Segoe UI"/>
              </a:rPr>
              <a:t>Daily attendance register</a:t>
            </a:r>
          </a:p>
          <a:p>
            <a:pPr>
              <a:lnSpc>
                <a:spcPct val="108000"/>
              </a:lnSpc>
              <a:spcAft>
                <a:spcPts val="400"/>
              </a:spcAft>
            </a:pPr>
            <a:endParaRPr lang="en-GB" sz="1100" b="0" i="0" dirty="0">
              <a:solidFill>
                <a:srgbClr val="202A3A"/>
              </a:solidFill>
              <a:latin typeface="Segoe UI"/>
            </a:endParaRPr>
          </a:p>
        </p:txBody>
      </p:sp>
      <p:sp>
        <p:nvSpPr>
          <p:cNvPr id="11" name="Rounded Rectangle 10"/>
          <p:cNvSpPr/>
          <p:nvPr/>
        </p:nvSpPr>
        <p:spPr>
          <a:xfrm>
            <a:off x="4358640" y="1508760"/>
            <a:ext cx="3444240" cy="48463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8640" y="1508760"/>
            <a:ext cx="54864" cy="4846320"/>
          </a:xfrm>
          <a:prstGeom prst="rect">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809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Constraints</a:t>
            </a:r>
          </a:p>
        </p:txBody>
      </p:sp>
      <p:sp>
        <p:nvSpPr>
          <p:cNvPr id="14" name="Rounded Rectangle 13"/>
          <p:cNvSpPr/>
          <p:nvPr/>
        </p:nvSpPr>
        <p:spPr>
          <a:xfrm>
            <a:off x="6586728" y="1645920"/>
            <a:ext cx="1051560" cy="274320"/>
          </a:xfrm>
          <a:prstGeom prst="roundRect">
            <a:avLst>
              <a:gd name="adj" fmla="val 50000"/>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LIMITS</a:t>
            </a:r>
          </a:p>
        </p:txBody>
      </p:sp>
      <p:sp>
        <p:nvSpPr>
          <p:cNvPr id="15" name="TextBox 14"/>
          <p:cNvSpPr txBox="1"/>
          <p:nvPr/>
        </p:nvSpPr>
        <p:spPr>
          <a:xfrm>
            <a:off x="4578096" y="2020824"/>
            <a:ext cx="3005328" cy="1419812"/>
          </a:xfrm>
          <a:prstGeom prst="rect">
            <a:avLst/>
          </a:prstGeom>
          <a:noFill/>
        </p:spPr>
        <p:txBody>
          <a:bodyPr wrap="square" lIns="0" tIns="0" rIns="0" bIns="0">
            <a:spAutoFit/>
          </a:bodyPr>
          <a:lstStyle/>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Time</a:t>
            </a:r>
            <a:r>
              <a:rPr lang="en-GB" sz="1100" b="0" i="0" dirty="0">
                <a:solidFill>
                  <a:srgbClr val="202A3A"/>
                </a:solidFill>
                <a:latin typeface="Segoe UI"/>
              </a:rPr>
              <a:t>: </a:t>
            </a:r>
            <a:r>
              <a:rPr sz="1100" b="0" i="0" dirty="0">
                <a:solidFill>
                  <a:srgbClr val="202A3A"/>
                </a:solidFill>
                <a:latin typeface="Segoe UI"/>
              </a:rPr>
              <a:t>must be completed before the end of the semester</a:t>
            </a:r>
            <a:endParaRPr lang="en-US" sz="1100" b="0" i="0" dirty="0">
              <a:solidFill>
                <a:srgbClr val="202A3A"/>
              </a:solidFill>
              <a:latin typeface="Segoe UI"/>
            </a:endParaRPr>
          </a:p>
          <a:p>
            <a:pPr>
              <a:lnSpc>
                <a:spcPct val="108000"/>
              </a:lnSpc>
              <a:spcAft>
                <a:spcPts val="400"/>
              </a:spcAft>
            </a:pPr>
            <a:r>
              <a:rPr lang="en-GB" sz="1100" b="1" i="0" dirty="0">
                <a:solidFill>
                  <a:srgbClr val="1E7A7E"/>
                </a:solidFill>
                <a:latin typeface="Segoe UI"/>
              </a:rPr>
              <a:t>–  </a:t>
            </a:r>
            <a:r>
              <a:rPr lang="en-GB" sz="1100" b="0" i="0" dirty="0">
                <a:solidFill>
                  <a:srgbClr val="202A3A"/>
                </a:solidFill>
                <a:latin typeface="Segoe UI"/>
              </a:rPr>
              <a:t>Cost: Attendance scanner exceed the defined budget</a:t>
            </a:r>
          </a:p>
          <a:p>
            <a:pPr>
              <a:lnSpc>
                <a:spcPct val="108000"/>
              </a:lnSpc>
              <a:spcAft>
                <a:spcPts val="400"/>
              </a:spcAft>
            </a:pPr>
            <a:r>
              <a:rPr lang="en-GB" sz="1100" b="1" dirty="0">
                <a:solidFill>
                  <a:srgbClr val="1E7A7E"/>
                </a:solidFill>
                <a:latin typeface="Segoe UI"/>
              </a:rPr>
              <a:t>–  </a:t>
            </a:r>
            <a:r>
              <a:rPr lang="en-GB" sz="1100" dirty="0">
                <a:solidFill>
                  <a:srgbClr val="202A3A"/>
                </a:solidFill>
                <a:latin typeface="Segoe UI"/>
              </a:rPr>
              <a:t>Scope: E-textbooks distributions violate certain copyright laws</a:t>
            </a:r>
          </a:p>
          <a:p>
            <a:pPr>
              <a:lnSpc>
                <a:spcPct val="108000"/>
              </a:lnSpc>
              <a:spcAft>
                <a:spcPts val="400"/>
              </a:spcAft>
            </a:pPr>
            <a:endParaRPr lang="en-GB" sz="1100" b="0" i="0" dirty="0">
              <a:solidFill>
                <a:srgbClr val="202A3A"/>
              </a:solidFill>
              <a:latin typeface="Segoe UI"/>
            </a:endParaRPr>
          </a:p>
        </p:txBody>
      </p:sp>
      <p:sp>
        <p:nvSpPr>
          <p:cNvPr id="16" name="Rounded Rectangle 15"/>
          <p:cNvSpPr/>
          <p:nvPr/>
        </p:nvSpPr>
        <p:spPr>
          <a:xfrm>
            <a:off x="8077200" y="1508760"/>
            <a:ext cx="3444240" cy="48463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77200" y="1508760"/>
            <a:ext cx="54864" cy="4846320"/>
          </a:xfrm>
          <a:prstGeom prst="rect">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665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Assumptions</a:t>
            </a:r>
          </a:p>
        </p:txBody>
      </p:sp>
      <p:sp>
        <p:nvSpPr>
          <p:cNvPr id="19" name="Rounded Rectangle 18"/>
          <p:cNvSpPr/>
          <p:nvPr/>
        </p:nvSpPr>
        <p:spPr>
          <a:xfrm>
            <a:off x="10305288" y="1645920"/>
            <a:ext cx="1051560" cy="274320"/>
          </a:xfrm>
          <a:prstGeom prst="roundRect">
            <a:avLst>
              <a:gd name="adj" fmla="val 50000"/>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ASSUMED TRUE</a:t>
            </a:r>
          </a:p>
        </p:txBody>
      </p:sp>
      <p:sp>
        <p:nvSpPr>
          <p:cNvPr id="20" name="TextBox 19"/>
          <p:cNvSpPr txBox="1"/>
          <p:nvPr/>
        </p:nvSpPr>
        <p:spPr>
          <a:xfrm>
            <a:off x="8296656" y="2020824"/>
            <a:ext cx="3005328" cy="1419812"/>
          </a:xfrm>
          <a:prstGeom prst="rect">
            <a:avLst/>
          </a:prstGeom>
          <a:noFill/>
        </p:spPr>
        <p:txBody>
          <a:bodyPr wrap="square" lIns="0" tIns="0" rIns="0" bIns="0">
            <a:spAutoFit/>
          </a:bodyPr>
          <a:lstStyle/>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Parents have compatible smartphone</a:t>
            </a:r>
            <a:r>
              <a:rPr lang="en-GB" sz="1100" b="0" i="0" dirty="0">
                <a:solidFill>
                  <a:srgbClr val="202A3A"/>
                </a:solidFill>
                <a:latin typeface="Segoe UI"/>
              </a:rPr>
              <a:t>s</a:t>
            </a:r>
            <a:r>
              <a:rPr sz="1100" b="0" i="0" dirty="0">
                <a:solidFill>
                  <a:srgbClr val="202A3A"/>
                </a:solidFill>
                <a:latin typeface="Segoe UI"/>
              </a:rPr>
              <a:t> or computer</a:t>
            </a:r>
            <a:r>
              <a:rPr lang="en-GB" sz="1100" b="0" i="0" dirty="0">
                <a:solidFill>
                  <a:srgbClr val="202A3A"/>
                </a:solidFill>
                <a:latin typeface="Segoe UI"/>
              </a:rPr>
              <a:t>s</a:t>
            </a:r>
            <a:endParaRPr sz="1100" b="0" i="0" dirty="0">
              <a:solidFill>
                <a:srgbClr val="202A3A"/>
              </a:solidFill>
              <a:latin typeface="Segoe UI"/>
            </a:endParaRPr>
          </a:p>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Parents &amp; admin staff have basic digital skills</a:t>
            </a:r>
          </a:p>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A secure authentication system differentiates users from admins</a:t>
            </a:r>
          </a:p>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The team has the technical skills needed to build the system</a:t>
            </a:r>
          </a:p>
        </p:txBody>
      </p:sp>
      <p:sp>
        <p:nvSpPr>
          <p:cNvPr id="21" name="Rectangle 20"/>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23" name="TextBox 22"/>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Stakeholders &amp; User Groups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WHO'S INVOLVED</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08760"/>
            <a:ext cx="3444240" cy="292608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08760"/>
            <a:ext cx="54864" cy="2926080"/>
          </a:xfrm>
          <a:prstGeom prst="rect">
            <a:avLst/>
          </a:prstGeom>
          <a:solidFill>
            <a:srgbClr val="1C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External Stakeholder</a:t>
            </a:r>
          </a:p>
        </p:txBody>
      </p:sp>
      <p:sp>
        <p:nvSpPr>
          <p:cNvPr id="9" name="TextBox 8"/>
          <p:cNvSpPr txBox="1"/>
          <p:nvPr/>
        </p:nvSpPr>
        <p:spPr>
          <a:xfrm>
            <a:off x="859536" y="2020824"/>
            <a:ext cx="3005328" cy="593111"/>
          </a:xfrm>
          <a:prstGeom prst="rect">
            <a:avLst/>
          </a:prstGeom>
          <a:noFill/>
        </p:spPr>
        <p:txBody>
          <a:bodyPr wrap="square" lIns="0" tIns="0" rIns="0" bIns="0">
            <a:spAutoFit/>
          </a:bodyPr>
          <a:lstStyle/>
          <a:p>
            <a:pPr algn="l">
              <a:lnSpc>
                <a:spcPct val="115000"/>
              </a:lnSpc>
              <a:spcBef>
                <a:spcPts val="0"/>
              </a:spcBef>
              <a:spcAft>
                <a:spcPts val="400"/>
              </a:spcAft>
            </a:pPr>
            <a:r>
              <a:rPr sz="1150" b="0" i="0" dirty="0">
                <a:solidFill>
                  <a:srgbClr val="637182"/>
                </a:solidFill>
                <a:latin typeface="Segoe UI"/>
              </a:rPr>
              <a:t>Defines the current real-world process and the problems tied to it</a:t>
            </a:r>
            <a:r>
              <a:rPr lang="en-GB" sz="1150" b="0" i="0" dirty="0">
                <a:solidFill>
                  <a:srgbClr val="637182"/>
                </a:solidFill>
                <a:latin typeface="Segoe UI"/>
              </a:rPr>
              <a:t>. </a:t>
            </a:r>
            <a:r>
              <a:rPr lang="en-GB" sz="1150" dirty="0">
                <a:solidFill>
                  <a:srgbClr val="637182"/>
                </a:solidFill>
                <a:latin typeface="Segoe UI"/>
              </a:rPr>
              <a:t>T</a:t>
            </a:r>
            <a:r>
              <a:rPr sz="1150" b="0" i="0" dirty="0">
                <a:solidFill>
                  <a:srgbClr val="637182"/>
                </a:solidFill>
                <a:latin typeface="Segoe UI"/>
              </a:rPr>
              <a:t>he source of </a:t>
            </a:r>
            <a:r>
              <a:rPr lang="en-GB" sz="1150" b="0" i="0" dirty="0">
                <a:solidFill>
                  <a:srgbClr val="637182"/>
                </a:solidFill>
                <a:latin typeface="Segoe UI"/>
              </a:rPr>
              <a:t>information</a:t>
            </a:r>
            <a:r>
              <a:rPr sz="1150" b="0" i="0" dirty="0">
                <a:solidFill>
                  <a:srgbClr val="637182"/>
                </a:solidFill>
                <a:latin typeface="Segoe UI"/>
              </a:rPr>
              <a:t> for requirements.</a:t>
            </a:r>
          </a:p>
        </p:txBody>
      </p:sp>
      <p:sp>
        <p:nvSpPr>
          <p:cNvPr id="10" name="Rounded Rectangle 9"/>
          <p:cNvSpPr/>
          <p:nvPr/>
        </p:nvSpPr>
        <p:spPr>
          <a:xfrm>
            <a:off x="4358640" y="1508760"/>
            <a:ext cx="3444240" cy="292608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58640" y="1508760"/>
            <a:ext cx="54864" cy="2926080"/>
          </a:xfrm>
          <a:prstGeom prst="rect">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809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Mobile App User</a:t>
            </a:r>
          </a:p>
        </p:txBody>
      </p:sp>
      <p:sp>
        <p:nvSpPr>
          <p:cNvPr id="13" name="TextBox 12"/>
          <p:cNvSpPr txBox="1"/>
          <p:nvPr/>
        </p:nvSpPr>
        <p:spPr>
          <a:xfrm>
            <a:off x="4578096" y="2020824"/>
            <a:ext cx="3005328" cy="2267712"/>
          </a:xfrm>
          <a:prstGeom prst="rect">
            <a:avLst/>
          </a:prstGeom>
          <a:noFill/>
        </p:spPr>
        <p:txBody>
          <a:bodyPr wrap="square" lIns="0" tIns="0" rIns="0" bIns="0">
            <a:spAutoFit/>
          </a:bodyPr>
          <a:lstStyle/>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User: create applications, view status, view updates &amp; achievements</a:t>
            </a:r>
          </a:p>
          <a:p>
            <a:pPr>
              <a:lnSpc>
                <a:spcPct val="108000"/>
              </a:lnSpc>
              <a:spcAft>
                <a:spcPts val="400"/>
              </a:spcAft>
            </a:pPr>
            <a:r>
              <a:rPr sz="1100" b="1" i="0" dirty="0">
                <a:solidFill>
                  <a:srgbClr val="1E7A7E"/>
                </a:solidFill>
                <a:latin typeface="Segoe UI"/>
              </a:rPr>
              <a:t>–  </a:t>
            </a:r>
            <a:r>
              <a:rPr sz="1100" b="0" i="0" dirty="0">
                <a:solidFill>
                  <a:srgbClr val="202A3A"/>
                </a:solidFill>
                <a:latin typeface="Segoe UI"/>
              </a:rPr>
              <a:t>Admin: view/manage applications, publish updates &amp; achievements</a:t>
            </a:r>
          </a:p>
        </p:txBody>
      </p:sp>
      <p:sp>
        <p:nvSpPr>
          <p:cNvPr id="14" name="Rounded Rectangle 13"/>
          <p:cNvSpPr/>
          <p:nvPr/>
        </p:nvSpPr>
        <p:spPr>
          <a:xfrm>
            <a:off x="8077200" y="1508760"/>
            <a:ext cx="3444240" cy="292608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77200" y="1508760"/>
            <a:ext cx="54864" cy="2926080"/>
          </a:xfrm>
          <a:prstGeom prst="rect">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665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Web App User</a:t>
            </a:r>
          </a:p>
        </p:txBody>
      </p:sp>
      <p:sp>
        <p:nvSpPr>
          <p:cNvPr id="17" name="TextBox 16"/>
          <p:cNvSpPr txBox="1"/>
          <p:nvPr/>
        </p:nvSpPr>
        <p:spPr>
          <a:xfrm>
            <a:off x="8296656" y="2020824"/>
            <a:ext cx="3005328" cy="2267712"/>
          </a:xfrm>
          <a:prstGeom prst="rect">
            <a:avLst/>
          </a:prstGeom>
          <a:noFill/>
        </p:spPr>
        <p:txBody>
          <a:bodyPr wrap="square" lIns="0" tIns="0" rIns="0" bIns="0">
            <a:spAutoFit/>
          </a:bodyPr>
          <a:lstStyle/>
          <a:p>
            <a:pPr>
              <a:lnSpc>
                <a:spcPct val="108000"/>
              </a:lnSpc>
              <a:spcAft>
                <a:spcPts val="400"/>
              </a:spcAft>
            </a:pPr>
            <a:r>
              <a:rPr sz="1100" b="1" i="0">
                <a:solidFill>
                  <a:srgbClr val="1E7A7E"/>
                </a:solidFill>
                <a:latin typeface="Segoe UI"/>
              </a:rPr>
              <a:t>–  </a:t>
            </a:r>
            <a:r>
              <a:rPr sz="1100" b="0" i="0">
                <a:solidFill>
                  <a:srgbClr val="202A3A"/>
                </a:solidFill>
                <a:latin typeface="Segoe UI"/>
              </a:rPr>
              <a:t>User: create applications, view status, view updates &amp; achievements</a:t>
            </a:r>
          </a:p>
          <a:p>
            <a:pPr>
              <a:lnSpc>
                <a:spcPct val="108000"/>
              </a:lnSpc>
              <a:spcAft>
                <a:spcPts val="400"/>
              </a:spcAft>
            </a:pPr>
            <a:r>
              <a:rPr sz="1100" b="1" i="0">
                <a:solidFill>
                  <a:srgbClr val="1E7A7E"/>
                </a:solidFill>
                <a:latin typeface="Segoe UI"/>
              </a:rPr>
              <a:t>–  </a:t>
            </a:r>
            <a:r>
              <a:rPr sz="1100" b="0" i="0">
                <a:solidFill>
                  <a:srgbClr val="202A3A"/>
                </a:solidFill>
                <a:latin typeface="Segoe UI"/>
              </a:rPr>
              <a:t>Admin: view/manage applications, publish updates &amp; achievements</a:t>
            </a:r>
          </a:p>
        </p:txBody>
      </p:sp>
      <p:sp>
        <p:nvSpPr>
          <p:cNvPr id="18" name="Rectangle 17"/>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20" name="TextBox 19"/>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8164"/>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02</a:t>
            </a:r>
          </a:p>
        </p:txBody>
      </p:sp>
      <p:sp>
        <p:nvSpPr>
          <p:cNvPr id="5" name="TextBox 4"/>
          <p:cNvSpPr txBox="1"/>
          <p:nvPr/>
        </p:nvSpPr>
        <p:spPr>
          <a:xfrm>
            <a:off x="640080" y="3063240"/>
            <a:ext cx="10607040" cy="1463040"/>
          </a:xfrm>
          <a:prstGeom prst="rect">
            <a:avLst/>
          </a:prstGeom>
          <a:noFill/>
        </p:spPr>
        <p:txBody>
          <a:bodyPr wrap="square" lIns="0" tIns="0" rIns="0" bIns="0">
            <a:spAutoFit/>
          </a:bodyPr>
          <a:lstStyle/>
          <a:p>
            <a:pPr algn="l">
              <a:spcBef>
                <a:spcPts val="0"/>
              </a:spcBef>
              <a:spcAft>
                <a:spcPts val="400"/>
              </a:spcAft>
            </a:pPr>
            <a:r>
              <a:rPr sz="3800" b="1" i="0">
                <a:solidFill>
                  <a:srgbClr val="FFFFFF"/>
                </a:solidFill>
                <a:latin typeface="Segoe UI Semibold"/>
              </a:rPr>
              <a:t>Current Process &amp; Proposed Solution</a:t>
            </a:r>
          </a:p>
        </p:txBody>
      </p:sp>
      <p:sp>
        <p:nvSpPr>
          <p:cNvPr id="6" name="TextBox 5"/>
          <p:cNvSpPr txBox="1"/>
          <p:nvPr/>
        </p:nvSpPr>
        <p:spPr>
          <a:xfrm>
            <a:off x="640080" y="3977639"/>
            <a:ext cx="9601200" cy="286553"/>
          </a:xfrm>
          <a:prstGeom prst="rect">
            <a:avLst/>
          </a:prstGeom>
          <a:noFill/>
        </p:spPr>
        <p:txBody>
          <a:bodyPr wrap="square" lIns="0" tIns="0" rIns="0" bIns="0">
            <a:spAutoFit/>
          </a:bodyPr>
          <a:lstStyle/>
          <a:p>
            <a:pPr algn="l">
              <a:lnSpc>
                <a:spcPct val="130000"/>
              </a:lnSpc>
              <a:spcBef>
                <a:spcPts val="0"/>
              </a:spcBef>
              <a:spcAft>
                <a:spcPts val="400"/>
              </a:spcAft>
            </a:pPr>
            <a:r>
              <a:rPr lang="en-GB" sz="1600" b="0" i="0" dirty="0">
                <a:solidFill>
                  <a:srgbClr val="B9C8DA"/>
                </a:solidFill>
                <a:latin typeface="Segoe UI"/>
              </a:rPr>
              <a:t>The current school process</a:t>
            </a:r>
            <a:r>
              <a:rPr sz="1600" b="0" i="0" dirty="0">
                <a:solidFill>
                  <a:srgbClr val="B9C8DA"/>
                </a:solidFill>
                <a:latin typeface="Segoe UI"/>
              </a:rPr>
              <a:t>, and the digital </a:t>
            </a:r>
            <a:r>
              <a:rPr lang="en-GB" sz="1600" b="0" i="0" dirty="0">
                <a:solidFill>
                  <a:srgbClr val="B9C8DA"/>
                </a:solidFill>
                <a:latin typeface="Segoe UI"/>
              </a:rPr>
              <a:t>process</a:t>
            </a:r>
            <a:r>
              <a:rPr sz="1600" b="0" i="0" dirty="0">
                <a:solidFill>
                  <a:srgbClr val="B9C8DA"/>
                </a:solidFill>
                <a:latin typeface="Segoe UI"/>
              </a:rPr>
              <a:t> that will replace it.</a:t>
            </a: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sz="2800" b="1" i="0" dirty="0">
                <a:solidFill>
                  <a:srgbClr val="202A3A"/>
                </a:solidFill>
                <a:latin typeface="Segoe UI Semibold"/>
              </a:rPr>
              <a:t>Current </a:t>
            </a:r>
            <a:r>
              <a:rPr lang="en-GB" sz="2800" b="1" dirty="0">
                <a:solidFill>
                  <a:srgbClr val="202A3A"/>
                </a:solidFill>
                <a:latin typeface="Segoe UI Semibold"/>
              </a:rPr>
              <a:t>School</a:t>
            </a:r>
            <a:r>
              <a:rPr sz="2800" b="1" i="0" dirty="0">
                <a:solidFill>
                  <a:srgbClr val="202A3A"/>
                </a:solidFill>
                <a:latin typeface="Segoe UI Semibold"/>
              </a:rPr>
              <a:t> Process</a:t>
            </a:r>
          </a:p>
        </p:txBody>
      </p:sp>
      <p:sp>
        <p:nvSpPr>
          <p:cNvPr id="4" name="TextBox 3"/>
          <p:cNvSpPr txBox="1"/>
          <p:nvPr/>
        </p:nvSpPr>
        <p:spPr>
          <a:xfrm>
            <a:off x="640080" y="960120"/>
            <a:ext cx="7315200" cy="200055"/>
          </a:xfrm>
          <a:prstGeom prst="rect">
            <a:avLst/>
          </a:prstGeom>
          <a:noFill/>
        </p:spPr>
        <p:txBody>
          <a:bodyPr wrap="square" lIns="0" tIns="0" rIns="0" bIns="0">
            <a:spAutoFit/>
          </a:bodyPr>
          <a:lstStyle/>
          <a:p>
            <a:pPr algn="l">
              <a:spcBef>
                <a:spcPts val="0"/>
              </a:spcBef>
              <a:spcAft>
                <a:spcPts val="400"/>
              </a:spcAft>
            </a:pPr>
            <a:r>
              <a:rPr sz="1300" b="1" i="0" spc="180" dirty="0">
                <a:solidFill>
                  <a:srgbClr val="2FA4A9"/>
                </a:solidFill>
                <a:latin typeface="Segoe UI"/>
              </a:rPr>
              <a:t>WITHOUT THE SYSTEM</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hevron 5"/>
          <p:cNvSpPr/>
          <p:nvPr/>
        </p:nvSpPr>
        <p:spPr>
          <a:xfrm>
            <a:off x="640080" y="2286000"/>
            <a:ext cx="2059228" cy="1371600"/>
          </a:xfrm>
          <a:prstGeom prst="chevron">
            <a:avLst>
              <a:gd name="adj" fmla="val 22000"/>
            </a:avLst>
          </a:prstGeom>
          <a:solidFill>
            <a:srgbClr val="1C335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219456" bIns="73152" rtlCol="0" anchor="ctr"/>
          <a:lstStyle/>
          <a:p>
            <a:pPr algn="ctr"/>
            <a:r>
              <a:rPr sz="1100" b="1" i="0">
                <a:solidFill>
                  <a:srgbClr val="CFDDEA"/>
                </a:solidFill>
                <a:latin typeface="Segoe UI"/>
              </a:rPr>
              <a:t>1</a:t>
            </a:r>
          </a:p>
          <a:p>
            <a:pPr algn="ctr">
              <a:spcBef>
                <a:spcPts val="200"/>
              </a:spcBef>
            </a:pPr>
            <a:r>
              <a:rPr sz="1250" b="1" i="0">
                <a:solidFill>
                  <a:srgbClr val="FFFFFF"/>
                </a:solidFill>
                <a:latin typeface="Segoe UI Semibold"/>
              </a:rPr>
              <a:t>Announcement</a:t>
            </a:r>
          </a:p>
        </p:txBody>
      </p:sp>
      <p:sp>
        <p:nvSpPr>
          <p:cNvPr id="7" name="TextBox 6"/>
          <p:cNvSpPr txBox="1"/>
          <p:nvPr/>
        </p:nvSpPr>
        <p:spPr>
          <a:xfrm>
            <a:off x="640080" y="3840480"/>
            <a:ext cx="2059228" cy="1463040"/>
          </a:xfrm>
          <a:prstGeom prst="rect">
            <a:avLst/>
          </a:prstGeom>
          <a:noFill/>
        </p:spPr>
        <p:txBody>
          <a:bodyPr wrap="square" lIns="0" tIns="0" rIns="0" bIns="0">
            <a:spAutoFit/>
          </a:bodyPr>
          <a:lstStyle/>
          <a:p>
            <a:pPr algn="l">
              <a:lnSpc>
                <a:spcPct val="115000"/>
              </a:lnSpc>
              <a:spcBef>
                <a:spcPts val="0"/>
              </a:spcBef>
              <a:spcAft>
                <a:spcPts val="400"/>
              </a:spcAft>
            </a:pPr>
            <a:r>
              <a:rPr sz="1050" b="0" i="0">
                <a:solidFill>
                  <a:srgbClr val="637182"/>
                </a:solidFill>
                <a:latin typeface="Segoe UI"/>
              </a:rPr>
              <a:t>School announces the application period via social media or verbal notice.</a:t>
            </a:r>
          </a:p>
        </p:txBody>
      </p:sp>
      <p:sp>
        <p:nvSpPr>
          <p:cNvPr id="8" name="Chevron 7"/>
          <p:cNvSpPr/>
          <p:nvPr/>
        </p:nvSpPr>
        <p:spPr>
          <a:xfrm>
            <a:off x="2845612" y="2286000"/>
            <a:ext cx="2059228" cy="1371600"/>
          </a:xfrm>
          <a:prstGeom prst="chevron">
            <a:avLst>
              <a:gd name="adj" fmla="val 22000"/>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219456" bIns="73152" rtlCol="0" anchor="ctr"/>
          <a:lstStyle/>
          <a:p>
            <a:pPr algn="ctr"/>
            <a:r>
              <a:rPr sz="1100" b="1" i="0">
                <a:solidFill>
                  <a:srgbClr val="CFDDEA"/>
                </a:solidFill>
                <a:latin typeface="Segoe UI"/>
              </a:rPr>
              <a:t>2</a:t>
            </a:r>
          </a:p>
          <a:p>
            <a:pPr algn="ctr">
              <a:spcBef>
                <a:spcPts val="200"/>
              </a:spcBef>
            </a:pPr>
            <a:r>
              <a:rPr sz="1250" b="1" i="0">
                <a:solidFill>
                  <a:srgbClr val="FFFFFF"/>
                </a:solidFill>
                <a:latin typeface="Segoe UI Semibold"/>
              </a:rPr>
              <a:t>Travel &amp; Queue</a:t>
            </a:r>
          </a:p>
        </p:txBody>
      </p:sp>
      <p:sp>
        <p:nvSpPr>
          <p:cNvPr id="9" name="TextBox 8"/>
          <p:cNvSpPr txBox="1"/>
          <p:nvPr/>
        </p:nvSpPr>
        <p:spPr>
          <a:xfrm>
            <a:off x="2845612" y="3840480"/>
            <a:ext cx="2059228" cy="1463040"/>
          </a:xfrm>
          <a:prstGeom prst="rect">
            <a:avLst/>
          </a:prstGeom>
          <a:noFill/>
        </p:spPr>
        <p:txBody>
          <a:bodyPr wrap="square" lIns="0" tIns="0" rIns="0" bIns="0">
            <a:spAutoFit/>
          </a:bodyPr>
          <a:lstStyle/>
          <a:p>
            <a:pPr algn="l">
              <a:lnSpc>
                <a:spcPct val="115000"/>
              </a:lnSpc>
              <a:spcBef>
                <a:spcPts val="0"/>
              </a:spcBef>
              <a:spcAft>
                <a:spcPts val="400"/>
              </a:spcAft>
            </a:pPr>
            <a:r>
              <a:rPr sz="1050" b="0" i="0">
                <a:solidFill>
                  <a:srgbClr val="637182"/>
                </a:solidFill>
                <a:latin typeface="Segoe UI"/>
              </a:rPr>
              <a:t>Parents take time off work / arrange transport, then join long physical queues.</a:t>
            </a:r>
          </a:p>
        </p:txBody>
      </p:sp>
      <p:sp>
        <p:nvSpPr>
          <p:cNvPr id="10" name="Chevron 9"/>
          <p:cNvSpPr/>
          <p:nvPr/>
        </p:nvSpPr>
        <p:spPr>
          <a:xfrm>
            <a:off x="5051144" y="2286000"/>
            <a:ext cx="2059228" cy="1371600"/>
          </a:xfrm>
          <a:prstGeom prst="chevron">
            <a:avLst>
              <a:gd name="adj" fmla="val 22000"/>
            </a:avLst>
          </a:prstGeom>
          <a:solidFill>
            <a:srgbClr val="1C335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219456" bIns="73152" rtlCol="0" anchor="ctr"/>
          <a:lstStyle/>
          <a:p>
            <a:pPr algn="ctr"/>
            <a:r>
              <a:rPr sz="1100" b="1" i="0">
                <a:solidFill>
                  <a:srgbClr val="CFDDEA"/>
                </a:solidFill>
                <a:latin typeface="Segoe UI"/>
              </a:rPr>
              <a:t>3</a:t>
            </a:r>
          </a:p>
          <a:p>
            <a:pPr algn="ctr">
              <a:spcBef>
                <a:spcPts val="200"/>
              </a:spcBef>
            </a:pPr>
            <a:r>
              <a:rPr sz="1250" b="1" i="0">
                <a:solidFill>
                  <a:srgbClr val="FFFFFF"/>
                </a:solidFill>
                <a:latin typeface="Segoe UI Semibold"/>
              </a:rPr>
              <a:t>Manual Forms</a:t>
            </a:r>
          </a:p>
        </p:txBody>
      </p:sp>
      <p:sp>
        <p:nvSpPr>
          <p:cNvPr id="11" name="TextBox 10"/>
          <p:cNvSpPr txBox="1"/>
          <p:nvPr/>
        </p:nvSpPr>
        <p:spPr>
          <a:xfrm>
            <a:off x="5051144" y="3840480"/>
            <a:ext cx="2059228" cy="541495"/>
          </a:xfrm>
          <a:prstGeom prst="rect">
            <a:avLst/>
          </a:prstGeom>
          <a:noFill/>
        </p:spPr>
        <p:txBody>
          <a:bodyPr wrap="square" lIns="0" tIns="0" rIns="0" bIns="0">
            <a:spAutoFit/>
          </a:bodyPr>
          <a:lstStyle/>
          <a:p>
            <a:pPr algn="l">
              <a:lnSpc>
                <a:spcPct val="115000"/>
              </a:lnSpc>
              <a:spcBef>
                <a:spcPts val="0"/>
              </a:spcBef>
              <a:spcAft>
                <a:spcPts val="400"/>
              </a:spcAft>
            </a:pPr>
            <a:r>
              <a:rPr sz="1050" b="0" i="0" dirty="0">
                <a:solidFill>
                  <a:srgbClr val="637182"/>
                </a:solidFill>
                <a:latin typeface="Segoe UI"/>
              </a:rPr>
              <a:t>Parents receive, hand-fill, and submit paper forms often with errors.</a:t>
            </a:r>
          </a:p>
        </p:txBody>
      </p:sp>
      <p:sp>
        <p:nvSpPr>
          <p:cNvPr id="12" name="Chevron 11"/>
          <p:cNvSpPr/>
          <p:nvPr/>
        </p:nvSpPr>
        <p:spPr>
          <a:xfrm>
            <a:off x="7256676" y="2286000"/>
            <a:ext cx="2059228" cy="1371600"/>
          </a:xfrm>
          <a:prstGeom prst="chevron">
            <a:avLst>
              <a:gd name="adj" fmla="val 22000"/>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219456" bIns="73152" rtlCol="0" anchor="ctr"/>
          <a:lstStyle/>
          <a:p>
            <a:pPr algn="ctr"/>
            <a:r>
              <a:rPr sz="1100" b="1" i="0">
                <a:solidFill>
                  <a:srgbClr val="CFDDEA"/>
                </a:solidFill>
                <a:latin typeface="Segoe UI"/>
              </a:rPr>
              <a:t>4</a:t>
            </a:r>
          </a:p>
          <a:p>
            <a:pPr algn="ctr">
              <a:spcBef>
                <a:spcPts val="200"/>
              </a:spcBef>
            </a:pPr>
            <a:r>
              <a:rPr sz="1250" b="1" i="0">
                <a:solidFill>
                  <a:srgbClr val="FFFFFF"/>
                </a:solidFill>
                <a:latin typeface="Segoe UI Semibold"/>
              </a:rPr>
              <a:t>Piling &amp; Review</a:t>
            </a:r>
          </a:p>
        </p:txBody>
      </p:sp>
      <p:sp>
        <p:nvSpPr>
          <p:cNvPr id="13" name="TextBox 12"/>
          <p:cNvSpPr txBox="1"/>
          <p:nvPr/>
        </p:nvSpPr>
        <p:spPr>
          <a:xfrm>
            <a:off x="7256676" y="3840480"/>
            <a:ext cx="2059228" cy="1463040"/>
          </a:xfrm>
          <a:prstGeom prst="rect">
            <a:avLst/>
          </a:prstGeom>
          <a:noFill/>
        </p:spPr>
        <p:txBody>
          <a:bodyPr wrap="square" lIns="0" tIns="0" rIns="0" bIns="0">
            <a:spAutoFit/>
          </a:bodyPr>
          <a:lstStyle/>
          <a:p>
            <a:pPr algn="l">
              <a:lnSpc>
                <a:spcPct val="115000"/>
              </a:lnSpc>
              <a:spcBef>
                <a:spcPts val="0"/>
              </a:spcBef>
              <a:spcAft>
                <a:spcPts val="400"/>
              </a:spcAft>
            </a:pPr>
            <a:r>
              <a:rPr sz="1050" b="0" i="0">
                <a:solidFill>
                  <a:srgbClr val="637182"/>
                </a:solidFill>
                <a:latin typeface="Segoe UI"/>
              </a:rPr>
              <a:t>Admin staff collect and manually process large batches of paperwork.</a:t>
            </a:r>
          </a:p>
        </p:txBody>
      </p:sp>
      <p:sp>
        <p:nvSpPr>
          <p:cNvPr id="14" name="Pentagon 13"/>
          <p:cNvSpPr/>
          <p:nvPr/>
        </p:nvSpPr>
        <p:spPr>
          <a:xfrm>
            <a:off x="9462208" y="2286000"/>
            <a:ext cx="2059228" cy="1371600"/>
          </a:xfrm>
          <a:prstGeom prst="homePlate">
            <a:avLst>
              <a:gd name="adj" fmla="val 22000"/>
            </a:avLst>
          </a:prstGeom>
          <a:solidFill>
            <a:srgbClr val="1C335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219456" bIns="73152" rtlCol="0" anchor="ctr"/>
          <a:lstStyle/>
          <a:p>
            <a:pPr algn="ctr"/>
            <a:r>
              <a:rPr sz="1100" b="1" i="0">
                <a:solidFill>
                  <a:srgbClr val="CFDDEA"/>
                </a:solidFill>
                <a:latin typeface="Segoe UI"/>
              </a:rPr>
              <a:t>5</a:t>
            </a:r>
          </a:p>
          <a:p>
            <a:pPr algn="ctr">
              <a:spcBef>
                <a:spcPts val="200"/>
              </a:spcBef>
            </a:pPr>
            <a:r>
              <a:rPr sz="1250" b="1" i="0">
                <a:solidFill>
                  <a:srgbClr val="FFFFFF"/>
                </a:solidFill>
                <a:latin typeface="Segoe UI Semibold"/>
              </a:rPr>
              <a:t>Outcome via Social Media</a:t>
            </a:r>
          </a:p>
        </p:txBody>
      </p:sp>
      <p:sp>
        <p:nvSpPr>
          <p:cNvPr id="15" name="TextBox 14"/>
          <p:cNvSpPr txBox="1"/>
          <p:nvPr/>
        </p:nvSpPr>
        <p:spPr>
          <a:xfrm>
            <a:off x="9462208" y="3840480"/>
            <a:ext cx="2059228" cy="1463040"/>
          </a:xfrm>
          <a:prstGeom prst="rect">
            <a:avLst/>
          </a:prstGeom>
          <a:noFill/>
        </p:spPr>
        <p:txBody>
          <a:bodyPr wrap="square" lIns="0" tIns="0" rIns="0" bIns="0">
            <a:spAutoFit/>
          </a:bodyPr>
          <a:lstStyle/>
          <a:p>
            <a:pPr algn="l">
              <a:lnSpc>
                <a:spcPct val="115000"/>
              </a:lnSpc>
              <a:spcBef>
                <a:spcPts val="0"/>
              </a:spcBef>
              <a:spcAft>
                <a:spcPts val="400"/>
              </a:spcAft>
            </a:pPr>
            <a:r>
              <a:rPr sz="1050" b="0" i="0" dirty="0">
                <a:solidFill>
                  <a:srgbClr val="637182"/>
                </a:solidFill>
                <a:latin typeface="Segoe UI"/>
              </a:rPr>
              <a:t>Decisions and updates are communicated back through social media only.</a:t>
            </a:r>
          </a:p>
        </p:txBody>
      </p:sp>
      <p:sp>
        <p:nvSpPr>
          <p:cNvPr id="16" name="Rectangle 15"/>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18" name="TextBox 17"/>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System Architecture — Product Perspective</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PROPOSED SOLUTION</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22960" y="1828800"/>
            <a:ext cx="2834640" cy="1554480"/>
          </a:xfrm>
          <a:prstGeom prst="roundRect">
            <a:avLst>
              <a:gd name="adj" fmla="val 9000"/>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bIns="109728" rtlCol="0" anchor="t"/>
          <a:lstStyle/>
          <a:p>
            <a:pPr algn="ctr"/>
            <a:r>
              <a:rPr sz="1800" b="1" i="0" dirty="0">
                <a:solidFill>
                  <a:srgbClr val="FFFFFF"/>
                </a:solidFill>
                <a:latin typeface="Segoe UI Semibold"/>
              </a:rPr>
              <a:t>Flutter</a:t>
            </a:r>
          </a:p>
          <a:p>
            <a:pPr>
              <a:spcBef>
                <a:spcPts val="400"/>
              </a:spcBef>
            </a:pPr>
            <a:r>
              <a:rPr sz="1080" b="0" i="0" dirty="0">
                <a:solidFill>
                  <a:srgbClr val="D8E3EC"/>
                </a:solidFill>
                <a:latin typeface="Segoe UI"/>
              </a:rPr>
              <a:t>Mobile app (MVVM pattern)</a:t>
            </a:r>
          </a:p>
          <a:p>
            <a:pPr>
              <a:spcBef>
                <a:spcPts val="400"/>
              </a:spcBef>
            </a:pPr>
            <a:r>
              <a:rPr sz="1080" b="0" i="0" dirty="0">
                <a:solidFill>
                  <a:srgbClr val="D8E3EC"/>
                </a:solidFill>
                <a:latin typeface="Segoe UI"/>
              </a:rPr>
              <a:t>Parents &amp; Admins on</a:t>
            </a:r>
            <a:r>
              <a:rPr lang="en-GB" sz="1080" b="0" i="0" dirty="0">
                <a:solidFill>
                  <a:srgbClr val="D8E3EC"/>
                </a:solidFill>
                <a:latin typeface="Segoe UI"/>
              </a:rPr>
              <a:t> Mobile</a:t>
            </a:r>
            <a:endParaRPr sz="1080" b="0" i="0" dirty="0">
              <a:solidFill>
                <a:srgbClr val="D8E3EC"/>
              </a:solidFill>
              <a:latin typeface="Segoe UI"/>
            </a:endParaRPr>
          </a:p>
        </p:txBody>
      </p:sp>
      <p:sp>
        <p:nvSpPr>
          <p:cNvPr id="7" name="Rounded Rectangle 6"/>
          <p:cNvSpPr/>
          <p:nvPr/>
        </p:nvSpPr>
        <p:spPr>
          <a:xfrm>
            <a:off x="5074920" y="1828800"/>
            <a:ext cx="2834640" cy="1554480"/>
          </a:xfrm>
          <a:prstGeom prst="roundRect">
            <a:avLst>
              <a:gd name="adj" fmla="val 9000"/>
            </a:avLst>
          </a:prstGeom>
          <a:solidFill>
            <a:srgbClr val="1C335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bIns="109728" rtlCol="0" anchor="t"/>
          <a:lstStyle/>
          <a:p>
            <a:pPr algn="ctr"/>
            <a:r>
              <a:rPr sz="1800" b="1" i="0">
                <a:solidFill>
                  <a:srgbClr val="FFFFFF"/>
                </a:solidFill>
                <a:latin typeface="Segoe UI Semibold"/>
              </a:rPr>
              <a:t>Supabase</a:t>
            </a:r>
          </a:p>
          <a:p>
            <a:pPr>
              <a:spcBef>
                <a:spcPts val="400"/>
              </a:spcBef>
            </a:pPr>
            <a:r>
              <a:rPr sz="1080" b="0" i="0">
                <a:solidFill>
                  <a:srgbClr val="D8E3EC"/>
                </a:solidFill>
                <a:latin typeface="Segoe UI"/>
              </a:rPr>
              <a:t>Shared backend</a:t>
            </a:r>
          </a:p>
          <a:p>
            <a:pPr>
              <a:spcBef>
                <a:spcPts val="400"/>
              </a:spcBef>
            </a:pPr>
            <a:r>
              <a:rPr sz="1080" b="0" i="0">
                <a:solidFill>
                  <a:srgbClr val="D8E3EC"/>
                </a:solidFill>
                <a:latin typeface="Segoe UI"/>
              </a:rPr>
              <a:t>Data, auth, storage &amp; business logic</a:t>
            </a:r>
          </a:p>
        </p:txBody>
      </p:sp>
      <p:sp>
        <p:nvSpPr>
          <p:cNvPr id="8" name="Rounded Rectangle 7"/>
          <p:cNvSpPr/>
          <p:nvPr/>
        </p:nvSpPr>
        <p:spPr>
          <a:xfrm>
            <a:off x="9326880" y="1828800"/>
            <a:ext cx="2834640" cy="1554480"/>
          </a:xfrm>
          <a:prstGeom prst="roundRect">
            <a:avLst>
              <a:gd name="adj" fmla="val 9000"/>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bIns="109728" rtlCol="0" anchor="t"/>
          <a:lstStyle/>
          <a:p>
            <a:pPr algn="ctr"/>
            <a:r>
              <a:rPr sz="1800" b="1" i="0">
                <a:solidFill>
                  <a:srgbClr val="FFFFFF"/>
                </a:solidFill>
                <a:latin typeface="Segoe UI Semibold"/>
              </a:rPr>
              <a:t>ASP.NET</a:t>
            </a:r>
          </a:p>
          <a:p>
            <a:pPr>
              <a:spcBef>
                <a:spcPts val="400"/>
              </a:spcBef>
            </a:pPr>
            <a:r>
              <a:rPr sz="1080" b="0" i="0">
                <a:solidFill>
                  <a:srgbClr val="D8E3EC"/>
                </a:solidFill>
                <a:latin typeface="Segoe UI"/>
              </a:rPr>
              <a:t>Web app (MVC pattern)</a:t>
            </a:r>
          </a:p>
          <a:p>
            <a:pPr>
              <a:spcBef>
                <a:spcPts val="400"/>
              </a:spcBef>
            </a:pPr>
            <a:r>
              <a:rPr sz="1080" b="0" i="0">
                <a:solidFill>
                  <a:srgbClr val="D8E3EC"/>
                </a:solidFill>
                <a:latin typeface="Segoe UI"/>
              </a:rPr>
              <a:t>Parents &amp; Admins on any browser</a:t>
            </a:r>
          </a:p>
        </p:txBody>
      </p:sp>
      <p:cxnSp>
        <p:nvCxnSpPr>
          <p:cNvPr id="9" name="Connector 8"/>
          <p:cNvCxnSpPr/>
          <p:nvPr/>
        </p:nvCxnSpPr>
        <p:spPr>
          <a:xfrm>
            <a:off x="3657600" y="2606040"/>
            <a:ext cx="1417320" cy="0"/>
          </a:xfrm>
          <a:prstGeom prst="line">
            <a:avLst/>
          </a:prstGeom>
          <a:ln w="28575">
            <a:solidFill>
              <a:srgbClr val="2FA4A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909560" y="2606040"/>
            <a:ext cx="1417320" cy="0"/>
          </a:xfrm>
          <a:prstGeom prst="line">
            <a:avLst/>
          </a:prstGeom>
          <a:ln w="28575">
            <a:solidFill>
              <a:srgbClr val="2FA4A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0" y="2103120"/>
            <a:ext cx="1417320" cy="457200"/>
          </a:xfrm>
          <a:prstGeom prst="rect">
            <a:avLst/>
          </a:prstGeom>
          <a:noFill/>
        </p:spPr>
        <p:txBody>
          <a:bodyPr wrap="square" lIns="0" tIns="0" rIns="0" bIns="0" anchor="b">
            <a:spAutoFit/>
          </a:bodyPr>
          <a:lstStyle/>
          <a:p>
            <a:pPr algn="ctr">
              <a:lnSpc>
                <a:spcPct val="105000"/>
              </a:lnSpc>
              <a:spcBef>
                <a:spcPts val="0"/>
              </a:spcBef>
              <a:spcAft>
                <a:spcPts val="400"/>
              </a:spcAft>
            </a:pPr>
            <a:r>
              <a:rPr sz="950" b="0" i="0">
                <a:solidFill>
                  <a:srgbClr val="637182"/>
                </a:solidFill>
                <a:latin typeface="Segoe UI"/>
              </a:rPr>
              <a:t>Supabase Auth
+ REST API</a:t>
            </a:r>
          </a:p>
        </p:txBody>
      </p:sp>
      <p:sp>
        <p:nvSpPr>
          <p:cNvPr id="12" name="TextBox 11"/>
          <p:cNvSpPr txBox="1"/>
          <p:nvPr/>
        </p:nvSpPr>
        <p:spPr>
          <a:xfrm>
            <a:off x="7909560" y="2103120"/>
            <a:ext cx="1417320" cy="457200"/>
          </a:xfrm>
          <a:prstGeom prst="rect">
            <a:avLst/>
          </a:prstGeom>
          <a:noFill/>
        </p:spPr>
        <p:txBody>
          <a:bodyPr wrap="square" lIns="0" tIns="0" rIns="0" bIns="0" anchor="b">
            <a:spAutoFit/>
          </a:bodyPr>
          <a:lstStyle/>
          <a:p>
            <a:pPr algn="ctr">
              <a:lnSpc>
                <a:spcPct val="105000"/>
              </a:lnSpc>
              <a:spcBef>
                <a:spcPts val="0"/>
              </a:spcBef>
              <a:spcAft>
                <a:spcPts val="400"/>
              </a:spcAft>
            </a:pPr>
            <a:r>
              <a:rPr sz="950" b="0" i="0">
                <a:solidFill>
                  <a:srgbClr val="637182"/>
                </a:solidFill>
                <a:latin typeface="Segoe UI"/>
              </a:rPr>
              <a:t>Supabase Auth
+ REST API</a:t>
            </a:r>
          </a:p>
        </p:txBody>
      </p:sp>
      <p:sp>
        <p:nvSpPr>
          <p:cNvPr id="13" name="Rounded Rectangle 12"/>
          <p:cNvSpPr/>
          <p:nvPr/>
        </p:nvSpPr>
        <p:spPr>
          <a:xfrm>
            <a:off x="822960" y="3794760"/>
            <a:ext cx="10515600" cy="960120"/>
          </a:xfrm>
          <a:prstGeom prst="roundRect">
            <a:avLst>
              <a:gd name="adj" fmla="val 8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950208"/>
            <a:ext cx="10058400" cy="436017"/>
          </a:xfrm>
          <a:prstGeom prst="rect">
            <a:avLst/>
          </a:prstGeom>
          <a:noFill/>
        </p:spPr>
        <p:txBody>
          <a:bodyPr wrap="square" lIns="0" tIns="0" rIns="0" bIns="0">
            <a:spAutoFit/>
          </a:bodyPr>
          <a:lstStyle/>
          <a:p>
            <a:pPr algn="l">
              <a:spcBef>
                <a:spcPts val="0"/>
              </a:spcBef>
              <a:spcAft>
                <a:spcPts val="400"/>
              </a:spcAft>
            </a:pPr>
            <a:r>
              <a:rPr sz="1300" b="1" i="0" dirty="0">
                <a:solidFill>
                  <a:srgbClr val="202A3A"/>
                </a:solidFill>
                <a:latin typeface="Segoe UI"/>
              </a:rPr>
              <a:t>Key rule: Flutter and ASP.NET never talk to each other directly</a:t>
            </a:r>
            <a:r>
              <a:rPr lang="en-GB" sz="1300" b="1" i="0" dirty="0">
                <a:solidFill>
                  <a:srgbClr val="202A3A"/>
                </a:solidFill>
                <a:latin typeface="Segoe UI"/>
              </a:rPr>
              <a:t>, </a:t>
            </a:r>
            <a:r>
              <a:rPr sz="1300" b="1" i="0" dirty="0">
                <a:solidFill>
                  <a:srgbClr val="202A3A"/>
                </a:solidFill>
                <a:latin typeface="Segoe UI"/>
              </a:rPr>
              <a:t>both go through </a:t>
            </a:r>
            <a:r>
              <a:rPr sz="1300" b="1" i="0" dirty="0" err="1">
                <a:solidFill>
                  <a:srgbClr val="202A3A"/>
                </a:solidFill>
                <a:latin typeface="Segoe UI"/>
              </a:rPr>
              <a:t>Supabase</a:t>
            </a:r>
            <a:r>
              <a:rPr sz="1300" b="1" i="0" dirty="0">
                <a:solidFill>
                  <a:srgbClr val="202A3A"/>
                </a:solidFill>
                <a:latin typeface="Segoe UI"/>
              </a:rPr>
              <a:t>.</a:t>
            </a:r>
          </a:p>
          <a:p>
            <a:pPr algn="l">
              <a:spcBef>
                <a:spcPts val="0"/>
              </a:spcBef>
              <a:spcAft>
                <a:spcPts val="400"/>
              </a:spcAft>
            </a:pPr>
            <a:r>
              <a:rPr sz="1200" b="0" i="0" dirty="0">
                <a:solidFill>
                  <a:srgbClr val="637182"/>
                </a:solidFill>
                <a:latin typeface="Segoe UI"/>
              </a:rPr>
              <a:t>One account works everywhere: a parent who applies on mobile sees the same data instantly on web, and vice-versa.</a:t>
            </a:r>
          </a:p>
        </p:txBody>
      </p:sp>
      <p:sp>
        <p:nvSpPr>
          <p:cNvPr id="15" name="TextBox 14"/>
          <p:cNvSpPr txBox="1"/>
          <p:nvPr/>
        </p:nvSpPr>
        <p:spPr>
          <a:xfrm>
            <a:off x="822960" y="4983480"/>
            <a:ext cx="10515600" cy="1371600"/>
          </a:xfrm>
          <a:prstGeom prst="rect">
            <a:avLst/>
          </a:prstGeom>
          <a:noFill/>
        </p:spPr>
        <p:txBody>
          <a:bodyPr wrap="square" lIns="0" tIns="0" rIns="0" bIns="0">
            <a:spAutoFit/>
          </a:bodyPr>
          <a:lstStyle/>
          <a:p>
            <a:pPr algn="l">
              <a:spcBef>
                <a:spcPts val="0"/>
              </a:spcBef>
              <a:spcAft>
                <a:spcPts val="600"/>
              </a:spcAft>
            </a:pPr>
            <a:r>
              <a:rPr sz="1250" b="1" i="0">
                <a:solidFill>
                  <a:srgbClr val="202A3A"/>
                </a:solidFill>
                <a:latin typeface="Segoe UI Semibold"/>
              </a:rPr>
              <a:t>How a decision flows:</a:t>
            </a:r>
          </a:p>
          <a:p>
            <a:pPr algn="l">
              <a:lnSpc>
                <a:spcPct val="125000"/>
              </a:lnSpc>
              <a:spcBef>
                <a:spcPts val="0"/>
              </a:spcBef>
              <a:spcAft>
                <a:spcPts val="400"/>
              </a:spcAft>
            </a:pPr>
            <a:r>
              <a:rPr sz="1200" b="0" i="0">
                <a:solidFill>
                  <a:srgbClr val="637182"/>
                </a:solidFill>
                <a:latin typeface="Segoe UI"/>
              </a:rPr>
              <a:t>Parent creates account &amp; submits application  →  Admin logs in on web, reviews it  →  Admin accepts / flags it under review, optionally leaving a comment  →  Parent instantly sees the updated status and comment on their side.</a:t>
            </a:r>
          </a:p>
        </p:txBody>
      </p:sp>
      <p:sp>
        <p:nvSpPr>
          <p:cNvPr id="16" name="Rectangle 15"/>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18" name="TextBox 17"/>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03</a:t>
            </a:r>
          </a:p>
        </p:txBody>
      </p:sp>
      <p:sp>
        <p:nvSpPr>
          <p:cNvPr id="5" name="TextBox 4"/>
          <p:cNvSpPr txBox="1"/>
          <p:nvPr/>
        </p:nvSpPr>
        <p:spPr>
          <a:xfrm>
            <a:off x="640080" y="3063240"/>
            <a:ext cx="10607040" cy="1463040"/>
          </a:xfrm>
          <a:prstGeom prst="rect">
            <a:avLst/>
          </a:prstGeom>
          <a:noFill/>
        </p:spPr>
        <p:txBody>
          <a:bodyPr wrap="square" lIns="0" tIns="0" rIns="0" bIns="0">
            <a:spAutoFit/>
          </a:bodyPr>
          <a:lstStyle/>
          <a:p>
            <a:pPr algn="l">
              <a:spcBef>
                <a:spcPts val="0"/>
              </a:spcBef>
              <a:spcAft>
                <a:spcPts val="400"/>
              </a:spcAft>
            </a:pPr>
            <a:r>
              <a:rPr sz="3800" b="1" i="0">
                <a:solidFill>
                  <a:srgbClr val="FFFFFF"/>
                </a:solidFill>
                <a:latin typeface="Segoe UI Semibold"/>
              </a:rPr>
              <a:t>Requirements</a:t>
            </a:r>
          </a:p>
        </p:txBody>
      </p:sp>
      <p:sp>
        <p:nvSpPr>
          <p:cNvPr id="6" name="TextBox 5"/>
          <p:cNvSpPr txBox="1"/>
          <p:nvPr/>
        </p:nvSpPr>
        <p:spPr>
          <a:xfrm>
            <a:off x="640080" y="3977639"/>
            <a:ext cx="9601200" cy="914400"/>
          </a:xfrm>
          <a:prstGeom prst="rect">
            <a:avLst/>
          </a:prstGeom>
          <a:noFill/>
        </p:spPr>
        <p:txBody>
          <a:bodyPr wrap="square" lIns="0" tIns="0" rIns="0" bIns="0">
            <a:spAutoFit/>
          </a:bodyPr>
          <a:lstStyle/>
          <a:p>
            <a:pPr algn="l">
              <a:lnSpc>
                <a:spcPct val="130000"/>
              </a:lnSpc>
              <a:spcBef>
                <a:spcPts val="0"/>
              </a:spcBef>
              <a:spcAft>
                <a:spcPts val="400"/>
              </a:spcAft>
            </a:pPr>
            <a:r>
              <a:rPr sz="1600" b="0" i="0">
                <a:solidFill>
                  <a:srgbClr val="B9C8DA"/>
                </a:solidFill>
                <a:latin typeface="Segoe UI"/>
              </a:rPr>
              <a:t>What the system must do (functional), how it must behave (non-functional), and how its parts must connect.</a:t>
            </a: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Functional Requirements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MUST / SHOULD HAVE</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508760"/>
          <a:ext cx="10881360" cy="452628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02920">
                <a:tc>
                  <a:txBody>
                    <a:bodyPr/>
                    <a:lstStyle/>
                    <a:p>
                      <a:pPr algn="ctr"/>
                      <a:r>
                        <a:rPr sz="1200" b="1" i="0">
                          <a:solidFill>
                            <a:srgbClr val="FFFFFF"/>
                          </a:solidFill>
                          <a:latin typeface="Segoe UI Semibold"/>
                        </a:rPr>
                        <a:t>ID</a:t>
                      </a:r>
                    </a:p>
                  </a:txBody>
                  <a:tcPr marL="73152" marR="73152" marT="36576" marB="36576" anchor="ctr">
                    <a:solidFill>
                      <a:srgbClr val="12233F"/>
                    </a:solidFill>
                  </a:tcPr>
                </a:tc>
                <a:tc>
                  <a:txBody>
                    <a:bodyPr/>
                    <a:lstStyle/>
                    <a:p>
                      <a:pPr algn="l"/>
                      <a:r>
                        <a:rPr sz="1200" b="1" i="0">
                          <a:solidFill>
                            <a:srgbClr val="FFFFFF"/>
                          </a:solidFill>
                          <a:latin typeface="Segoe UI Semibold"/>
                        </a:rPr>
                        <a:t>Requirement</a:t>
                      </a:r>
                    </a:p>
                  </a:txBody>
                  <a:tcPr marL="73152" marR="73152" marT="36576" marB="36576" anchor="ctr">
                    <a:solidFill>
                      <a:srgbClr val="12233F"/>
                    </a:solidFill>
                  </a:tcPr>
                </a:tc>
                <a:tc>
                  <a:txBody>
                    <a:bodyPr/>
                    <a:lstStyle/>
                    <a:p>
                      <a:pPr algn="ctr"/>
                      <a:r>
                        <a:rPr sz="1200" b="1" i="0">
                          <a:solidFill>
                            <a:srgbClr val="FFFFFF"/>
                          </a:solidFill>
                          <a:latin typeface="Segoe UI Semibold"/>
                        </a:rPr>
                        <a:t>Priority</a:t>
                      </a:r>
                    </a:p>
                  </a:txBody>
                  <a:tcPr marL="73152" marR="73152" marT="36576" marB="36576" anchor="ctr">
                    <a:solidFill>
                      <a:srgbClr val="12233F"/>
                    </a:solidFill>
                  </a:tcPr>
                </a:tc>
                <a:extLst>
                  <a:ext uri="{0D108BD9-81ED-4DB2-BD59-A6C34878D82A}">
                    <a16:rowId xmlns:a16="http://schemas.microsoft.com/office/drawing/2014/main" val="10000"/>
                  </a:ext>
                </a:extLst>
              </a:tr>
              <a:tr h="502920">
                <a:tc>
                  <a:txBody>
                    <a:bodyPr/>
                    <a:lstStyle/>
                    <a:p>
                      <a:pPr algn="ctr"/>
                      <a:r>
                        <a:rPr sz="1150" b="0" i="0">
                          <a:solidFill>
                            <a:srgbClr val="202A3A"/>
                          </a:solidFill>
                          <a:latin typeface="Segoe UI"/>
                        </a:rPr>
                        <a:t>FR1</a:t>
                      </a:r>
                    </a:p>
                  </a:txBody>
                  <a:tcPr marL="73152" marR="73152" marT="36576" marB="36576" anchor="ctr">
                    <a:solidFill>
                      <a:srgbClr val="FFFFFF"/>
                    </a:solidFill>
                  </a:tcPr>
                </a:tc>
                <a:tc>
                  <a:txBody>
                    <a:bodyPr/>
                    <a:lstStyle/>
                    <a:p>
                      <a:pPr algn="l"/>
                      <a:r>
                        <a:rPr sz="1150" b="0" i="0">
                          <a:solidFill>
                            <a:srgbClr val="202A3A"/>
                          </a:solidFill>
                          <a:latin typeface="Segoe UI"/>
                        </a:rPr>
                        <a:t>Parents must be able to create accounts</a:t>
                      </a:r>
                    </a:p>
                  </a:txBody>
                  <a:tcPr marL="73152" marR="73152" marT="36576" marB="36576" anchor="ctr">
                    <a:solidFill>
                      <a:srgbClr val="FFFFFF"/>
                    </a:solidFill>
                  </a:tcPr>
                </a:tc>
                <a:tc>
                  <a:txBody>
                    <a:bodyPr/>
                    <a:lstStyle/>
                    <a:p>
                      <a:pPr algn="ctr"/>
                      <a:r>
                        <a:rPr sz="1150" b="0" i="0">
                          <a:solidFill>
                            <a:srgbClr val="202A3A"/>
                          </a:solidFill>
                          <a:latin typeface="Segoe UI"/>
                        </a:rPr>
                        <a:t>Must Have</a:t>
                      </a:r>
                    </a:p>
                  </a:txBody>
                  <a:tcPr marL="73152" marR="73152" marT="36576" marB="36576" anchor="ctr">
                    <a:solidFill>
                      <a:srgbClr val="FFFFFF"/>
                    </a:solidFill>
                  </a:tcPr>
                </a:tc>
                <a:extLst>
                  <a:ext uri="{0D108BD9-81ED-4DB2-BD59-A6C34878D82A}">
                    <a16:rowId xmlns:a16="http://schemas.microsoft.com/office/drawing/2014/main" val="10001"/>
                  </a:ext>
                </a:extLst>
              </a:tr>
              <a:tr h="502920">
                <a:tc>
                  <a:txBody>
                    <a:bodyPr/>
                    <a:lstStyle/>
                    <a:p>
                      <a:pPr algn="ctr"/>
                      <a:r>
                        <a:rPr sz="1150" b="0" i="0">
                          <a:solidFill>
                            <a:srgbClr val="202A3A"/>
                          </a:solidFill>
                          <a:latin typeface="Segoe UI"/>
                        </a:rPr>
                        <a:t>FR2</a:t>
                      </a:r>
                    </a:p>
                  </a:txBody>
                  <a:tcPr marL="73152" marR="73152" marT="36576" marB="36576" anchor="ctr">
                    <a:solidFill>
                      <a:srgbClr val="F6F8FB"/>
                    </a:solidFill>
                  </a:tcPr>
                </a:tc>
                <a:tc>
                  <a:txBody>
                    <a:bodyPr/>
                    <a:lstStyle/>
                    <a:p>
                      <a:pPr algn="l"/>
                      <a:r>
                        <a:rPr sz="1150" b="0" i="0">
                          <a:solidFill>
                            <a:srgbClr val="202A3A"/>
                          </a:solidFill>
                          <a:latin typeface="Segoe UI"/>
                        </a:rPr>
                        <a:t>Parents must be able to create applications for their children</a:t>
                      </a:r>
                    </a:p>
                  </a:txBody>
                  <a:tcPr marL="73152" marR="73152" marT="36576" marB="36576" anchor="ctr">
                    <a:solidFill>
                      <a:srgbClr val="F6F8FB"/>
                    </a:solidFill>
                  </a:tcPr>
                </a:tc>
                <a:tc>
                  <a:txBody>
                    <a:bodyPr/>
                    <a:lstStyle/>
                    <a:p>
                      <a:pPr algn="ctr"/>
                      <a:r>
                        <a:rPr sz="1150" b="0" i="0">
                          <a:solidFill>
                            <a:srgbClr val="202A3A"/>
                          </a:solidFill>
                          <a:latin typeface="Segoe UI"/>
                        </a:rPr>
                        <a:t>Must Have</a:t>
                      </a:r>
                    </a:p>
                  </a:txBody>
                  <a:tcPr marL="73152" marR="73152" marT="36576" marB="36576" anchor="ctr">
                    <a:solidFill>
                      <a:srgbClr val="F6F8FB"/>
                    </a:solidFill>
                  </a:tcPr>
                </a:tc>
                <a:extLst>
                  <a:ext uri="{0D108BD9-81ED-4DB2-BD59-A6C34878D82A}">
                    <a16:rowId xmlns:a16="http://schemas.microsoft.com/office/drawing/2014/main" val="10002"/>
                  </a:ext>
                </a:extLst>
              </a:tr>
              <a:tr h="502920">
                <a:tc>
                  <a:txBody>
                    <a:bodyPr/>
                    <a:lstStyle/>
                    <a:p>
                      <a:pPr algn="ctr"/>
                      <a:r>
                        <a:rPr sz="1150" b="0" i="0">
                          <a:solidFill>
                            <a:srgbClr val="202A3A"/>
                          </a:solidFill>
                          <a:latin typeface="Segoe UI"/>
                        </a:rPr>
                        <a:t>FR3</a:t>
                      </a:r>
                    </a:p>
                  </a:txBody>
                  <a:tcPr marL="73152" marR="73152" marT="36576" marB="36576" anchor="ctr">
                    <a:solidFill>
                      <a:srgbClr val="FFFFFF"/>
                    </a:solidFill>
                  </a:tcPr>
                </a:tc>
                <a:tc>
                  <a:txBody>
                    <a:bodyPr/>
                    <a:lstStyle/>
                    <a:p>
                      <a:pPr algn="l"/>
                      <a:r>
                        <a:rPr sz="1150" b="0" i="0">
                          <a:solidFill>
                            <a:srgbClr val="202A3A"/>
                          </a:solidFill>
                          <a:latin typeface="Segoe UI"/>
                        </a:rPr>
                        <a:t>Parents can view the application status</a:t>
                      </a:r>
                    </a:p>
                  </a:txBody>
                  <a:tcPr marL="73152" marR="73152" marT="36576" marB="36576" anchor="ctr">
                    <a:solidFill>
                      <a:srgbClr val="FFFFFF"/>
                    </a:solidFill>
                  </a:tcPr>
                </a:tc>
                <a:tc>
                  <a:txBody>
                    <a:bodyPr/>
                    <a:lstStyle/>
                    <a:p>
                      <a:pPr algn="ctr"/>
                      <a:r>
                        <a:rPr sz="1150" b="0" i="0">
                          <a:solidFill>
                            <a:srgbClr val="202A3A"/>
                          </a:solidFill>
                          <a:latin typeface="Segoe UI"/>
                        </a:rPr>
                        <a:t>Must Have</a:t>
                      </a:r>
                    </a:p>
                  </a:txBody>
                  <a:tcPr marL="73152" marR="73152" marT="36576" marB="36576" anchor="ctr">
                    <a:solidFill>
                      <a:srgbClr val="FFFFFF"/>
                    </a:solidFill>
                  </a:tcPr>
                </a:tc>
                <a:extLst>
                  <a:ext uri="{0D108BD9-81ED-4DB2-BD59-A6C34878D82A}">
                    <a16:rowId xmlns:a16="http://schemas.microsoft.com/office/drawing/2014/main" val="10003"/>
                  </a:ext>
                </a:extLst>
              </a:tr>
              <a:tr h="502920">
                <a:tc>
                  <a:txBody>
                    <a:bodyPr/>
                    <a:lstStyle/>
                    <a:p>
                      <a:pPr algn="ctr"/>
                      <a:r>
                        <a:rPr sz="1150" b="0" i="0">
                          <a:solidFill>
                            <a:srgbClr val="202A3A"/>
                          </a:solidFill>
                          <a:latin typeface="Segoe UI"/>
                        </a:rPr>
                        <a:t>FR4</a:t>
                      </a:r>
                    </a:p>
                  </a:txBody>
                  <a:tcPr marL="73152" marR="73152" marT="36576" marB="36576" anchor="ctr">
                    <a:solidFill>
                      <a:srgbClr val="F6F8FB"/>
                    </a:solidFill>
                  </a:tcPr>
                </a:tc>
                <a:tc>
                  <a:txBody>
                    <a:bodyPr/>
                    <a:lstStyle/>
                    <a:p>
                      <a:pPr algn="l"/>
                      <a:r>
                        <a:rPr sz="1150" b="0" i="0">
                          <a:solidFill>
                            <a:srgbClr val="202A3A"/>
                          </a:solidFill>
                          <a:latin typeface="Segoe UI"/>
                        </a:rPr>
                        <a:t>Only Admin staff can accept and reject applications</a:t>
                      </a:r>
                    </a:p>
                  </a:txBody>
                  <a:tcPr marL="73152" marR="73152" marT="36576" marB="36576" anchor="ctr">
                    <a:solidFill>
                      <a:srgbClr val="F6F8FB"/>
                    </a:solidFill>
                  </a:tcPr>
                </a:tc>
                <a:tc>
                  <a:txBody>
                    <a:bodyPr/>
                    <a:lstStyle/>
                    <a:p>
                      <a:pPr algn="ctr"/>
                      <a:r>
                        <a:rPr sz="1150" b="0" i="0">
                          <a:solidFill>
                            <a:srgbClr val="202A3A"/>
                          </a:solidFill>
                          <a:latin typeface="Segoe UI"/>
                        </a:rPr>
                        <a:t>Must Have</a:t>
                      </a:r>
                    </a:p>
                  </a:txBody>
                  <a:tcPr marL="73152" marR="73152" marT="36576" marB="36576" anchor="ctr">
                    <a:solidFill>
                      <a:srgbClr val="F6F8FB"/>
                    </a:solidFill>
                  </a:tcPr>
                </a:tc>
                <a:extLst>
                  <a:ext uri="{0D108BD9-81ED-4DB2-BD59-A6C34878D82A}">
                    <a16:rowId xmlns:a16="http://schemas.microsoft.com/office/drawing/2014/main" val="10004"/>
                  </a:ext>
                </a:extLst>
              </a:tr>
              <a:tr h="502920">
                <a:tc>
                  <a:txBody>
                    <a:bodyPr/>
                    <a:lstStyle/>
                    <a:p>
                      <a:pPr algn="ctr"/>
                      <a:r>
                        <a:rPr sz="1150" b="0" i="0">
                          <a:solidFill>
                            <a:srgbClr val="202A3A"/>
                          </a:solidFill>
                          <a:latin typeface="Segoe UI"/>
                        </a:rPr>
                        <a:t>FR5</a:t>
                      </a:r>
                    </a:p>
                  </a:txBody>
                  <a:tcPr marL="73152" marR="73152" marT="36576" marB="36576" anchor="ctr">
                    <a:solidFill>
                      <a:srgbClr val="FFFFFF"/>
                    </a:solidFill>
                  </a:tcPr>
                </a:tc>
                <a:tc>
                  <a:txBody>
                    <a:bodyPr/>
                    <a:lstStyle/>
                    <a:p>
                      <a:pPr algn="l"/>
                      <a:r>
                        <a:rPr sz="1150" b="0" i="0">
                          <a:solidFill>
                            <a:srgbClr val="202A3A"/>
                          </a:solidFill>
                          <a:latin typeface="Segoe UI"/>
                        </a:rPr>
                        <a:t>Parents can view school updates</a:t>
                      </a:r>
                    </a:p>
                  </a:txBody>
                  <a:tcPr marL="73152" marR="73152" marT="36576" marB="36576" anchor="ctr">
                    <a:solidFill>
                      <a:srgbClr val="FFFFFF"/>
                    </a:solidFill>
                  </a:tcPr>
                </a:tc>
                <a:tc>
                  <a:txBody>
                    <a:bodyPr/>
                    <a:lstStyle/>
                    <a:p>
                      <a:pPr algn="ctr"/>
                      <a:r>
                        <a:rPr sz="1150" b="0" i="0">
                          <a:solidFill>
                            <a:srgbClr val="202A3A"/>
                          </a:solidFill>
                          <a:latin typeface="Segoe UI"/>
                        </a:rPr>
                        <a:t>Must Have</a:t>
                      </a:r>
                    </a:p>
                  </a:txBody>
                  <a:tcPr marL="73152" marR="73152" marT="36576" marB="36576" anchor="ctr">
                    <a:solidFill>
                      <a:srgbClr val="FFFFFF"/>
                    </a:solidFill>
                  </a:tcPr>
                </a:tc>
                <a:extLst>
                  <a:ext uri="{0D108BD9-81ED-4DB2-BD59-A6C34878D82A}">
                    <a16:rowId xmlns:a16="http://schemas.microsoft.com/office/drawing/2014/main" val="10005"/>
                  </a:ext>
                </a:extLst>
              </a:tr>
              <a:tr h="502920">
                <a:tc>
                  <a:txBody>
                    <a:bodyPr/>
                    <a:lstStyle/>
                    <a:p>
                      <a:pPr algn="ctr"/>
                      <a:r>
                        <a:rPr sz="1150" b="0" i="0">
                          <a:solidFill>
                            <a:srgbClr val="202A3A"/>
                          </a:solidFill>
                          <a:latin typeface="Segoe UI"/>
                        </a:rPr>
                        <a:t>FR6</a:t>
                      </a:r>
                    </a:p>
                  </a:txBody>
                  <a:tcPr marL="73152" marR="73152" marT="36576" marB="36576" anchor="ctr">
                    <a:solidFill>
                      <a:srgbClr val="F6F8FB"/>
                    </a:solidFill>
                  </a:tcPr>
                </a:tc>
                <a:tc>
                  <a:txBody>
                    <a:bodyPr/>
                    <a:lstStyle/>
                    <a:p>
                      <a:pPr algn="l"/>
                      <a:r>
                        <a:rPr sz="1150" b="0" i="0">
                          <a:solidFill>
                            <a:srgbClr val="202A3A"/>
                          </a:solidFill>
                          <a:latin typeface="Segoe UI"/>
                        </a:rPr>
                        <a:t>Parents can view school achievements</a:t>
                      </a:r>
                    </a:p>
                  </a:txBody>
                  <a:tcPr marL="73152" marR="73152" marT="36576" marB="36576" anchor="ctr">
                    <a:solidFill>
                      <a:srgbClr val="F6F8FB"/>
                    </a:solidFill>
                  </a:tcPr>
                </a:tc>
                <a:tc>
                  <a:txBody>
                    <a:bodyPr/>
                    <a:lstStyle/>
                    <a:p>
                      <a:pPr algn="ctr"/>
                      <a:r>
                        <a:rPr sz="1150" b="0" i="0">
                          <a:solidFill>
                            <a:srgbClr val="202A3A"/>
                          </a:solidFill>
                          <a:latin typeface="Segoe UI"/>
                        </a:rPr>
                        <a:t>Must Have</a:t>
                      </a:r>
                    </a:p>
                  </a:txBody>
                  <a:tcPr marL="73152" marR="73152" marT="36576" marB="36576" anchor="ctr">
                    <a:solidFill>
                      <a:srgbClr val="F6F8FB"/>
                    </a:solidFill>
                  </a:tcPr>
                </a:tc>
                <a:extLst>
                  <a:ext uri="{0D108BD9-81ED-4DB2-BD59-A6C34878D82A}">
                    <a16:rowId xmlns:a16="http://schemas.microsoft.com/office/drawing/2014/main" val="10006"/>
                  </a:ext>
                </a:extLst>
              </a:tr>
              <a:tr h="502920">
                <a:tc>
                  <a:txBody>
                    <a:bodyPr/>
                    <a:lstStyle/>
                    <a:p>
                      <a:pPr algn="ctr"/>
                      <a:r>
                        <a:rPr sz="1150" b="0" i="0">
                          <a:solidFill>
                            <a:srgbClr val="202A3A"/>
                          </a:solidFill>
                          <a:latin typeface="Segoe UI"/>
                        </a:rPr>
                        <a:t>FR7</a:t>
                      </a:r>
                    </a:p>
                  </a:txBody>
                  <a:tcPr marL="73152" marR="73152" marT="36576" marB="36576" anchor="ctr">
                    <a:solidFill>
                      <a:srgbClr val="FFFFFF"/>
                    </a:solidFill>
                  </a:tcPr>
                </a:tc>
                <a:tc>
                  <a:txBody>
                    <a:bodyPr/>
                    <a:lstStyle/>
                    <a:p>
                      <a:pPr algn="l"/>
                      <a:r>
                        <a:rPr sz="1150" b="0" i="0">
                          <a:solidFill>
                            <a:srgbClr val="202A3A"/>
                          </a:solidFill>
                          <a:latin typeface="Segoe UI"/>
                        </a:rPr>
                        <a:t>The system must differentiate between users and admins</a:t>
                      </a:r>
                    </a:p>
                  </a:txBody>
                  <a:tcPr marL="73152" marR="73152" marT="36576" marB="36576" anchor="ctr">
                    <a:solidFill>
                      <a:srgbClr val="FFFFFF"/>
                    </a:solidFill>
                  </a:tcPr>
                </a:tc>
                <a:tc>
                  <a:txBody>
                    <a:bodyPr/>
                    <a:lstStyle/>
                    <a:p>
                      <a:pPr algn="ctr"/>
                      <a:r>
                        <a:rPr sz="1150" b="0" i="0">
                          <a:solidFill>
                            <a:srgbClr val="202A3A"/>
                          </a:solidFill>
                          <a:latin typeface="Segoe UI"/>
                        </a:rPr>
                        <a:t>Must Have</a:t>
                      </a:r>
                    </a:p>
                  </a:txBody>
                  <a:tcPr marL="73152" marR="73152" marT="36576" marB="36576" anchor="ctr">
                    <a:solidFill>
                      <a:srgbClr val="FFFFFF"/>
                    </a:solidFill>
                  </a:tcPr>
                </a:tc>
                <a:extLst>
                  <a:ext uri="{0D108BD9-81ED-4DB2-BD59-A6C34878D82A}">
                    <a16:rowId xmlns:a16="http://schemas.microsoft.com/office/drawing/2014/main" val="10007"/>
                  </a:ext>
                </a:extLst>
              </a:tr>
              <a:tr h="502920">
                <a:tc>
                  <a:txBody>
                    <a:bodyPr/>
                    <a:lstStyle/>
                    <a:p>
                      <a:pPr algn="ctr"/>
                      <a:r>
                        <a:rPr sz="1150" b="0" i="0">
                          <a:solidFill>
                            <a:srgbClr val="202A3A"/>
                          </a:solidFill>
                          <a:latin typeface="Segoe UI"/>
                        </a:rPr>
                        <a:t>FR8</a:t>
                      </a:r>
                    </a:p>
                  </a:txBody>
                  <a:tcPr marL="73152" marR="73152" marT="36576" marB="36576" anchor="ctr">
                    <a:solidFill>
                      <a:srgbClr val="F6F8FB"/>
                    </a:solidFill>
                  </a:tcPr>
                </a:tc>
                <a:tc>
                  <a:txBody>
                    <a:bodyPr/>
                    <a:lstStyle/>
                    <a:p>
                      <a:pPr algn="l"/>
                      <a:r>
                        <a:rPr sz="1150" b="0" i="0">
                          <a:solidFill>
                            <a:srgbClr val="202A3A"/>
                          </a:solidFill>
                          <a:latin typeface="Segoe UI"/>
                        </a:rPr>
                        <a:t>Admin staff can publish school updates to parents</a:t>
                      </a:r>
                    </a:p>
                  </a:txBody>
                  <a:tcPr marL="73152" marR="73152" marT="36576" marB="36576" anchor="ctr">
                    <a:solidFill>
                      <a:srgbClr val="F6F8FB"/>
                    </a:solidFill>
                  </a:tcPr>
                </a:tc>
                <a:tc>
                  <a:txBody>
                    <a:bodyPr/>
                    <a:lstStyle/>
                    <a:p>
                      <a:pPr algn="ctr"/>
                      <a:r>
                        <a:rPr sz="1150" b="0" i="0">
                          <a:solidFill>
                            <a:srgbClr val="202A3A"/>
                          </a:solidFill>
                          <a:latin typeface="Segoe UI"/>
                        </a:rPr>
                        <a:t>Must Have</a:t>
                      </a:r>
                    </a:p>
                  </a:txBody>
                  <a:tcPr marL="73152" marR="73152" marT="36576" marB="36576" anchor="ctr">
                    <a:solidFill>
                      <a:srgbClr val="F6F8FB"/>
                    </a:solidFill>
                  </a:tcPr>
                </a:tc>
                <a:extLst>
                  <a:ext uri="{0D108BD9-81ED-4DB2-BD59-A6C34878D82A}">
                    <a16:rowId xmlns:a16="http://schemas.microsoft.com/office/drawing/2014/main" val="10008"/>
                  </a:ext>
                </a:extLst>
              </a:tr>
            </a:tbl>
          </a:graphicData>
        </a:graphic>
      </p:graphicFrame>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Non-Functional Requirements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QUALITY ATTRIBUTES</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652053480"/>
              </p:ext>
            </p:extLst>
          </p:nvPr>
        </p:nvGraphicFramePr>
        <p:xfrm>
          <a:off x="640080" y="1508760"/>
          <a:ext cx="10881360" cy="32918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48640">
                <a:tc>
                  <a:txBody>
                    <a:bodyPr/>
                    <a:lstStyle/>
                    <a:p>
                      <a:pPr algn="ctr"/>
                      <a:r>
                        <a:rPr sz="1200" b="1" i="0">
                          <a:solidFill>
                            <a:srgbClr val="FFFFFF"/>
                          </a:solidFill>
                          <a:latin typeface="Segoe UI Semibold"/>
                        </a:rPr>
                        <a:t>ID</a:t>
                      </a:r>
                    </a:p>
                  </a:txBody>
                  <a:tcPr marL="73152" marR="73152" marT="36576" marB="36576" anchor="ctr">
                    <a:solidFill>
                      <a:srgbClr val="12233F"/>
                    </a:solidFill>
                  </a:tcPr>
                </a:tc>
                <a:tc>
                  <a:txBody>
                    <a:bodyPr/>
                    <a:lstStyle/>
                    <a:p>
                      <a:pPr algn="l"/>
                      <a:r>
                        <a:rPr sz="1200" b="1" i="0">
                          <a:solidFill>
                            <a:srgbClr val="FFFFFF"/>
                          </a:solidFill>
                          <a:latin typeface="Segoe UI Semibold"/>
                        </a:rPr>
                        <a:t>Requirement</a:t>
                      </a:r>
                    </a:p>
                  </a:txBody>
                  <a:tcPr marL="73152" marR="73152" marT="36576" marB="36576" anchor="ctr">
                    <a:solidFill>
                      <a:srgbClr val="12233F"/>
                    </a:solidFill>
                  </a:tcPr>
                </a:tc>
                <a:tc>
                  <a:txBody>
                    <a:bodyPr/>
                    <a:lstStyle/>
                    <a:p>
                      <a:pPr algn="ctr"/>
                      <a:r>
                        <a:rPr sz="1200" b="1" i="0">
                          <a:solidFill>
                            <a:srgbClr val="FFFFFF"/>
                          </a:solidFill>
                          <a:latin typeface="Segoe UI Semibold"/>
                        </a:rPr>
                        <a:t>Priority</a:t>
                      </a:r>
                    </a:p>
                  </a:txBody>
                  <a:tcPr marL="73152" marR="73152" marT="36576" marB="36576" anchor="ctr">
                    <a:solidFill>
                      <a:srgbClr val="12233F"/>
                    </a:solidFill>
                  </a:tcPr>
                </a:tc>
                <a:extLst>
                  <a:ext uri="{0D108BD9-81ED-4DB2-BD59-A6C34878D82A}">
                    <a16:rowId xmlns:a16="http://schemas.microsoft.com/office/drawing/2014/main" val="10000"/>
                  </a:ext>
                </a:extLst>
              </a:tr>
              <a:tr h="548640">
                <a:tc>
                  <a:txBody>
                    <a:bodyPr/>
                    <a:lstStyle/>
                    <a:p>
                      <a:pPr algn="ctr"/>
                      <a:r>
                        <a:rPr sz="1150" b="0" i="0">
                          <a:solidFill>
                            <a:srgbClr val="202A3A"/>
                          </a:solidFill>
                          <a:latin typeface="Segoe UI"/>
                        </a:rPr>
                        <a:t>NR1</a:t>
                      </a:r>
                    </a:p>
                  </a:txBody>
                  <a:tcPr marL="73152" marR="73152" marT="36576" marB="36576" anchor="ctr">
                    <a:solidFill>
                      <a:srgbClr val="FFFFFF"/>
                    </a:solidFill>
                  </a:tcPr>
                </a:tc>
                <a:tc>
                  <a:txBody>
                    <a:bodyPr/>
                    <a:lstStyle/>
                    <a:p>
                      <a:pPr algn="l"/>
                      <a:r>
                        <a:rPr sz="1150" b="0" i="0">
                          <a:solidFill>
                            <a:srgbClr val="202A3A"/>
                          </a:solidFill>
                          <a:latin typeface="Segoe UI"/>
                        </a:rPr>
                        <a:t>The user interface for mobile and web must be similar</a:t>
                      </a:r>
                    </a:p>
                  </a:txBody>
                  <a:tcPr marL="73152" marR="73152" marT="36576" marB="36576" anchor="ctr">
                    <a:solidFill>
                      <a:srgbClr val="FFFFFF"/>
                    </a:solidFill>
                  </a:tcPr>
                </a:tc>
                <a:tc>
                  <a:txBody>
                    <a:bodyPr/>
                    <a:lstStyle/>
                    <a:p>
                      <a:pPr algn="ctr"/>
                      <a:r>
                        <a:rPr sz="1150" b="0" i="0">
                          <a:solidFill>
                            <a:srgbClr val="202A3A"/>
                          </a:solidFill>
                          <a:latin typeface="Segoe UI"/>
                        </a:rPr>
                        <a:t>Must Have</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pPr algn="ctr"/>
                      <a:r>
                        <a:rPr sz="1150" b="0" i="0">
                          <a:solidFill>
                            <a:srgbClr val="202A3A"/>
                          </a:solidFill>
                          <a:latin typeface="Segoe UI"/>
                        </a:rPr>
                        <a:t>NR2</a:t>
                      </a:r>
                    </a:p>
                  </a:txBody>
                  <a:tcPr marL="73152" marR="73152" marT="36576" marB="36576" anchor="ctr">
                    <a:solidFill>
                      <a:srgbClr val="F6F8FB"/>
                    </a:solidFill>
                  </a:tcPr>
                </a:tc>
                <a:tc>
                  <a:txBody>
                    <a:bodyPr/>
                    <a:lstStyle/>
                    <a:p>
                      <a:pPr algn="l"/>
                      <a:r>
                        <a:rPr sz="1150" b="0" i="0" dirty="0">
                          <a:solidFill>
                            <a:srgbClr val="202A3A"/>
                          </a:solidFill>
                          <a:latin typeface="Segoe UI"/>
                        </a:rPr>
                        <a:t>Only authenticated Admin users may accept or reject applications</a:t>
                      </a:r>
                    </a:p>
                  </a:txBody>
                  <a:tcPr marL="73152" marR="73152" marT="36576" marB="36576" anchor="ctr">
                    <a:solidFill>
                      <a:srgbClr val="F6F8FB"/>
                    </a:solidFill>
                  </a:tcPr>
                </a:tc>
                <a:tc>
                  <a:txBody>
                    <a:bodyPr/>
                    <a:lstStyle/>
                    <a:p>
                      <a:pPr algn="ctr"/>
                      <a:r>
                        <a:rPr sz="1150" b="0" i="0">
                          <a:solidFill>
                            <a:srgbClr val="202A3A"/>
                          </a:solidFill>
                          <a:latin typeface="Segoe UI"/>
                        </a:rPr>
                        <a:t>Must Have</a:t>
                      </a:r>
                    </a:p>
                  </a:txBody>
                  <a:tcPr marL="73152" marR="73152" marT="36576" marB="36576" anchor="ctr">
                    <a:solidFill>
                      <a:srgbClr val="F6F8FB"/>
                    </a:solidFill>
                  </a:tcPr>
                </a:tc>
                <a:extLst>
                  <a:ext uri="{0D108BD9-81ED-4DB2-BD59-A6C34878D82A}">
                    <a16:rowId xmlns:a16="http://schemas.microsoft.com/office/drawing/2014/main" val="10002"/>
                  </a:ext>
                </a:extLst>
              </a:tr>
              <a:tr h="548640">
                <a:tc>
                  <a:txBody>
                    <a:bodyPr/>
                    <a:lstStyle/>
                    <a:p>
                      <a:pPr algn="ctr"/>
                      <a:r>
                        <a:rPr sz="1150" b="0" i="0">
                          <a:solidFill>
                            <a:srgbClr val="202A3A"/>
                          </a:solidFill>
                          <a:latin typeface="Segoe UI"/>
                        </a:rPr>
                        <a:t>NR3</a:t>
                      </a:r>
                    </a:p>
                  </a:txBody>
                  <a:tcPr marL="73152" marR="73152" marT="36576" marB="36576" anchor="ctr">
                    <a:solidFill>
                      <a:srgbClr val="FFFFFF"/>
                    </a:solidFill>
                  </a:tcPr>
                </a:tc>
                <a:tc>
                  <a:txBody>
                    <a:bodyPr/>
                    <a:lstStyle/>
                    <a:p>
                      <a:pPr algn="l"/>
                      <a:r>
                        <a:rPr sz="1150" b="0" i="0">
                          <a:solidFill>
                            <a:srgbClr val="202A3A"/>
                          </a:solidFill>
                          <a:latin typeface="Segoe UI"/>
                        </a:rPr>
                        <a:t>Use test data / fake profiles for development &amp; demonstration</a:t>
                      </a:r>
                    </a:p>
                  </a:txBody>
                  <a:tcPr marL="73152" marR="73152" marT="36576" marB="36576" anchor="ctr">
                    <a:solidFill>
                      <a:srgbClr val="FFFFFF"/>
                    </a:solidFill>
                  </a:tcPr>
                </a:tc>
                <a:tc>
                  <a:txBody>
                    <a:bodyPr/>
                    <a:lstStyle/>
                    <a:p>
                      <a:pPr algn="ctr"/>
                      <a:r>
                        <a:rPr sz="1150" b="0" i="0">
                          <a:solidFill>
                            <a:srgbClr val="202A3A"/>
                          </a:solidFill>
                          <a:latin typeface="Segoe UI"/>
                        </a:rPr>
                        <a:t>Must Have</a:t>
                      </a:r>
                    </a:p>
                  </a:txBody>
                  <a:tcPr marL="73152" marR="73152" marT="36576" marB="36576" anchor="ctr">
                    <a:solidFill>
                      <a:srgbClr val="FFFFFF"/>
                    </a:solidFill>
                  </a:tcPr>
                </a:tc>
                <a:extLst>
                  <a:ext uri="{0D108BD9-81ED-4DB2-BD59-A6C34878D82A}">
                    <a16:rowId xmlns:a16="http://schemas.microsoft.com/office/drawing/2014/main" val="10003"/>
                  </a:ext>
                </a:extLst>
              </a:tr>
              <a:tr h="548640">
                <a:tc>
                  <a:txBody>
                    <a:bodyPr/>
                    <a:lstStyle/>
                    <a:p>
                      <a:pPr algn="ctr"/>
                      <a:r>
                        <a:rPr sz="1150" b="0" i="0">
                          <a:solidFill>
                            <a:srgbClr val="202A3A"/>
                          </a:solidFill>
                          <a:latin typeface="Segoe UI"/>
                        </a:rPr>
                        <a:t>NR4</a:t>
                      </a:r>
                    </a:p>
                  </a:txBody>
                  <a:tcPr marL="73152" marR="73152" marT="36576" marB="36576" anchor="ctr">
                    <a:solidFill>
                      <a:srgbClr val="F6F8FB"/>
                    </a:solidFill>
                  </a:tcPr>
                </a:tc>
                <a:tc>
                  <a:txBody>
                    <a:bodyPr/>
                    <a:lstStyle/>
                    <a:p>
                      <a:pPr algn="l"/>
                      <a:r>
                        <a:rPr sz="1150" b="0" i="0">
                          <a:solidFill>
                            <a:srgbClr val="202A3A"/>
                          </a:solidFill>
                          <a:latin typeface="Segoe UI"/>
                        </a:rPr>
                        <a:t>Form validation errors must be clear and user-friendly</a:t>
                      </a:r>
                    </a:p>
                  </a:txBody>
                  <a:tcPr marL="73152" marR="73152" marT="36576" marB="36576" anchor="ctr">
                    <a:solidFill>
                      <a:srgbClr val="F6F8FB"/>
                    </a:solidFill>
                  </a:tcPr>
                </a:tc>
                <a:tc>
                  <a:txBody>
                    <a:bodyPr/>
                    <a:lstStyle/>
                    <a:p>
                      <a:pPr algn="ctr"/>
                      <a:r>
                        <a:rPr sz="1150" b="0" i="0">
                          <a:solidFill>
                            <a:srgbClr val="202A3A"/>
                          </a:solidFill>
                          <a:latin typeface="Segoe UI"/>
                        </a:rPr>
                        <a:t>Must Have</a:t>
                      </a:r>
                    </a:p>
                  </a:txBody>
                  <a:tcPr marL="73152" marR="73152" marT="36576" marB="36576" anchor="ctr">
                    <a:solidFill>
                      <a:srgbClr val="F6F8FB"/>
                    </a:solidFill>
                  </a:tcPr>
                </a:tc>
                <a:extLst>
                  <a:ext uri="{0D108BD9-81ED-4DB2-BD59-A6C34878D82A}">
                    <a16:rowId xmlns:a16="http://schemas.microsoft.com/office/drawing/2014/main" val="10004"/>
                  </a:ext>
                </a:extLst>
              </a:tr>
              <a:tr h="548640">
                <a:tc>
                  <a:txBody>
                    <a:bodyPr/>
                    <a:lstStyle/>
                    <a:p>
                      <a:pPr algn="ctr"/>
                      <a:r>
                        <a:rPr sz="1150" b="0" i="0" dirty="0">
                          <a:solidFill>
                            <a:srgbClr val="637182"/>
                          </a:solidFill>
                          <a:latin typeface="Segoe UI"/>
                        </a:rPr>
                        <a:t>NR5</a:t>
                      </a:r>
                    </a:p>
                  </a:txBody>
                  <a:tcPr marL="73152" marR="73152" marT="36576" marB="36576" anchor="ctr">
                    <a:solidFill>
                      <a:srgbClr val="FFFFFF"/>
                    </a:solidFill>
                  </a:tcPr>
                </a:tc>
                <a:tc>
                  <a:txBody>
                    <a:bodyPr/>
                    <a:lstStyle/>
                    <a:p>
                      <a:pPr algn="l"/>
                      <a:r>
                        <a:rPr sz="1150" b="1" i="0" dirty="0">
                          <a:solidFill>
                            <a:srgbClr val="C28A12"/>
                          </a:solidFill>
                          <a:latin typeface="Segoe UI"/>
                        </a:rPr>
                        <a:t>Parents must receive bulk SMS notifications </a:t>
                      </a:r>
                      <a:r>
                        <a:rPr lang="en-GB" sz="1150" b="1" i="0" dirty="0">
                          <a:solidFill>
                            <a:srgbClr val="C28A12"/>
                          </a:solidFill>
                          <a:latin typeface="Segoe UI"/>
                        </a:rPr>
                        <a:t>-</a:t>
                      </a:r>
                      <a:r>
                        <a:rPr sz="1150" b="1" i="0" dirty="0">
                          <a:solidFill>
                            <a:srgbClr val="C28A12"/>
                          </a:solidFill>
                          <a:latin typeface="Segoe UI"/>
                        </a:rPr>
                        <a:t> REMOVED (not feasible within the semester)</a:t>
                      </a:r>
                    </a:p>
                  </a:txBody>
                  <a:tcPr marL="73152" marR="73152" marT="36576" marB="36576" anchor="ctr">
                    <a:solidFill>
                      <a:srgbClr val="FFFFFF"/>
                    </a:solidFill>
                  </a:tcPr>
                </a:tc>
                <a:tc>
                  <a:txBody>
                    <a:bodyPr/>
                    <a:lstStyle/>
                    <a:p>
                      <a:pPr algn="ctr"/>
                      <a:r>
                        <a:rPr sz="1150" b="0" i="0" dirty="0">
                          <a:solidFill>
                            <a:srgbClr val="637182"/>
                          </a:solidFill>
                          <a:latin typeface="Segoe UI"/>
                        </a:rPr>
                        <a:t>Was: Should Have</a:t>
                      </a:r>
                      <a:endParaRPr lang="en-GB" sz="1150" b="0" i="0" dirty="0">
                        <a:solidFill>
                          <a:srgbClr val="637182"/>
                        </a:solidFill>
                        <a:latin typeface="Segoe UI"/>
                      </a:endParaRP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15</a:t>
            </a:r>
          </a:p>
        </p:txBody>
      </p:sp>
      <p:graphicFrame>
        <p:nvGraphicFramePr>
          <p:cNvPr id="10" name="Table 9">
            <a:extLst>
              <a:ext uri="{FF2B5EF4-FFF2-40B4-BE49-F238E27FC236}">
                <a16:creationId xmlns:a16="http://schemas.microsoft.com/office/drawing/2014/main" id="{B5B9B521-AB2D-AD65-4A5B-E7A5EF69E115}"/>
              </a:ext>
            </a:extLst>
          </p:cNvPr>
          <p:cNvGraphicFramePr>
            <a:graphicFrameLocks noGrp="1"/>
          </p:cNvGraphicFramePr>
          <p:nvPr>
            <p:extLst>
              <p:ext uri="{D42A27DB-BD31-4B8C-83A1-F6EECF244321}">
                <p14:modId xmlns:p14="http://schemas.microsoft.com/office/powerpoint/2010/main" val="1484480692"/>
              </p:ext>
            </p:extLst>
          </p:nvPr>
        </p:nvGraphicFramePr>
        <p:xfrm>
          <a:off x="640080" y="5193792"/>
          <a:ext cx="10881360" cy="5486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925073828"/>
                    </a:ext>
                  </a:extLst>
                </a:gridCol>
                <a:gridCol w="8138160">
                  <a:extLst>
                    <a:ext uri="{9D8B030D-6E8A-4147-A177-3AD203B41FA5}">
                      <a16:colId xmlns:a16="http://schemas.microsoft.com/office/drawing/2014/main" val="1109404488"/>
                    </a:ext>
                  </a:extLst>
                </a:gridCol>
                <a:gridCol w="1828800">
                  <a:extLst>
                    <a:ext uri="{9D8B030D-6E8A-4147-A177-3AD203B41FA5}">
                      <a16:colId xmlns:a16="http://schemas.microsoft.com/office/drawing/2014/main" val="206344174"/>
                    </a:ext>
                  </a:extLst>
                </a:gridCol>
              </a:tblGrid>
              <a:tr h="548640">
                <a:tc>
                  <a:txBody>
                    <a:bodyPr/>
                    <a:lstStyle/>
                    <a:p>
                      <a:pPr algn="ctr"/>
                      <a:r>
                        <a:rPr sz="1150" b="0" i="0" dirty="0">
                          <a:solidFill>
                            <a:srgbClr val="637182"/>
                          </a:solidFill>
                          <a:latin typeface="Segoe UI"/>
                        </a:rPr>
                        <a:t>NR</a:t>
                      </a:r>
                      <a:r>
                        <a:rPr lang="en-GB" sz="1150" b="0" i="0" dirty="0">
                          <a:solidFill>
                            <a:srgbClr val="637182"/>
                          </a:solidFill>
                          <a:latin typeface="Segoe UI"/>
                        </a:rPr>
                        <a:t>7</a:t>
                      </a:r>
                      <a:endParaRPr sz="1150" b="0" i="0" dirty="0">
                        <a:solidFill>
                          <a:srgbClr val="637182"/>
                        </a:solidFill>
                        <a:latin typeface="Segoe UI"/>
                      </a:endParaRPr>
                    </a:p>
                  </a:txBody>
                  <a:tcPr marL="73152" marR="73152" marT="36576" marB="36576" anchor="ctr">
                    <a:solidFill>
                      <a:srgbClr val="FFFFFF"/>
                    </a:solidFill>
                  </a:tcPr>
                </a:tc>
                <a:tc>
                  <a:txBody>
                    <a:bodyPr/>
                    <a:lstStyle/>
                    <a:p>
                      <a:pPr algn="l"/>
                      <a:r>
                        <a:rPr lang="en-GB" sz="1150" b="1" i="0" dirty="0">
                          <a:solidFill>
                            <a:srgbClr val="C28A12"/>
                          </a:solidFill>
                          <a:latin typeface="Segoe UI"/>
                        </a:rPr>
                        <a:t>Leaners can access e-textbooks -</a:t>
                      </a:r>
                      <a:r>
                        <a:rPr sz="1150" b="1" i="0" dirty="0">
                          <a:solidFill>
                            <a:srgbClr val="C28A12"/>
                          </a:solidFill>
                          <a:latin typeface="Segoe UI"/>
                        </a:rPr>
                        <a:t> REMOVED (</a:t>
                      </a:r>
                      <a:r>
                        <a:rPr lang="en-GB" sz="1150" b="1" i="0" dirty="0">
                          <a:solidFill>
                            <a:srgbClr val="C28A12"/>
                          </a:solidFill>
                          <a:latin typeface="Segoe UI"/>
                        </a:rPr>
                        <a:t>Copyright Violations</a:t>
                      </a:r>
                      <a:r>
                        <a:rPr sz="1150" b="1" i="0" dirty="0">
                          <a:solidFill>
                            <a:srgbClr val="C28A12"/>
                          </a:solidFill>
                          <a:latin typeface="Segoe UI"/>
                        </a:rPr>
                        <a:t>)</a:t>
                      </a:r>
                    </a:p>
                  </a:txBody>
                  <a:tcPr marL="73152" marR="73152" marT="36576" marB="36576" anchor="ctr">
                    <a:solidFill>
                      <a:srgbClr val="FFFFFF"/>
                    </a:solidFill>
                  </a:tcPr>
                </a:tc>
                <a:tc>
                  <a:txBody>
                    <a:bodyPr/>
                    <a:lstStyle/>
                    <a:p>
                      <a:pPr algn="ctr"/>
                      <a:r>
                        <a:rPr sz="1150" b="0" i="0" dirty="0">
                          <a:solidFill>
                            <a:srgbClr val="637182"/>
                          </a:solidFill>
                          <a:latin typeface="Segoe UI"/>
                        </a:rPr>
                        <a:t>Was: Should Have</a:t>
                      </a:r>
                    </a:p>
                  </a:txBody>
                  <a:tcPr marL="73152" marR="73152" marT="36576" marB="36576" anchor="ctr">
                    <a:solidFill>
                      <a:srgbClr val="FFFFFF"/>
                    </a:solidFill>
                  </a:tcPr>
                </a:tc>
                <a:extLst>
                  <a:ext uri="{0D108BD9-81ED-4DB2-BD59-A6C34878D82A}">
                    <a16:rowId xmlns:a16="http://schemas.microsoft.com/office/drawing/2014/main" val="2582158095"/>
                  </a:ext>
                </a:extLst>
              </a:tr>
            </a:tbl>
          </a:graphicData>
        </a:graphic>
      </p:graphicFrame>
      <p:graphicFrame>
        <p:nvGraphicFramePr>
          <p:cNvPr id="11" name="Table 10">
            <a:extLst>
              <a:ext uri="{FF2B5EF4-FFF2-40B4-BE49-F238E27FC236}">
                <a16:creationId xmlns:a16="http://schemas.microsoft.com/office/drawing/2014/main" id="{543C87C1-751E-195C-E135-F80D62111F05}"/>
              </a:ext>
            </a:extLst>
          </p:cNvPr>
          <p:cNvGraphicFramePr>
            <a:graphicFrameLocks noGrp="1"/>
          </p:cNvGraphicFramePr>
          <p:nvPr>
            <p:extLst>
              <p:ext uri="{D42A27DB-BD31-4B8C-83A1-F6EECF244321}">
                <p14:modId xmlns:p14="http://schemas.microsoft.com/office/powerpoint/2010/main" val="275497834"/>
              </p:ext>
            </p:extLst>
          </p:nvPr>
        </p:nvGraphicFramePr>
        <p:xfrm>
          <a:off x="640080" y="4709161"/>
          <a:ext cx="10881360" cy="5486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925073828"/>
                    </a:ext>
                  </a:extLst>
                </a:gridCol>
                <a:gridCol w="8138160">
                  <a:extLst>
                    <a:ext uri="{9D8B030D-6E8A-4147-A177-3AD203B41FA5}">
                      <a16:colId xmlns:a16="http://schemas.microsoft.com/office/drawing/2014/main" val="1109404488"/>
                    </a:ext>
                  </a:extLst>
                </a:gridCol>
                <a:gridCol w="1828800">
                  <a:extLst>
                    <a:ext uri="{9D8B030D-6E8A-4147-A177-3AD203B41FA5}">
                      <a16:colId xmlns:a16="http://schemas.microsoft.com/office/drawing/2014/main" val="206344174"/>
                    </a:ext>
                  </a:extLst>
                </a:gridCol>
              </a:tblGrid>
              <a:tr h="548640">
                <a:tc>
                  <a:txBody>
                    <a:bodyPr/>
                    <a:lstStyle/>
                    <a:p>
                      <a:pPr algn="ctr"/>
                      <a:r>
                        <a:rPr sz="1150" b="0" i="0" dirty="0">
                          <a:solidFill>
                            <a:srgbClr val="637182"/>
                          </a:solidFill>
                          <a:latin typeface="Segoe UI"/>
                        </a:rPr>
                        <a:t>NR</a:t>
                      </a:r>
                      <a:r>
                        <a:rPr lang="en-GB" sz="1150" b="0" i="0" dirty="0">
                          <a:solidFill>
                            <a:srgbClr val="637182"/>
                          </a:solidFill>
                          <a:latin typeface="Segoe UI"/>
                        </a:rPr>
                        <a:t>6</a:t>
                      </a:r>
                      <a:endParaRPr sz="1150" b="0" i="0" dirty="0">
                        <a:solidFill>
                          <a:srgbClr val="637182"/>
                        </a:solidFill>
                        <a:latin typeface="Segoe UI"/>
                      </a:endParaRPr>
                    </a:p>
                  </a:txBody>
                  <a:tcPr marL="73152" marR="73152" marT="36576" marB="36576" anchor="ctr">
                    <a:solidFill>
                      <a:srgbClr val="FFFFFF"/>
                    </a:solidFill>
                  </a:tcPr>
                </a:tc>
                <a:tc>
                  <a:txBody>
                    <a:bodyPr/>
                    <a:lstStyle/>
                    <a:p>
                      <a:pPr algn="l"/>
                      <a:r>
                        <a:rPr lang="en-GB" sz="1150" b="1" i="0" dirty="0">
                          <a:solidFill>
                            <a:srgbClr val="C28A12"/>
                          </a:solidFill>
                          <a:latin typeface="Segoe UI"/>
                        </a:rPr>
                        <a:t>Parents can access uniform shop - </a:t>
                      </a:r>
                      <a:r>
                        <a:rPr sz="1150" b="1" i="0" dirty="0">
                          <a:solidFill>
                            <a:srgbClr val="C28A12"/>
                          </a:solidFill>
                          <a:latin typeface="Segoe UI"/>
                        </a:rPr>
                        <a:t>REMOVED (</a:t>
                      </a:r>
                      <a:r>
                        <a:rPr lang="en-GB" sz="1150" b="1" i="0" dirty="0">
                          <a:solidFill>
                            <a:srgbClr val="C28A12"/>
                          </a:solidFill>
                          <a:latin typeface="Segoe UI"/>
                        </a:rPr>
                        <a:t>Existing uniform partnership</a:t>
                      </a:r>
                      <a:r>
                        <a:rPr sz="1150" b="1" i="0" dirty="0">
                          <a:solidFill>
                            <a:srgbClr val="C28A12"/>
                          </a:solidFill>
                          <a:latin typeface="Segoe UI"/>
                        </a:rPr>
                        <a:t>)</a:t>
                      </a:r>
                    </a:p>
                  </a:txBody>
                  <a:tcPr marL="73152" marR="73152" marT="36576" marB="36576" anchor="ctr">
                    <a:solidFill>
                      <a:srgbClr val="FFFFFF"/>
                    </a:solidFill>
                  </a:tcPr>
                </a:tc>
                <a:tc>
                  <a:txBody>
                    <a:bodyPr/>
                    <a:lstStyle/>
                    <a:p>
                      <a:pPr algn="ctr"/>
                      <a:r>
                        <a:rPr sz="1150" b="0" i="0" dirty="0">
                          <a:solidFill>
                            <a:srgbClr val="637182"/>
                          </a:solidFill>
                          <a:latin typeface="Segoe UI"/>
                        </a:rPr>
                        <a:t>Was: Should Have</a:t>
                      </a:r>
                    </a:p>
                  </a:txBody>
                  <a:tcPr marL="73152" marR="73152" marT="36576" marB="36576" anchor="ctr">
                    <a:solidFill>
                      <a:srgbClr val="FFFFFF"/>
                    </a:solidFill>
                  </a:tcPr>
                </a:tc>
                <a:extLst>
                  <a:ext uri="{0D108BD9-81ED-4DB2-BD59-A6C34878D82A}">
                    <a16:rowId xmlns:a16="http://schemas.microsoft.com/office/drawing/2014/main" val="258215809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System &amp; Integration Requirements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HOW THE PIECES CONNECT</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4864" cy="384048"/>
          </a:xfrm>
          <a:prstGeom prst="rect">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536192"/>
            <a:ext cx="5166360" cy="457200"/>
          </a:xfrm>
          <a:prstGeom prst="rect">
            <a:avLst/>
          </a:prstGeom>
          <a:noFill/>
        </p:spPr>
        <p:txBody>
          <a:bodyPr wrap="square" lIns="0" tIns="0" rIns="0" bIns="0">
            <a:spAutoFit/>
          </a:bodyPr>
          <a:lstStyle/>
          <a:p>
            <a:pPr algn="l">
              <a:spcBef>
                <a:spcPts val="0"/>
              </a:spcBef>
              <a:spcAft>
                <a:spcPts val="400"/>
              </a:spcAft>
            </a:pPr>
            <a:r>
              <a:rPr sz="1700" b="1" i="0">
                <a:solidFill>
                  <a:srgbClr val="202A3A"/>
                </a:solidFill>
                <a:latin typeface="Segoe UI Semibold"/>
              </a:rPr>
              <a:t>System Requirements</a:t>
            </a:r>
          </a:p>
        </p:txBody>
      </p:sp>
      <p:sp>
        <p:nvSpPr>
          <p:cNvPr id="8" name="TextBox 7"/>
          <p:cNvSpPr txBox="1"/>
          <p:nvPr/>
        </p:nvSpPr>
        <p:spPr>
          <a:xfrm>
            <a:off x="685800" y="2121408"/>
            <a:ext cx="5166360" cy="1296573"/>
          </a:xfrm>
          <a:prstGeom prst="rect">
            <a:avLst/>
          </a:prstGeom>
          <a:noFill/>
        </p:spPr>
        <p:txBody>
          <a:bodyPr wrap="square" lIns="0" tIns="0" rIns="0" bIns="0">
            <a:spAutoFit/>
          </a:bodyPr>
          <a:lstStyle/>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SR1</a:t>
            </a:r>
            <a:r>
              <a:rPr lang="en-GB" sz="1350" b="0" i="0" dirty="0">
                <a:solidFill>
                  <a:srgbClr val="202A3A"/>
                </a:solidFill>
                <a:latin typeface="Segoe UI"/>
              </a:rPr>
              <a:t> -</a:t>
            </a:r>
            <a:r>
              <a:rPr sz="1350" b="0" i="0" dirty="0">
                <a:solidFill>
                  <a:srgbClr val="202A3A"/>
                </a:solidFill>
                <a:latin typeface="Segoe UI"/>
              </a:rPr>
              <a:t> Web version must use ASP.NET</a:t>
            </a: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SR2 </a:t>
            </a:r>
            <a:r>
              <a:rPr lang="en-GB" sz="1350" b="0" i="0" dirty="0">
                <a:solidFill>
                  <a:srgbClr val="202A3A"/>
                </a:solidFill>
                <a:latin typeface="Segoe UI"/>
              </a:rPr>
              <a:t>-</a:t>
            </a:r>
            <a:r>
              <a:rPr sz="1350" b="0" i="0" dirty="0">
                <a:solidFill>
                  <a:srgbClr val="202A3A"/>
                </a:solidFill>
                <a:latin typeface="Segoe UI"/>
              </a:rPr>
              <a:t> Mobile version must use Flutter</a:t>
            </a: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SR3 </a:t>
            </a:r>
            <a:r>
              <a:rPr lang="en-GB" sz="1350" b="0" i="0" dirty="0">
                <a:solidFill>
                  <a:srgbClr val="202A3A"/>
                </a:solidFill>
                <a:latin typeface="Segoe UI"/>
              </a:rPr>
              <a:t>-</a:t>
            </a:r>
            <a:r>
              <a:rPr sz="1350" b="0" i="0" dirty="0">
                <a:solidFill>
                  <a:srgbClr val="202A3A"/>
                </a:solidFill>
                <a:latin typeface="Segoe UI"/>
              </a:rPr>
              <a:t> </a:t>
            </a:r>
            <a:r>
              <a:rPr sz="1350" b="0" i="0" dirty="0" err="1">
                <a:solidFill>
                  <a:srgbClr val="202A3A"/>
                </a:solidFill>
                <a:latin typeface="Segoe UI"/>
              </a:rPr>
              <a:t>Supabase</a:t>
            </a:r>
            <a:r>
              <a:rPr sz="1350" b="0" i="0" dirty="0">
                <a:solidFill>
                  <a:srgbClr val="202A3A"/>
                </a:solidFill>
                <a:latin typeface="Segoe UI"/>
              </a:rPr>
              <a:t> is the shared backend for both</a:t>
            </a: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SR4 </a:t>
            </a:r>
            <a:r>
              <a:rPr lang="en-GB" sz="1350" b="0" i="0" dirty="0">
                <a:solidFill>
                  <a:srgbClr val="202A3A"/>
                </a:solidFill>
                <a:latin typeface="Segoe UI"/>
              </a:rPr>
              <a:t>-</a:t>
            </a:r>
            <a:r>
              <a:rPr sz="1350" b="0" i="0" dirty="0">
                <a:solidFill>
                  <a:srgbClr val="202A3A"/>
                </a:solidFill>
                <a:latin typeface="Segoe UI"/>
              </a:rPr>
              <a:t> Must be compatible with modern web browsers</a:t>
            </a:r>
          </a:p>
        </p:txBody>
      </p:sp>
      <p:sp>
        <p:nvSpPr>
          <p:cNvPr id="9" name="Rectangle 8"/>
          <p:cNvSpPr/>
          <p:nvPr/>
        </p:nvSpPr>
        <p:spPr>
          <a:xfrm>
            <a:off x="6309360" y="1554480"/>
            <a:ext cx="54864" cy="384048"/>
          </a:xfrm>
          <a:prstGeom prst="rect">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8" y="1536192"/>
            <a:ext cx="5166360" cy="457200"/>
          </a:xfrm>
          <a:prstGeom prst="rect">
            <a:avLst/>
          </a:prstGeom>
          <a:noFill/>
        </p:spPr>
        <p:txBody>
          <a:bodyPr wrap="square" lIns="0" tIns="0" rIns="0" bIns="0">
            <a:spAutoFit/>
          </a:bodyPr>
          <a:lstStyle/>
          <a:p>
            <a:pPr algn="l">
              <a:spcBef>
                <a:spcPts val="0"/>
              </a:spcBef>
              <a:spcAft>
                <a:spcPts val="400"/>
              </a:spcAft>
            </a:pPr>
            <a:r>
              <a:rPr sz="1700" b="1" i="0">
                <a:solidFill>
                  <a:srgbClr val="202A3A"/>
                </a:solidFill>
                <a:latin typeface="Segoe UI Semibold"/>
              </a:rPr>
              <a:t>Integration Requirements</a:t>
            </a:r>
          </a:p>
        </p:txBody>
      </p:sp>
      <p:sp>
        <p:nvSpPr>
          <p:cNvPr id="11" name="TextBox 10"/>
          <p:cNvSpPr txBox="1"/>
          <p:nvPr/>
        </p:nvSpPr>
        <p:spPr>
          <a:xfrm>
            <a:off x="6309360" y="2121408"/>
            <a:ext cx="5166360" cy="1296573"/>
          </a:xfrm>
          <a:prstGeom prst="rect">
            <a:avLst/>
          </a:prstGeom>
          <a:noFill/>
        </p:spPr>
        <p:txBody>
          <a:bodyPr wrap="square" lIns="0" tIns="0" rIns="0" bIns="0">
            <a:spAutoFit/>
          </a:bodyPr>
          <a:lstStyle/>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IR1 </a:t>
            </a:r>
            <a:r>
              <a:rPr lang="en-GB" sz="1350" b="0" i="0" dirty="0">
                <a:solidFill>
                  <a:srgbClr val="202A3A"/>
                </a:solidFill>
                <a:latin typeface="Segoe UI"/>
              </a:rPr>
              <a:t>-</a:t>
            </a:r>
            <a:r>
              <a:rPr sz="1350" b="0" i="0" dirty="0">
                <a:solidFill>
                  <a:srgbClr val="202A3A"/>
                </a:solidFill>
                <a:latin typeface="Segoe UI"/>
              </a:rPr>
              <a:t> Flutter and ASP.NET must not communicate directly</a:t>
            </a:r>
          </a:p>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IR2 </a:t>
            </a:r>
            <a:r>
              <a:rPr lang="en-GB" sz="1350" b="0" i="0" dirty="0">
                <a:solidFill>
                  <a:srgbClr val="202A3A"/>
                </a:solidFill>
                <a:latin typeface="Segoe UI"/>
              </a:rPr>
              <a:t>-</a:t>
            </a:r>
            <a:r>
              <a:rPr sz="1350" b="0" i="0" dirty="0">
                <a:solidFill>
                  <a:srgbClr val="202A3A"/>
                </a:solidFill>
                <a:latin typeface="Segoe UI"/>
              </a:rPr>
              <a:t> Applications must be stored securely in </a:t>
            </a:r>
            <a:r>
              <a:rPr sz="1350" b="0" i="0" dirty="0" err="1">
                <a:solidFill>
                  <a:srgbClr val="202A3A"/>
                </a:solidFill>
                <a:latin typeface="Segoe UI"/>
              </a:rPr>
              <a:t>Supabase</a:t>
            </a:r>
            <a:endParaRPr sz="1350" b="0" i="0" dirty="0">
              <a:solidFill>
                <a:srgbClr val="202A3A"/>
              </a:solidFill>
              <a:latin typeface="Segoe UI"/>
            </a:endParaRPr>
          </a:p>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IR3 </a:t>
            </a:r>
            <a:r>
              <a:rPr lang="en-GB" sz="1350" b="0" i="0" dirty="0">
                <a:solidFill>
                  <a:srgbClr val="202A3A"/>
                </a:solidFill>
                <a:latin typeface="Segoe UI"/>
              </a:rPr>
              <a:t>-</a:t>
            </a:r>
            <a:r>
              <a:rPr sz="1350" b="0" i="0" dirty="0">
                <a:solidFill>
                  <a:srgbClr val="202A3A"/>
                </a:solidFill>
                <a:latin typeface="Segoe UI"/>
              </a:rPr>
              <a:t> Admins update application status via Flutter/ASP.NET</a:t>
            </a:r>
          </a:p>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IR4 </a:t>
            </a:r>
            <a:r>
              <a:rPr lang="en-GB" sz="1350" b="0" i="0" dirty="0">
                <a:solidFill>
                  <a:srgbClr val="202A3A"/>
                </a:solidFill>
                <a:latin typeface="Segoe UI"/>
              </a:rPr>
              <a:t>-</a:t>
            </a:r>
            <a:r>
              <a:rPr sz="1350" b="0" i="0" dirty="0">
                <a:solidFill>
                  <a:srgbClr val="202A3A"/>
                </a:solidFill>
                <a:latin typeface="Segoe UI"/>
              </a:rPr>
              <a:t> Both platforms authenticate via the same </a:t>
            </a:r>
            <a:r>
              <a:rPr sz="1350" b="0" i="0" dirty="0" err="1">
                <a:solidFill>
                  <a:srgbClr val="202A3A"/>
                </a:solidFill>
                <a:latin typeface="Segoe UI"/>
              </a:rPr>
              <a:t>Supabase</a:t>
            </a:r>
            <a:r>
              <a:rPr sz="1350" b="0" i="0" dirty="0">
                <a:solidFill>
                  <a:srgbClr val="202A3A"/>
                </a:solidFill>
                <a:latin typeface="Segoe UI"/>
              </a:rPr>
              <a:t> Auth API</a:t>
            </a:r>
          </a:p>
        </p:txBody>
      </p:sp>
      <p:sp>
        <p:nvSpPr>
          <p:cNvPr id="12" name="Rectangle 11"/>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14" name="TextBox 13"/>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8164"/>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04</a:t>
            </a:r>
          </a:p>
        </p:txBody>
      </p:sp>
      <p:sp>
        <p:nvSpPr>
          <p:cNvPr id="5" name="TextBox 4"/>
          <p:cNvSpPr txBox="1"/>
          <p:nvPr/>
        </p:nvSpPr>
        <p:spPr>
          <a:xfrm>
            <a:off x="640080" y="3063240"/>
            <a:ext cx="10607040" cy="1463040"/>
          </a:xfrm>
          <a:prstGeom prst="rect">
            <a:avLst/>
          </a:prstGeom>
          <a:noFill/>
        </p:spPr>
        <p:txBody>
          <a:bodyPr wrap="square" lIns="0" tIns="0" rIns="0" bIns="0">
            <a:spAutoFit/>
          </a:bodyPr>
          <a:lstStyle/>
          <a:p>
            <a:pPr algn="l">
              <a:spcBef>
                <a:spcPts val="0"/>
              </a:spcBef>
              <a:spcAft>
                <a:spcPts val="400"/>
              </a:spcAft>
            </a:pPr>
            <a:r>
              <a:rPr sz="3800" b="1" i="0">
                <a:solidFill>
                  <a:srgbClr val="FFFFFF"/>
                </a:solidFill>
                <a:latin typeface="Segoe UI Semibold"/>
              </a:rPr>
              <a:t>Feasibility Analysis</a:t>
            </a:r>
          </a:p>
        </p:txBody>
      </p:sp>
      <p:sp>
        <p:nvSpPr>
          <p:cNvPr id="6" name="TextBox 5"/>
          <p:cNvSpPr txBox="1"/>
          <p:nvPr/>
        </p:nvSpPr>
        <p:spPr>
          <a:xfrm>
            <a:off x="640080" y="3977639"/>
            <a:ext cx="9601200" cy="606641"/>
          </a:xfrm>
          <a:prstGeom prst="rect">
            <a:avLst/>
          </a:prstGeom>
          <a:noFill/>
        </p:spPr>
        <p:txBody>
          <a:bodyPr wrap="square" lIns="0" tIns="0" rIns="0" bIns="0">
            <a:spAutoFit/>
          </a:bodyPr>
          <a:lstStyle/>
          <a:p>
            <a:pPr algn="l">
              <a:lnSpc>
                <a:spcPct val="130000"/>
              </a:lnSpc>
              <a:spcBef>
                <a:spcPts val="0"/>
              </a:spcBef>
              <a:spcAft>
                <a:spcPts val="400"/>
              </a:spcAft>
            </a:pPr>
            <a:r>
              <a:rPr sz="1600" b="0" i="0" dirty="0">
                <a:solidFill>
                  <a:srgbClr val="B9C8DA"/>
                </a:solidFill>
                <a:latin typeface="Segoe UI"/>
              </a:rPr>
              <a:t>Six </a:t>
            </a:r>
            <a:r>
              <a:rPr lang="en-GB" sz="1600" b="0" i="0" dirty="0">
                <a:solidFill>
                  <a:srgbClr val="B9C8DA"/>
                </a:solidFill>
                <a:latin typeface="Segoe UI"/>
              </a:rPr>
              <a:t>factors</a:t>
            </a:r>
            <a:r>
              <a:rPr sz="1600" b="0" i="0" dirty="0">
                <a:solidFill>
                  <a:srgbClr val="B9C8DA"/>
                </a:solidFill>
                <a:latin typeface="Segoe UI"/>
              </a:rPr>
              <a:t> used to test the project before committing to it: technical, operational, economic, schedule, legal and ethical.</a:t>
            </a: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Feasibility Summary</a:t>
            </a:r>
          </a:p>
        </p:txBody>
      </p:sp>
      <p:sp>
        <p:nvSpPr>
          <p:cNvPr id="4" name="TextBox 3"/>
          <p:cNvSpPr txBox="1"/>
          <p:nvPr/>
        </p:nvSpPr>
        <p:spPr>
          <a:xfrm>
            <a:off x="640080" y="960120"/>
            <a:ext cx="7315200" cy="200055"/>
          </a:xfrm>
          <a:prstGeom prst="rect">
            <a:avLst/>
          </a:prstGeom>
          <a:noFill/>
        </p:spPr>
        <p:txBody>
          <a:bodyPr wrap="square" lIns="0" tIns="0" rIns="0" bIns="0">
            <a:spAutoFit/>
          </a:bodyPr>
          <a:lstStyle/>
          <a:p>
            <a:pPr algn="l">
              <a:spcBef>
                <a:spcPts val="0"/>
              </a:spcBef>
              <a:spcAft>
                <a:spcPts val="400"/>
              </a:spcAft>
            </a:pPr>
            <a:r>
              <a:rPr sz="1300" b="1" i="0" spc="180" dirty="0">
                <a:solidFill>
                  <a:srgbClr val="2FA4A9"/>
                </a:solidFill>
                <a:latin typeface="Segoe UI"/>
              </a:rPr>
              <a:t>SIX-</a:t>
            </a:r>
            <a:r>
              <a:rPr lang="en-GB" sz="1300" b="1" spc="180" dirty="0">
                <a:solidFill>
                  <a:srgbClr val="2FA4A9"/>
                </a:solidFill>
                <a:latin typeface="Segoe UI"/>
              </a:rPr>
              <a:t>Factor</a:t>
            </a:r>
            <a:r>
              <a:rPr sz="1300" b="1" i="0" spc="180" dirty="0">
                <a:solidFill>
                  <a:srgbClr val="2FA4A9"/>
                </a:solidFill>
                <a:latin typeface="Segoe UI"/>
              </a:rPr>
              <a:t> REVIEW</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08760"/>
            <a:ext cx="3444240" cy="228600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08760"/>
            <a:ext cx="54864" cy="2286000"/>
          </a:xfrm>
          <a:prstGeom prst="rect">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Technical</a:t>
            </a:r>
          </a:p>
        </p:txBody>
      </p:sp>
      <p:sp>
        <p:nvSpPr>
          <p:cNvPr id="9" name="Rounded Rectangle 8"/>
          <p:cNvSpPr/>
          <p:nvPr/>
        </p:nvSpPr>
        <p:spPr>
          <a:xfrm>
            <a:off x="2868168" y="1645920"/>
            <a:ext cx="1051560" cy="274320"/>
          </a:xfrm>
          <a:prstGeom prst="roundRect">
            <a:avLst>
              <a:gd name="adj" fmla="val 50000"/>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W/ CHANGES</a:t>
            </a:r>
          </a:p>
        </p:txBody>
      </p:sp>
      <p:sp>
        <p:nvSpPr>
          <p:cNvPr id="10" name="TextBox 9"/>
          <p:cNvSpPr txBox="1"/>
          <p:nvPr/>
        </p:nvSpPr>
        <p:spPr>
          <a:xfrm>
            <a:off x="859536" y="2020824"/>
            <a:ext cx="3005328" cy="1203663"/>
          </a:xfrm>
          <a:prstGeom prst="rect">
            <a:avLst/>
          </a:prstGeom>
          <a:noFill/>
        </p:spPr>
        <p:txBody>
          <a:bodyPr wrap="square" lIns="0" tIns="0" rIns="0" bIns="0">
            <a:spAutoFit/>
          </a:bodyPr>
          <a:lstStyle/>
          <a:p>
            <a:pPr algn="l">
              <a:lnSpc>
                <a:spcPct val="115000"/>
              </a:lnSpc>
              <a:spcBef>
                <a:spcPts val="0"/>
              </a:spcBef>
              <a:spcAft>
                <a:spcPts val="400"/>
              </a:spcAft>
            </a:pPr>
            <a:r>
              <a:rPr sz="1150" b="0" i="0" dirty="0" err="1">
                <a:solidFill>
                  <a:srgbClr val="637182"/>
                </a:solidFill>
                <a:latin typeface="Segoe UI"/>
              </a:rPr>
              <a:t>Supabase</a:t>
            </a:r>
            <a:r>
              <a:rPr sz="1150" b="0" i="0" dirty="0">
                <a:solidFill>
                  <a:srgbClr val="637182"/>
                </a:solidFill>
                <a:latin typeface="Segoe UI"/>
              </a:rPr>
              <a:t> integration must be learned</a:t>
            </a:r>
            <a:r>
              <a:rPr lang="en-GB" sz="1150" b="0" i="0" dirty="0">
                <a:solidFill>
                  <a:srgbClr val="637182"/>
                </a:solidFill>
                <a:latin typeface="Segoe UI"/>
              </a:rPr>
              <a:t>,</a:t>
            </a:r>
            <a:r>
              <a:rPr sz="1150" b="0" i="0" dirty="0">
                <a:solidFill>
                  <a:srgbClr val="637182"/>
                </a:solidFill>
                <a:latin typeface="Segoe UI"/>
              </a:rPr>
              <a:t> bulk SMS removed as too complex.</a:t>
            </a:r>
            <a:r>
              <a:rPr lang="en-GB" sz="1150" b="0" i="0" dirty="0">
                <a:solidFill>
                  <a:srgbClr val="637182"/>
                </a:solidFill>
                <a:latin typeface="Segoe UI"/>
              </a:rPr>
              <a:t> Uniform shop to removed because there is an existing uniform partnership. E-textbooks to be removed because they violate certain copyright laws</a:t>
            </a:r>
            <a:endParaRPr sz="1150" b="0" i="0" dirty="0">
              <a:solidFill>
                <a:srgbClr val="637182"/>
              </a:solidFill>
              <a:latin typeface="Segoe UI"/>
            </a:endParaRPr>
          </a:p>
        </p:txBody>
      </p:sp>
      <p:sp>
        <p:nvSpPr>
          <p:cNvPr id="11" name="Rounded Rectangle 10"/>
          <p:cNvSpPr/>
          <p:nvPr/>
        </p:nvSpPr>
        <p:spPr>
          <a:xfrm>
            <a:off x="4358640" y="1508760"/>
            <a:ext cx="3444240" cy="228600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8640" y="1508760"/>
            <a:ext cx="54864" cy="2286000"/>
          </a:xfrm>
          <a:prstGeom prst="rect">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809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Operational</a:t>
            </a:r>
          </a:p>
        </p:txBody>
      </p:sp>
      <p:sp>
        <p:nvSpPr>
          <p:cNvPr id="14" name="Rounded Rectangle 13"/>
          <p:cNvSpPr/>
          <p:nvPr/>
        </p:nvSpPr>
        <p:spPr>
          <a:xfrm>
            <a:off x="6586728" y="1645920"/>
            <a:ext cx="1051560" cy="274320"/>
          </a:xfrm>
          <a:prstGeom prst="roundRect">
            <a:avLst>
              <a:gd name="adj" fmla="val 50000"/>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FEASIBLE</a:t>
            </a:r>
          </a:p>
        </p:txBody>
      </p:sp>
      <p:sp>
        <p:nvSpPr>
          <p:cNvPr id="15" name="TextBox 14"/>
          <p:cNvSpPr txBox="1"/>
          <p:nvPr/>
        </p:nvSpPr>
        <p:spPr>
          <a:xfrm>
            <a:off x="4578096" y="2020824"/>
            <a:ext cx="3005328" cy="1627632"/>
          </a:xfrm>
          <a:prstGeom prst="rect">
            <a:avLst/>
          </a:prstGeom>
          <a:noFill/>
        </p:spPr>
        <p:txBody>
          <a:bodyPr wrap="square" lIns="0" tIns="0" rIns="0" bIns="0">
            <a:spAutoFit/>
          </a:bodyPr>
          <a:lstStyle/>
          <a:p>
            <a:pPr algn="l">
              <a:lnSpc>
                <a:spcPct val="115000"/>
              </a:lnSpc>
              <a:spcBef>
                <a:spcPts val="0"/>
              </a:spcBef>
              <a:spcAft>
                <a:spcPts val="400"/>
              </a:spcAft>
            </a:pPr>
            <a:r>
              <a:rPr sz="1150" b="0" i="0">
                <a:solidFill>
                  <a:srgbClr val="637182"/>
                </a:solidFill>
                <a:latin typeface="Segoe UI"/>
              </a:rPr>
              <a:t>Solution fits the school's process and users; simple UI reduces training needs.</a:t>
            </a:r>
          </a:p>
        </p:txBody>
      </p:sp>
      <p:sp>
        <p:nvSpPr>
          <p:cNvPr id="16" name="Rounded Rectangle 15"/>
          <p:cNvSpPr/>
          <p:nvPr/>
        </p:nvSpPr>
        <p:spPr>
          <a:xfrm>
            <a:off x="8077200" y="1508760"/>
            <a:ext cx="3444240" cy="228600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77200" y="1508760"/>
            <a:ext cx="54864" cy="2286000"/>
          </a:xfrm>
          <a:prstGeom prst="rect">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6656" y="1655064"/>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Economic</a:t>
            </a:r>
          </a:p>
        </p:txBody>
      </p:sp>
      <p:sp>
        <p:nvSpPr>
          <p:cNvPr id="19" name="Rounded Rectangle 18"/>
          <p:cNvSpPr/>
          <p:nvPr/>
        </p:nvSpPr>
        <p:spPr>
          <a:xfrm>
            <a:off x="10305288" y="1645920"/>
            <a:ext cx="1051560" cy="274320"/>
          </a:xfrm>
          <a:prstGeom prst="roundRect">
            <a:avLst>
              <a:gd name="adj" fmla="val 50000"/>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FEASIBLE</a:t>
            </a:r>
          </a:p>
        </p:txBody>
      </p:sp>
      <p:sp>
        <p:nvSpPr>
          <p:cNvPr id="20" name="TextBox 19"/>
          <p:cNvSpPr txBox="1"/>
          <p:nvPr/>
        </p:nvSpPr>
        <p:spPr>
          <a:xfrm>
            <a:off x="8296656" y="2020824"/>
            <a:ext cx="3005328" cy="1627632"/>
          </a:xfrm>
          <a:prstGeom prst="rect">
            <a:avLst/>
          </a:prstGeom>
          <a:noFill/>
        </p:spPr>
        <p:txBody>
          <a:bodyPr wrap="square" lIns="0" tIns="0" rIns="0" bIns="0">
            <a:spAutoFit/>
          </a:bodyPr>
          <a:lstStyle/>
          <a:p>
            <a:pPr algn="l">
              <a:lnSpc>
                <a:spcPct val="115000"/>
              </a:lnSpc>
              <a:spcBef>
                <a:spcPts val="0"/>
              </a:spcBef>
              <a:spcAft>
                <a:spcPts val="400"/>
              </a:spcAft>
            </a:pPr>
            <a:r>
              <a:rPr sz="1150" b="0" i="0">
                <a:solidFill>
                  <a:srgbClr val="637182"/>
                </a:solidFill>
                <a:latin typeface="Segoe UI"/>
              </a:rPr>
              <a:t>Free tools and existing resources (Flutter, VS 2022, Supabase free tier) are enough.</a:t>
            </a:r>
          </a:p>
        </p:txBody>
      </p:sp>
      <p:sp>
        <p:nvSpPr>
          <p:cNvPr id="21" name="Rounded Rectangle 20"/>
          <p:cNvSpPr/>
          <p:nvPr/>
        </p:nvSpPr>
        <p:spPr>
          <a:xfrm>
            <a:off x="640080" y="3995928"/>
            <a:ext cx="3444240" cy="228600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3995928"/>
            <a:ext cx="54864" cy="2286000"/>
          </a:xfrm>
          <a:prstGeom prst="rect">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 y="4142232"/>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Schedule</a:t>
            </a:r>
          </a:p>
        </p:txBody>
      </p:sp>
      <p:sp>
        <p:nvSpPr>
          <p:cNvPr id="24" name="Rounded Rectangle 23"/>
          <p:cNvSpPr/>
          <p:nvPr/>
        </p:nvSpPr>
        <p:spPr>
          <a:xfrm>
            <a:off x="2868168" y="4133088"/>
            <a:ext cx="1051560" cy="274320"/>
          </a:xfrm>
          <a:prstGeom prst="roundRect">
            <a:avLst>
              <a:gd name="adj" fmla="val 50000"/>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W/ CHANGES</a:t>
            </a:r>
          </a:p>
        </p:txBody>
      </p:sp>
      <p:sp>
        <p:nvSpPr>
          <p:cNvPr id="25" name="TextBox 24"/>
          <p:cNvSpPr txBox="1"/>
          <p:nvPr/>
        </p:nvSpPr>
        <p:spPr>
          <a:xfrm>
            <a:off x="859536" y="4507992"/>
            <a:ext cx="3005328" cy="1627632"/>
          </a:xfrm>
          <a:prstGeom prst="rect">
            <a:avLst/>
          </a:prstGeom>
          <a:noFill/>
        </p:spPr>
        <p:txBody>
          <a:bodyPr wrap="square" lIns="0" tIns="0" rIns="0" bIns="0">
            <a:spAutoFit/>
          </a:bodyPr>
          <a:lstStyle/>
          <a:p>
            <a:pPr algn="l">
              <a:lnSpc>
                <a:spcPct val="115000"/>
              </a:lnSpc>
              <a:spcBef>
                <a:spcPts val="0"/>
              </a:spcBef>
              <a:spcAft>
                <a:spcPts val="400"/>
              </a:spcAft>
            </a:pPr>
            <a:r>
              <a:rPr sz="1150" b="0" i="0">
                <a:solidFill>
                  <a:srgbClr val="637182"/>
                </a:solidFill>
                <a:latin typeface="Segoe UI"/>
              </a:rPr>
              <a:t>Core functions fit the semester, but Supabase needs an early learning start.</a:t>
            </a:r>
          </a:p>
        </p:txBody>
      </p:sp>
      <p:sp>
        <p:nvSpPr>
          <p:cNvPr id="26" name="Rounded Rectangle 25"/>
          <p:cNvSpPr/>
          <p:nvPr/>
        </p:nvSpPr>
        <p:spPr>
          <a:xfrm>
            <a:off x="4358640" y="3995928"/>
            <a:ext cx="3444240" cy="228600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58640" y="3995928"/>
            <a:ext cx="54864" cy="2286000"/>
          </a:xfrm>
          <a:prstGeom prst="rect">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8096" y="4142232"/>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Legal</a:t>
            </a:r>
          </a:p>
        </p:txBody>
      </p:sp>
      <p:sp>
        <p:nvSpPr>
          <p:cNvPr id="29" name="Rounded Rectangle 28"/>
          <p:cNvSpPr/>
          <p:nvPr/>
        </p:nvSpPr>
        <p:spPr>
          <a:xfrm>
            <a:off x="6586728" y="4133088"/>
            <a:ext cx="1051560" cy="274320"/>
          </a:xfrm>
          <a:prstGeom prst="roundRect">
            <a:avLst>
              <a:gd name="adj" fmla="val 50000"/>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FEASIBLE</a:t>
            </a:r>
          </a:p>
        </p:txBody>
      </p:sp>
      <p:sp>
        <p:nvSpPr>
          <p:cNvPr id="30" name="TextBox 29"/>
          <p:cNvSpPr txBox="1"/>
          <p:nvPr/>
        </p:nvSpPr>
        <p:spPr>
          <a:xfrm>
            <a:off x="4578096" y="4507992"/>
            <a:ext cx="3005328" cy="1627632"/>
          </a:xfrm>
          <a:prstGeom prst="rect">
            <a:avLst/>
          </a:prstGeom>
          <a:noFill/>
        </p:spPr>
        <p:txBody>
          <a:bodyPr wrap="square" lIns="0" tIns="0" rIns="0" bIns="0">
            <a:spAutoFit/>
          </a:bodyPr>
          <a:lstStyle/>
          <a:p>
            <a:pPr algn="l">
              <a:lnSpc>
                <a:spcPct val="115000"/>
              </a:lnSpc>
              <a:spcBef>
                <a:spcPts val="0"/>
              </a:spcBef>
              <a:spcAft>
                <a:spcPts val="400"/>
              </a:spcAft>
            </a:pPr>
            <a:r>
              <a:rPr sz="1150" b="0" i="0">
                <a:solidFill>
                  <a:srgbClr val="637182"/>
                </a:solidFill>
                <a:latin typeface="Segoe UI"/>
              </a:rPr>
              <a:t>Test data only; credentials and real data kept out of GitHub.</a:t>
            </a:r>
          </a:p>
        </p:txBody>
      </p:sp>
      <p:sp>
        <p:nvSpPr>
          <p:cNvPr id="31" name="Rounded Rectangle 30"/>
          <p:cNvSpPr/>
          <p:nvPr/>
        </p:nvSpPr>
        <p:spPr>
          <a:xfrm>
            <a:off x="8077200" y="3995928"/>
            <a:ext cx="3444240" cy="228600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77200" y="3995928"/>
            <a:ext cx="54864" cy="2286000"/>
          </a:xfrm>
          <a:prstGeom prst="rect">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96656" y="4142232"/>
            <a:ext cx="300532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Ethical</a:t>
            </a:r>
          </a:p>
        </p:txBody>
      </p:sp>
      <p:sp>
        <p:nvSpPr>
          <p:cNvPr id="34" name="Rounded Rectangle 33"/>
          <p:cNvSpPr/>
          <p:nvPr/>
        </p:nvSpPr>
        <p:spPr>
          <a:xfrm>
            <a:off x="10305288" y="4133088"/>
            <a:ext cx="1051560" cy="274320"/>
          </a:xfrm>
          <a:prstGeom prst="roundRect">
            <a:avLst>
              <a:gd name="adj" fmla="val 50000"/>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FEASIBLE</a:t>
            </a:r>
          </a:p>
        </p:txBody>
      </p:sp>
      <p:sp>
        <p:nvSpPr>
          <p:cNvPr id="35" name="TextBox 34"/>
          <p:cNvSpPr txBox="1"/>
          <p:nvPr/>
        </p:nvSpPr>
        <p:spPr>
          <a:xfrm>
            <a:off x="8296656" y="4507992"/>
            <a:ext cx="3005328" cy="1627632"/>
          </a:xfrm>
          <a:prstGeom prst="rect">
            <a:avLst/>
          </a:prstGeom>
          <a:noFill/>
        </p:spPr>
        <p:txBody>
          <a:bodyPr wrap="square" lIns="0" tIns="0" rIns="0" bIns="0">
            <a:spAutoFit/>
          </a:bodyPr>
          <a:lstStyle/>
          <a:p>
            <a:pPr algn="l">
              <a:lnSpc>
                <a:spcPct val="115000"/>
              </a:lnSpc>
              <a:spcBef>
                <a:spcPts val="0"/>
              </a:spcBef>
              <a:spcAft>
                <a:spcPts val="400"/>
              </a:spcAft>
            </a:pPr>
            <a:r>
              <a:rPr sz="1150" b="0" i="0">
                <a:solidFill>
                  <a:srgbClr val="637182"/>
                </a:solidFill>
                <a:latin typeface="Segoe UI"/>
              </a:rPr>
              <a:t>Only necessary data collected; stakeholder needs accurately reflected.</a:t>
            </a:r>
          </a:p>
        </p:txBody>
      </p:sp>
      <p:sp>
        <p:nvSpPr>
          <p:cNvPr id="36" name="Rectangle 35"/>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38" name="TextBox 37"/>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Overall Feasibility Decision</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VERDICT: FEASIBLE WITH CHANGES</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4864" cy="384048"/>
          </a:xfrm>
          <a:prstGeom prst="rect">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536192"/>
            <a:ext cx="5166360" cy="457200"/>
          </a:xfrm>
          <a:prstGeom prst="rect">
            <a:avLst/>
          </a:prstGeom>
          <a:noFill/>
        </p:spPr>
        <p:txBody>
          <a:bodyPr wrap="square" lIns="0" tIns="0" rIns="0" bIns="0">
            <a:spAutoFit/>
          </a:bodyPr>
          <a:lstStyle/>
          <a:p>
            <a:pPr algn="l">
              <a:spcBef>
                <a:spcPts val="0"/>
              </a:spcBef>
              <a:spcAft>
                <a:spcPts val="400"/>
              </a:spcAft>
            </a:pPr>
            <a:r>
              <a:rPr sz="1700" b="1" i="0">
                <a:solidFill>
                  <a:srgbClr val="202A3A"/>
                </a:solidFill>
                <a:latin typeface="Segoe UI Semibold"/>
              </a:rPr>
              <a:t>Strengths</a:t>
            </a:r>
          </a:p>
        </p:txBody>
      </p:sp>
      <p:sp>
        <p:nvSpPr>
          <p:cNvPr id="8" name="TextBox 7"/>
          <p:cNvSpPr txBox="1"/>
          <p:nvPr/>
        </p:nvSpPr>
        <p:spPr>
          <a:xfrm>
            <a:off x="685800" y="2121408"/>
            <a:ext cx="5166360" cy="4297680"/>
          </a:xfrm>
          <a:prstGeom prst="rect">
            <a:avLst/>
          </a:prstGeom>
          <a:noFill/>
        </p:spPr>
        <p:txBody>
          <a:bodyPr wrap="square" lIns="0" tIns="0" rIns="0" bIns="0">
            <a:spAutoFit/>
          </a:bodyPr>
          <a:lstStyle/>
          <a:p>
            <a:pPr>
              <a:lnSpc>
                <a:spcPct val="112000"/>
              </a:lnSpc>
              <a:spcAft>
                <a:spcPts val="1000"/>
              </a:spcAft>
            </a:pPr>
            <a:r>
              <a:rPr sz="1350" b="1" i="0">
                <a:solidFill>
                  <a:srgbClr val="249B5E"/>
                </a:solidFill>
                <a:latin typeface="Segoe UI"/>
              </a:rPr>
              <a:t>•  </a:t>
            </a:r>
            <a:r>
              <a:rPr sz="1350" b="0" i="0">
                <a:solidFill>
                  <a:srgbClr val="202A3A"/>
                </a:solidFill>
                <a:latin typeface="Segoe UI"/>
              </a:rPr>
              <a:t>Core requirements directly address the stakeholder's real problems</a:t>
            </a:r>
          </a:p>
          <a:p>
            <a:pPr>
              <a:lnSpc>
                <a:spcPct val="112000"/>
              </a:lnSpc>
              <a:spcAft>
                <a:spcPts val="1000"/>
              </a:spcAft>
            </a:pPr>
            <a:r>
              <a:rPr sz="1350" b="1" i="0">
                <a:solidFill>
                  <a:srgbClr val="249B5E"/>
                </a:solidFill>
                <a:latin typeface="Segoe UI"/>
              </a:rPr>
              <a:t>•  </a:t>
            </a:r>
            <a:r>
              <a:rPr sz="1350" b="0" i="0">
                <a:solidFill>
                  <a:srgbClr val="202A3A"/>
                </a:solidFill>
                <a:latin typeface="Segoe UI"/>
              </a:rPr>
              <a:t>Team has ready access to required tools and equipment</a:t>
            </a:r>
          </a:p>
          <a:p>
            <a:pPr>
              <a:lnSpc>
                <a:spcPct val="112000"/>
              </a:lnSpc>
              <a:spcAft>
                <a:spcPts val="1000"/>
              </a:spcAft>
            </a:pPr>
            <a:r>
              <a:rPr sz="1350" b="1" i="0">
                <a:solidFill>
                  <a:srgbClr val="249B5E"/>
                </a:solidFill>
                <a:latin typeface="Segoe UI"/>
              </a:rPr>
              <a:t>•  </a:t>
            </a:r>
            <a:r>
              <a:rPr sz="1350" b="0" i="0">
                <a:solidFill>
                  <a:srgbClr val="202A3A"/>
                </a:solidFill>
                <a:latin typeface="Segoe UI"/>
              </a:rPr>
              <a:t>Flutter + ASP.NET is a strong fit for the web/mobile requirement</a:t>
            </a:r>
          </a:p>
          <a:p>
            <a:pPr>
              <a:lnSpc>
                <a:spcPct val="112000"/>
              </a:lnSpc>
              <a:spcAft>
                <a:spcPts val="1000"/>
              </a:spcAft>
            </a:pPr>
            <a:r>
              <a:rPr sz="1350" b="1" i="0">
                <a:solidFill>
                  <a:srgbClr val="249B5E"/>
                </a:solidFill>
                <a:latin typeface="Segoe UI"/>
              </a:rPr>
              <a:t>•  </a:t>
            </a:r>
            <a:r>
              <a:rPr sz="1350" b="0" i="0">
                <a:solidFill>
                  <a:srgbClr val="202A3A"/>
                </a:solidFill>
                <a:latin typeface="Segoe UI"/>
              </a:rPr>
              <a:t>Stakeholder communicates well and supports the vision</a:t>
            </a:r>
          </a:p>
        </p:txBody>
      </p:sp>
      <p:sp>
        <p:nvSpPr>
          <p:cNvPr id="9" name="Rectangle 8"/>
          <p:cNvSpPr/>
          <p:nvPr/>
        </p:nvSpPr>
        <p:spPr>
          <a:xfrm>
            <a:off x="6309360" y="1554480"/>
            <a:ext cx="54864" cy="384048"/>
          </a:xfrm>
          <a:prstGeom prst="rect">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8" y="1536192"/>
            <a:ext cx="5166360" cy="457200"/>
          </a:xfrm>
          <a:prstGeom prst="rect">
            <a:avLst/>
          </a:prstGeom>
          <a:noFill/>
        </p:spPr>
        <p:txBody>
          <a:bodyPr wrap="square" lIns="0" tIns="0" rIns="0" bIns="0">
            <a:spAutoFit/>
          </a:bodyPr>
          <a:lstStyle/>
          <a:p>
            <a:pPr algn="l">
              <a:spcBef>
                <a:spcPts val="0"/>
              </a:spcBef>
              <a:spcAft>
                <a:spcPts val="400"/>
              </a:spcAft>
            </a:pPr>
            <a:r>
              <a:rPr sz="1700" b="1" i="0">
                <a:solidFill>
                  <a:srgbClr val="202A3A"/>
                </a:solidFill>
                <a:latin typeface="Segoe UI Semibold"/>
              </a:rPr>
              <a:t>Limitations</a:t>
            </a:r>
          </a:p>
        </p:txBody>
      </p:sp>
      <p:sp>
        <p:nvSpPr>
          <p:cNvPr id="11" name="TextBox 10"/>
          <p:cNvSpPr txBox="1"/>
          <p:nvPr/>
        </p:nvSpPr>
        <p:spPr>
          <a:xfrm>
            <a:off x="6309360" y="2121408"/>
            <a:ext cx="5166360" cy="4297680"/>
          </a:xfrm>
          <a:prstGeom prst="rect">
            <a:avLst/>
          </a:prstGeom>
          <a:noFill/>
        </p:spPr>
        <p:txBody>
          <a:bodyPr wrap="square" lIns="0" tIns="0" rIns="0" bIns="0">
            <a:spAutoFit/>
          </a:bodyPr>
          <a:lstStyle/>
          <a:p>
            <a:pPr>
              <a:lnSpc>
                <a:spcPct val="112000"/>
              </a:lnSpc>
              <a:spcAft>
                <a:spcPts val="1000"/>
              </a:spcAft>
            </a:pPr>
            <a:r>
              <a:rPr sz="1350" b="1" i="0">
                <a:solidFill>
                  <a:srgbClr val="D94A3E"/>
                </a:solidFill>
                <a:latin typeface="Segoe UI"/>
              </a:rPr>
              <a:t>•  </a:t>
            </a:r>
            <a:r>
              <a:rPr sz="1350" b="0" i="0">
                <a:solidFill>
                  <a:srgbClr val="202A3A"/>
                </a:solidFill>
                <a:latin typeface="Segoe UI"/>
              </a:rPr>
              <a:t>The group must learn Supabase integration from a limited base</a:t>
            </a:r>
          </a:p>
          <a:p>
            <a:pPr>
              <a:lnSpc>
                <a:spcPct val="112000"/>
              </a:lnSpc>
              <a:spcAft>
                <a:spcPts val="1000"/>
              </a:spcAft>
            </a:pPr>
            <a:r>
              <a:rPr sz="1350" b="1" i="0">
                <a:solidFill>
                  <a:srgbClr val="D94A3E"/>
                </a:solidFill>
                <a:latin typeface="Segoe UI"/>
              </a:rPr>
              <a:t>•  </a:t>
            </a:r>
            <a:r>
              <a:rPr sz="1350" b="0" i="0">
                <a:solidFill>
                  <a:srgbClr val="202A3A"/>
                </a:solidFill>
                <a:latin typeface="Segoe UI"/>
              </a:rPr>
              <a:t>Bulk SMS notifications are too complex for the timeframe</a:t>
            </a:r>
          </a:p>
          <a:p>
            <a:pPr>
              <a:lnSpc>
                <a:spcPct val="112000"/>
              </a:lnSpc>
              <a:spcAft>
                <a:spcPts val="1000"/>
              </a:spcAft>
            </a:pPr>
            <a:r>
              <a:rPr sz="1350" b="1" i="0">
                <a:solidFill>
                  <a:srgbClr val="D94A3E"/>
                </a:solidFill>
                <a:latin typeface="Segoe UI"/>
              </a:rPr>
              <a:t>•  </a:t>
            </a:r>
            <a:r>
              <a:rPr sz="1350" b="0" i="0">
                <a:solidFill>
                  <a:srgbClr val="202A3A"/>
                </a:solidFill>
                <a:latin typeface="Segoe UI"/>
              </a:rPr>
              <a:t>Testing time must be actively managed, not left to the end</a:t>
            </a:r>
          </a:p>
        </p:txBody>
      </p:sp>
      <p:sp>
        <p:nvSpPr>
          <p:cNvPr id="12" name="Rectangle 11"/>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14" name="TextBox 13"/>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Path Forward</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REQUIRED CHANGES</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08760"/>
            <a:ext cx="10424160" cy="1920013"/>
          </a:xfrm>
          <a:prstGeom prst="rect">
            <a:avLst/>
          </a:prstGeom>
          <a:noFill/>
        </p:spPr>
        <p:txBody>
          <a:bodyPr wrap="square" lIns="0" tIns="0" rIns="0" bIns="0">
            <a:spAutoFit/>
          </a:bodyPr>
          <a:lstStyle/>
          <a:p>
            <a:pPr>
              <a:lnSpc>
                <a:spcPct val="115000"/>
              </a:lnSpc>
              <a:spcAft>
                <a:spcPts val="1200"/>
              </a:spcAft>
            </a:pPr>
            <a:r>
              <a:rPr sz="1500" b="1" i="0" dirty="0">
                <a:solidFill>
                  <a:srgbClr val="1E7A7E"/>
                </a:solidFill>
                <a:latin typeface="Segoe UI"/>
              </a:rPr>
              <a:t>•  </a:t>
            </a:r>
            <a:r>
              <a:rPr sz="1500" b="0" i="0" dirty="0">
                <a:solidFill>
                  <a:srgbClr val="202A3A"/>
                </a:solidFill>
                <a:latin typeface="Segoe UI"/>
              </a:rPr>
              <a:t>Remove the bulk SMS notification feature (NR5) from scope</a:t>
            </a:r>
          </a:p>
          <a:p>
            <a:pPr>
              <a:lnSpc>
                <a:spcPct val="115000"/>
              </a:lnSpc>
              <a:spcAft>
                <a:spcPts val="1200"/>
              </a:spcAft>
            </a:pPr>
            <a:r>
              <a:rPr sz="1500" b="1" i="0" dirty="0">
                <a:solidFill>
                  <a:srgbClr val="1E7A7E"/>
                </a:solidFill>
                <a:latin typeface="Segoe UI"/>
              </a:rPr>
              <a:t>•  </a:t>
            </a:r>
            <a:r>
              <a:rPr sz="1500" b="0" i="0" dirty="0">
                <a:solidFill>
                  <a:srgbClr val="202A3A"/>
                </a:solidFill>
                <a:latin typeface="Segoe UI"/>
              </a:rPr>
              <a:t>Prioritize learning </a:t>
            </a:r>
            <a:r>
              <a:rPr sz="1500" b="0" i="0" dirty="0" err="1">
                <a:solidFill>
                  <a:srgbClr val="202A3A"/>
                </a:solidFill>
                <a:latin typeface="Segoe UI"/>
              </a:rPr>
              <a:t>Supabase</a:t>
            </a:r>
            <a:r>
              <a:rPr sz="1500" b="0" i="0" dirty="0">
                <a:solidFill>
                  <a:srgbClr val="202A3A"/>
                </a:solidFill>
                <a:latin typeface="Segoe UI"/>
              </a:rPr>
              <a:t> integration very early in development</a:t>
            </a:r>
          </a:p>
          <a:p>
            <a:pPr>
              <a:lnSpc>
                <a:spcPct val="115000"/>
              </a:lnSpc>
              <a:spcAft>
                <a:spcPts val="1200"/>
              </a:spcAft>
            </a:pPr>
            <a:r>
              <a:rPr sz="1500" b="1" i="0" dirty="0">
                <a:solidFill>
                  <a:srgbClr val="1E7A7E"/>
                </a:solidFill>
                <a:latin typeface="Segoe UI"/>
              </a:rPr>
              <a:t>•  </a:t>
            </a:r>
            <a:r>
              <a:rPr sz="1500" b="0" i="0" dirty="0">
                <a:solidFill>
                  <a:srgbClr val="202A3A"/>
                </a:solidFill>
                <a:latin typeface="Segoe UI"/>
              </a:rPr>
              <a:t>Start integration testing early </a:t>
            </a:r>
            <a:r>
              <a:rPr lang="en-GB" sz="1500" b="0" i="0" dirty="0">
                <a:solidFill>
                  <a:srgbClr val="202A3A"/>
                </a:solidFill>
                <a:latin typeface="Segoe UI"/>
              </a:rPr>
              <a:t>-</a:t>
            </a:r>
            <a:r>
              <a:rPr sz="1500" b="0" i="0" dirty="0">
                <a:solidFill>
                  <a:srgbClr val="202A3A"/>
                </a:solidFill>
                <a:latin typeface="Segoe UI"/>
              </a:rPr>
              <a:t> run it throughout development, not just at the end</a:t>
            </a:r>
          </a:p>
          <a:p>
            <a:pPr>
              <a:lnSpc>
                <a:spcPct val="115000"/>
              </a:lnSpc>
              <a:spcAft>
                <a:spcPts val="1200"/>
              </a:spcAft>
            </a:pPr>
            <a:r>
              <a:rPr sz="1500" b="1" i="0" dirty="0">
                <a:solidFill>
                  <a:srgbClr val="1E7A7E"/>
                </a:solidFill>
                <a:latin typeface="Segoe UI"/>
              </a:rPr>
              <a:t>•  </a:t>
            </a:r>
            <a:r>
              <a:rPr sz="1500" b="0" i="0" dirty="0">
                <a:solidFill>
                  <a:srgbClr val="202A3A"/>
                </a:solidFill>
                <a:latin typeface="Segoe UI"/>
              </a:rPr>
              <a:t>Focus on core / required features first before enhancements</a:t>
            </a:r>
          </a:p>
          <a:p>
            <a:pPr>
              <a:lnSpc>
                <a:spcPct val="115000"/>
              </a:lnSpc>
              <a:spcAft>
                <a:spcPts val="1200"/>
              </a:spcAft>
            </a:pPr>
            <a:r>
              <a:rPr sz="1500" b="1" i="0" dirty="0">
                <a:solidFill>
                  <a:srgbClr val="1E7A7E"/>
                </a:solidFill>
                <a:latin typeface="Segoe UI"/>
              </a:rPr>
              <a:t>•  </a:t>
            </a:r>
            <a:r>
              <a:rPr sz="1500" b="0" i="0" dirty="0">
                <a:solidFill>
                  <a:srgbClr val="202A3A"/>
                </a:solidFill>
                <a:latin typeface="Segoe UI"/>
              </a:rPr>
              <a:t>Review and adjust the schedule on a regular, recurring basis</a:t>
            </a: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16328"/>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05</a:t>
            </a:r>
          </a:p>
        </p:txBody>
      </p:sp>
      <p:sp>
        <p:nvSpPr>
          <p:cNvPr id="5" name="TextBox 4"/>
          <p:cNvSpPr txBox="1"/>
          <p:nvPr/>
        </p:nvSpPr>
        <p:spPr>
          <a:xfrm>
            <a:off x="640080" y="3063240"/>
            <a:ext cx="10607040" cy="1463040"/>
          </a:xfrm>
          <a:prstGeom prst="rect">
            <a:avLst/>
          </a:prstGeom>
          <a:noFill/>
        </p:spPr>
        <p:txBody>
          <a:bodyPr wrap="square" lIns="0" tIns="0" rIns="0" bIns="0">
            <a:spAutoFit/>
          </a:bodyPr>
          <a:lstStyle/>
          <a:p>
            <a:pPr algn="l">
              <a:spcBef>
                <a:spcPts val="0"/>
              </a:spcBef>
              <a:spcAft>
                <a:spcPts val="400"/>
              </a:spcAft>
            </a:pPr>
            <a:r>
              <a:rPr sz="3800" b="1" i="0">
                <a:solidFill>
                  <a:srgbClr val="FFFFFF"/>
                </a:solidFill>
                <a:latin typeface="Segoe UI Semibold"/>
              </a:rPr>
              <a:t>Risk Management &amp; SWOT</a:t>
            </a:r>
          </a:p>
        </p:txBody>
      </p:sp>
      <p:sp>
        <p:nvSpPr>
          <p:cNvPr id="6" name="TextBox 5"/>
          <p:cNvSpPr txBox="1"/>
          <p:nvPr/>
        </p:nvSpPr>
        <p:spPr>
          <a:xfrm>
            <a:off x="640080" y="3977639"/>
            <a:ext cx="9601200" cy="606641"/>
          </a:xfrm>
          <a:prstGeom prst="rect">
            <a:avLst/>
          </a:prstGeom>
          <a:noFill/>
        </p:spPr>
        <p:txBody>
          <a:bodyPr wrap="square" lIns="0" tIns="0" rIns="0" bIns="0">
            <a:spAutoFit/>
          </a:bodyPr>
          <a:lstStyle/>
          <a:p>
            <a:pPr algn="l">
              <a:lnSpc>
                <a:spcPct val="130000"/>
              </a:lnSpc>
              <a:spcBef>
                <a:spcPts val="0"/>
              </a:spcBef>
              <a:spcAft>
                <a:spcPts val="400"/>
              </a:spcAft>
            </a:pPr>
            <a:r>
              <a:rPr sz="1600" b="0" i="0" dirty="0">
                <a:solidFill>
                  <a:srgbClr val="B9C8DA"/>
                </a:solidFill>
                <a:latin typeface="Segoe UI"/>
              </a:rPr>
              <a:t>13 identified risks scored, owned, and paired with mitigation and contingency plans, coordinated with the standalone Project Risk Register</a:t>
            </a:r>
            <a:r>
              <a:rPr lang="en-GB" sz="1600" b="0" i="0" dirty="0">
                <a:solidFill>
                  <a:srgbClr val="B9C8DA"/>
                </a:solidFill>
                <a:latin typeface="Segoe UI"/>
              </a:rPr>
              <a:t>. </a:t>
            </a:r>
            <a:r>
              <a:rPr lang="en-GB" sz="1600" dirty="0">
                <a:solidFill>
                  <a:srgbClr val="B9C8DA"/>
                </a:solidFill>
                <a:latin typeface="Segoe UI"/>
              </a:rPr>
              <a:t>C</a:t>
            </a:r>
            <a:r>
              <a:rPr sz="1600" b="0" i="0" dirty="0">
                <a:solidFill>
                  <a:srgbClr val="B9C8DA"/>
                </a:solidFill>
                <a:latin typeface="Segoe UI"/>
              </a:rPr>
              <a:t>losing with a SWOT analysis of the project overall.</a:t>
            </a: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Risk Register — All 13 Risks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FULL REGISTER</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045647716"/>
              </p:ext>
            </p:extLst>
          </p:nvPr>
        </p:nvGraphicFramePr>
        <p:xfrm>
          <a:off x="640080" y="1463040"/>
          <a:ext cx="10881360" cy="4544568"/>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24612">
                <a:tc>
                  <a:txBody>
                    <a:bodyPr/>
                    <a:lstStyle/>
                    <a:p>
                      <a:pPr algn="ctr"/>
                      <a:r>
                        <a:rPr sz="1150" b="1" i="0">
                          <a:solidFill>
                            <a:srgbClr val="FFFFFF"/>
                          </a:solidFill>
                          <a:latin typeface="Segoe UI Semibold"/>
                        </a:rPr>
                        <a:t>ID</a:t>
                      </a:r>
                    </a:p>
                  </a:txBody>
                  <a:tcPr marL="73152" marR="73152" marT="36576" marB="36576" anchor="ctr">
                    <a:solidFill>
                      <a:srgbClr val="12233F"/>
                    </a:solidFill>
                  </a:tcPr>
                </a:tc>
                <a:tc>
                  <a:txBody>
                    <a:bodyPr/>
                    <a:lstStyle/>
                    <a:p>
                      <a:pPr algn="l"/>
                      <a:r>
                        <a:rPr sz="1150" b="1" i="0">
                          <a:solidFill>
                            <a:srgbClr val="FFFFFF"/>
                          </a:solidFill>
                          <a:latin typeface="Segoe UI Semibold"/>
                        </a:rPr>
                        <a:t>Risk</a:t>
                      </a:r>
                    </a:p>
                  </a:txBody>
                  <a:tcPr marL="73152" marR="73152" marT="36576" marB="36576" anchor="ctr">
                    <a:solidFill>
                      <a:srgbClr val="12233F"/>
                    </a:solidFill>
                  </a:tcPr>
                </a:tc>
                <a:tc>
                  <a:txBody>
                    <a:bodyPr/>
                    <a:lstStyle/>
                    <a:p>
                      <a:pPr algn="ctr"/>
                      <a:r>
                        <a:rPr sz="1150" b="1" i="0">
                          <a:solidFill>
                            <a:srgbClr val="FFFFFF"/>
                          </a:solidFill>
                          <a:latin typeface="Segoe UI Semibold"/>
                        </a:rPr>
                        <a:t>L</a:t>
                      </a:r>
                    </a:p>
                  </a:txBody>
                  <a:tcPr marL="73152" marR="73152" marT="36576" marB="36576" anchor="ctr">
                    <a:solidFill>
                      <a:srgbClr val="12233F"/>
                    </a:solidFill>
                  </a:tcPr>
                </a:tc>
                <a:tc>
                  <a:txBody>
                    <a:bodyPr/>
                    <a:lstStyle/>
                    <a:p>
                      <a:pPr algn="ctr"/>
                      <a:r>
                        <a:rPr sz="1150" b="1" i="0">
                          <a:solidFill>
                            <a:srgbClr val="FFFFFF"/>
                          </a:solidFill>
                          <a:latin typeface="Segoe UI Semibold"/>
                        </a:rPr>
                        <a:t>I</a:t>
                      </a:r>
                    </a:p>
                  </a:txBody>
                  <a:tcPr marL="73152" marR="73152" marT="36576" marB="36576" anchor="ctr">
                    <a:solidFill>
                      <a:srgbClr val="12233F"/>
                    </a:solidFill>
                  </a:tcPr>
                </a:tc>
                <a:tc>
                  <a:txBody>
                    <a:bodyPr/>
                    <a:lstStyle/>
                    <a:p>
                      <a:pPr algn="ctr"/>
                      <a:r>
                        <a:rPr sz="1150" b="1" i="0">
                          <a:solidFill>
                            <a:srgbClr val="FFFFFF"/>
                          </a:solidFill>
                          <a:latin typeface="Segoe UI Semibold"/>
                        </a:rPr>
                        <a:t>Score</a:t>
                      </a:r>
                    </a:p>
                  </a:txBody>
                  <a:tcPr marL="73152" marR="73152" marT="36576" marB="36576" anchor="ctr">
                    <a:solidFill>
                      <a:srgbClr val="12233F"/>
                    </a:solidFill>
                  </a:tcPr>
                </a:tc>
                <a:tc>
                  <a:txBody>
                    <a:bodyPr/>
                    <a:lstStyle/>
                    <a:p>
                      <a:pPr algn="ctr"/>
                      <a:r>
                        <a:rPr sz="1150" b="1" i="0">
                          <a:solidFill>
                            <a:srgbClr val="FFFFFF"/>
                          </a:solidFill>
                          <a:latin typeface="Segoe UI Semibold"/>
                        </a:rPr>
                        <a:t>Level</a:t>
                      </a:r>
                    </a:p>
                  </a:txBody>
                  <a:tcPr marL="73152" marR="73152" marT="36576" marB="36576" anchor="ctr">
                    <a:solidFill>
                      <a:srgbClr val="12233F"/>
                    </a:solidFill>
                  </a:tcPr>
                </a:tc>
                <a:extLst>
                  <a:ext uri="{0D108BD9-81ED-4DB2-BD59-A6C34878D82A}">
                    <a16:rowId xmlns:a16="http://schemas.microsoft.com/office/drawing/2014/main" val="10000"/>
                  </a:ext>
                </a:extLst>
              </a:tr>
              <a:tr h="324612">
                <a:tc>
                  <a:txBody>
                    <a:bodyPr/>
                    <a:lstStyle/>
                    <a:p>
                      <a:pPr algn="ctr"/>
                      <a:r>
                        <a:rPr sz="1050" b="1" i="0">
                          <a:solidFill>
                            <a:srgbClr val="202A3A"/>
                          </a:solidFill>
                          <a:latin typeface="Segoe UI"/>
                        </a:rPr>
                        <a:t>R1</a:t>
                      </a:r>
                    </a:p>
                  </a:txBody>
                  <a:tcPr marL="73152" marR="73152" marT="36576" marB="36576" anchor="ctr">
                    <a:solidFill>
                      <a:srgbClr val="FFFFFF"/>
                    </a:solidFill>
                  </a:tcPr>
                </a:tc>
                <a:tc>
                  <a:txBody>
                    <a:bodyPr/>
                    <a:lstStyle/>
                    <a:p>
                      <a:pPr algn="l"/>
                      <a:r>
                        <a:rPr sz="1050" b="0" i="0" dirty="0" err="1">
                          <a:solidFill>
                            <a:srgbClr val="202A3A"/>
                          </a:solidFill>
                          <a:latin typeface="Segoe UI"/>
                        </a:rPr>
                        <a:t>Supabase</a:t>
                      </a:r>
                      <a:r>
                        <a:rPr sz="1050" b="0" i="0" dirty="0">
                          <a:solidFill>
                            <a:srgbClr val="202A3A"/>
                          </a:solidFill>
                          <a:latin typeface="Segoe UI"/>
                        </a:rPr>
                        <a:t> Integration </a:t>
                      </a:r>
                      <a:r>
                        <a:rPr lang="en-GB" sz="1050" b="0" i="0" dirty="0">
                          <a:solidFill>
                            <a:srgbClr val="202A3A"/>
                          </a:solidFill>
                          <a:latin typeface="Segoe UI"/>
                        </a:rPr>
                        <a:t>-</a:t>
                      </a:r>
                      <a:r>
                        <a:rPr sz="1050" b="0" i="0" dirty="0">
                          <a:solidFill>
                            <a:srgbClr val="202A3A"/>
                          </a:solidFill>
                          <a:latin typeface="Segoe UI"/>
                        </a:rPr>
                        <a:t> API changes, downtime, or implementation difficulty</a:t>
                      </a:r>
                    </a:p>
                  </a:txBody>
                  <a:tcPr marL="73152" marR="73152" marT="36576" marB="36576" anchor="ctr">
                    <a:solidFill>
                      <a:srgbClr val="FFFFFF"/>
                    </a:solidFill>
                  </a:tcPr>
                </a:tc>
                <a:tc>
                  <a:txBody>
                    <a:bodyPr/>
                    <a:lstStyle/>
                    <a:p>
                      <a:pPr algn="ctr"/>
                      <a:r>
                        <a:rPr sz="1050" b="0" i="0">
                          <a:solidFill>
                            <a:srgbClr val="202A3A"/>
                          </a:solidFill>
                          <a:latin typeface="Segoe UI"/>
                        </a:rPr>
                        <a:t>2</a:t>
                      </a: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1" i="0">
                          <a:solidFill>
                            <a:srgbClr val="202A3A"/>
                          </a:solidFill>
                          <a:latin typeface="Segoe UI"/>
                        </a:rPr>
                        <a:t>6</a:t>
                      </a:r>
                    </a:p>
                  </a:txBody>
                  <a:tcPr marL="73152" marR="73152" marT="36576" marB="36576" anchor="ctr">
                    <a:solidFill>
                      <a:srgbClr val="FFFFFF"/>
                    </a:solidFill>
                  </a:tcPr>
                </a:tc>
                <a:tc>
                  <a:txBody>
                    <a:bodyPr/>
                    <a:lstStyle/>
                    <a:p>
                      <a:pPr algn="ctr"/>
                      <a:r>
                        <a:rPr sz="1000" b="1" i="0">
                          <a:solidFill>
                            <a:srgbClr val="E88A2E"/>
                          </a:solidFill>
                          <a:latin typeface="Segoe UI"/>
                        </a:rPr>
                        <a:t>HIGH</a:t>
                      </a:r>
                    </a:p>
                  </a:txBody>
                  <a:tcPr marL="73152" marR="73152" marT="36576" marB="36576" anchor="ctr">
                    <a:solidFill>
                      <a:srgbClr val="FFFFFF"/>
                    </a:solidFill>
                  </a:tcPr>
                </a:tc>
                <a:extLst>
                  <a:ext uri="{0D108BD9-81ED-4DB2-BD59-A6C34878D82A}">
                    <a16:rowId xmlns:a16="http://schemas.microsoft.com/office/drawing/2014/main" val="10001"/>
                  </a:ext>
                </a:extLst>
              </a:tr>
              <a:tr h="324612">
                <a:tc>
                  <a:txBody>
                    <a:bodyPr/>
                    <a:lstStyle/>
                    <a:p>
                      <a:pPr algn="ctr"/>
                      <a:r>
                        <a:rPr sz="1050" b="1" i="0">
                          <a:solidFill>
                            <a:srgbClr val="202A3A"/>
                          </a:solidFill>
                          <a:latin typeface="Segoe UI"/>
                        </a:rPr>
                        <a:t>R2</a:t>
                      </a:r>
                    </a:p>
                  </a:txBody>
                  <a:tcPr marL="73152" marR="73152" marT="36576" marB="36576" anchor="ctr">
                    <a:solidFill>
                      <a:srgbClr val="F6F8FB"/>
                    </a:solidFill>
                  </a:tcPr>
                </a:tc>
                <a:tc>
                  <a:txBody>
                    <a:bodyPr/>
                    <a:lstStyle/>
                    <a:p>
                      <a:pPr algn="l"/>
                      <a:r>
                        <a:rPr sz="1050" b="0" i="0" dirty="0">
                          <a:solidFill>
                            <a:srgbClr val="202A3A"/>
                          </a:solidFill>
                          <a:latin typeface="Segoe UI"/>
                        </a:rPr>
                        <a:t>Stakeholder Disengagement </a:t>
                      </a:r>
                      <a:r>
                        <a:rPr lang="en-GB" sz="1050" b="0" i="0" dirty="0">
                          <a:solidFill>
                            <a:srgbClr val="202A3A"/>
                          </a:solidFill>
                          <a:latin typeface="Segoe UI"/>
                        </a:rPr>
                        <a:t>-</a:t>
                      </a:r>
                      <a:r>
                        <a:rPr sz="1050" b="0" i="0" dirty="0">
                          <a:solidFill>
                            <a:srgbClr val="202A3A"/>
                          </a:solidFill>
                          <a:latin typeface="Segoe UI"/>
                        </a:rPr>
                        <a:t> </a:t>
                      </a:r>
                      <a:r>
                        <a:rPr lang="en-GB" sz="1050" b="0" i="0" dirty="0">
                          <a:solidFill>
                            <a:srgbClr val="202A3A"/>
                          </a:solidFill>
                          <a:latin typeface="Segoe UI"/>
                        </a:rPr>
                        <a:t>Bad</a:t>
                      </a:r>
                      <a:r>
                        <a:rPr sz="1050" b="0" i="0" dirty="0">
                          <a:solidFill>
                            <a:srgbClr val="202A3A"/>
                          </a:solidFill>
                          <a:latin typeface="Segoe UI"/>
                        </a:rPr>
                        <a:t> engagement weakens </a:t>
                      </a:r>
                      <a:r>
                        <a:rPr lang="en-GB" sz="1050" b="0" i="0" dirty="0">
                          <a:solidFill>
                            <a:srgbClr val="202A3A"/>
                          </a:solidFill>
                          <a:latin typeface="Segoe UI"/>
                        </a:rPr>
                        <a:t>stakeholder interest</a:t>
                      </a:r>
                      <a:endParaRPr sz="1050" b="0" i="0" dirty="0">
                        <a:solidFill>
                          <a:srgbClr val="202A3A"/>
                        </a:solidFill>
                        <a:latin typeface="Segoe UI"/>
                      </a:endParaRPr>
                    </a:p>
                  </a:txBody>
                  <a:tcPr marL="73152" marR="73152" marT="36576" marB="36576" anchor="ctr">
                    <a:solidFill>
                      <a:srgbClr val="F6F8FB"/>
                    </a:solidFill>
                  </a:tcPr>
                </a:tc>
                <a:tc>
                  <a:txBody>
                    <a:bodyPr/>
                    <a:lstStyle/>
                    <a:p>
                      <a:pPr algn="ctr"/>
                      <a:r>
                        <a:rPr sz="1050" b="0" i="0">
                          <a:solidFill>
                            <a:srgbClr val="202A3A"/>
                          </a:solidFill>
                          <a:latin typeface="Segoe UI"/>
                        </a:rPr>
                        <a:t>2</a:t>
                      </a:r>
                    </a:p>
                  </a:txBody>
                  <a:tcPr marL="73152" marR="73152" marT="36576" marB="36576" anchor="ctr">
                    <a:solidFill>
                      <a:srgbClr val="F6F8FB"/>
                    </a:solidFill>
                  </a:tcPr>
                </a:tc>
                <a:tc>
                  <a:txBody>
                    <a:bodyPr/>
                    <a:lstStyle/>
                    <a:p>
                      <a:pPr algn="ctr"/>
                      <a:r>
                        <a:rPr sz="1050" b="0" i="0">
                          <a:solidFill>
                            <a:srgbClr val="202A3A"/>
                          </a:solidFill>
                          <a:latin typeface="Segoe UI"/>
                        </a:rPr>
                        <a:t>2</a:t>
                      </a:r>
                    </a:p>
                  </a:txBody>
                  <a:tcPr marL="73152" marR="73152" marT="36576" marB="36576" anchor="ctr">
                    <a:solidFill>
                      <a:srgbClr val="F6F8FB"/>
                    </a:solidFill>
                  </a:tcPr>
                </a:tc>
                <a:tc>
                  <a:txBody>
                    <a:bodyPr/>
                    <a:lstStyle/>
                    <a:p>
                      <a:pPr algn="ctr"/>
                      <a:r>
                        <a:rPr sz="1050" b="1" i="0">
                          <a:solidFill>
                            <a:srgbClr val="202A3A"/>
                          </a:solidFill>
                          <a:latin typeface="Segoe UI"/>
                        </a:rPr>
                        <a:t>4</a:t>
                      </a:r>
                    </a:p>
                  </a:txBody>
                  <a:tcPr marL="73152" marR="73152" marT="36576" marB="36576" anchor="ctr">
                    <a:solidFill>
                      <a:srgbClr val="F6F8FB"/>
                    </a:solidFill>
                  </a:tcPr>
                </a:tc>
                <a:tc>
                  <a:txBody>
                    <a:bodyPr/>
                    <a:lstStyle/>
                    <a:p>
                      <a:pPr algn="ctr"/>
                      <a:r>
                        <a:rPr sz="1000" b="1" i="0">
                          <a:solidFill>
                            <a:srgbClr val="C28A12"/>
                          </a:solidFill>
                          <a:latin typeface="Segoe UI"/>
                        </a:rPr>
                        <a:t>MEDIUM</a:t>
                      </a:r>
                    </a:p>
                  </a:txBody>
                  <a:tcPr marL="73152" marR="73152" marT="36576" marB="36576" anchor="ctr">
                    <a:solidFill>
                      <a:srgbClr val="F6F8FB"/>
                    </a:solidFill>
                  </a:tcPr>
                </a:tc>
                <a:extLst>
                  <a:ext uri="{0D108BD9-81ED-4DB2-BD59-A6C34878D82A}">
                    <a16:rowId xmlns:a16="http://schemas.microsoft.com/office/drawing/2014/main" val="10002"/>
                  </a:ext>
                </a:extLst>
              </a:tr>
              <a:tr h="324612">
                <a:tc>
                  <a:txBody>
                    <a:bodyPr/>
                    <a:lstStyle/>
                    <a:p>
                      <a:pPr algn="ctr"/>
                      <a:r>
                        <a:rPr sz="1050" b="1" i="0">
                          <a:solidFill>
                            <a:srgbClr val="202A3A"/>
                          </a:solidFill>
                          <a:latin typeface="Segoe UI"/>
                        </a:rPr>
                        <a:t>R3</a:t>
                      </a:r>
                    </a:p>
                  </a:txBody>
                  <a:tcPr marL="73152" marR="73152" marT="36576" marB="36576" anchor="ctr">
                    <a:solidFill>
                      <a:srgbClr val="FFFFFF"/>
                    </a:solidFill>
                  </a:tcPr>
                </a:tc>
                <a:tc>
                  <a:txBody>
                    <a:bodyPr/>
                    <a:lstStyle/>
                    <a:p>
                      <a:pPr algn="l"/>
                      <a:r>
                        <a:rPr sz="1050" b="0" i="0" dirty="0">
                          <a:solidFill>
                            <a:srgbClr val="202A3A"/>
                          </a:solidFill>
                          <a:latin typeface="Segoe UI"/>
                        </a:rPr>
                        <a:t>Stakeholder-Team Communication </a:t>
                      </a:r>
                      <a:r>
                        <a:rPr lang="en-GB" sz="1050" b="0" i="0" dirty="0">
                          <a:solidFill>
                            <a:srgbClr val="202A3A"/>
                          </a:solidFill>
                          <a:latin typeface="Segoe UI"/>
                        </a:rPr>
                        <a:t>-</a:t>
                      </a:r>
                      <a:r>
                        <a:rPr sz="1050" b="0" i="0" dirty="0">
                          <a:solidFill>
                            <a:srgbClr val="202A3A"/>
                          </a:solidFill>
                          <a:latin typeface="Segoe UI"/>
                        </a:rPr>
                        <a:t> unclear </a:t>
                      </a:r>
                      <a:r>
                        <a:rPr lang="en-GB" sz="1050" b="0" i="0" dirty="0">
                          <a:solidFill>
                            <a:srgbClr val="202A3A"/>
                          </a:solidFill>
                          <a:latin typeface="Segoe UI"/>
                        </a:rPr>
                        <a:t>communications</a:t>
                      </a:r>
                      <a:r>
                        <a:rPr sz="1050" b="0" i="0" dirty="0">
                          <a:solidFill>
                            <a:srgbClr val="202A3A"/>
                          </a:solidFill>
                          <a:latin typeface="Segoe UI"/>
                        </a:rPr>
                        <a:t> cause rework</a:t>
                      </a:r>
                    </a:p>
                  </a:txBody>
                  <a:tcPr marL="73152" marR="73152" marT="36576" marB="36576" anchor="ctr">
                    <a:solidFill>
                      <a:srgbClr val="FFFFFF"/>
                    </a:solidFill>
                  </a:tcPr>
                </a:tc>
                <a:tc>
                  <a:txBody>
                    <a:bodyPr/>
                    <a:lstStyle/>
                    <a:p>
                      <a:pPr algn="ctr"/>
                      <a:r>
                        <a:rPr sz="1050" b="0" i="0">
                          <a:solidFill>
                            <a:srgbClr val="202A3A"/>
                          </a:solidFill>
                          <a:latin typeface="Segoe UI"/>
                        </a:rPr>
                        <a:t>2</a:t>
                      </a: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1" i="0">
                          <a:solidFill>
                            <a:srgbClr val="202A3A"/>
                          </a:solidFill>
                          <a:latin typeface="Segoe UI"/>
                        </a:rPr>
                        <a:t>6</a:t>
                      </a:r>
                    </a:p>
                  </a:txBody>
                  <a:tcPr marL="73152" marR="73152" marT="36576" marB="36576" anchor="ctr">
                    <a:solidFill>
                      <a:srgbClr val="FFFFFF"/>
                    </a:solidFill>
                  </a:tcPr>
                </a:tc>
                <a:tc>
                  <a:txBody>
                    <a:bodyPr/>
                    <a:lstStyle/>
                    <a:p>
                      <a:pPr algn="ctr"/>
                      <a:r>
                        <a:rPr sz="1000" b="1" i="0">
                          <a:solidFill>
                            <a:srgbClr val="E88A2E"/>
                          </a:solidFill>
                          <a:latin typeface="Segoe UI"/>
                        </a:rPr>
                        <a:t>HIGH</a:t>
                      </a:r>
                    </a:p>
                  </a:txBody>
                  <a:tcPr marL="73152" marR="73152" marT="36576" marB="36576" anchor="ctr">
                    <a:solidFill>
                      <a:srgbClr val="FFFFFF"/>
                    </a:solidFill>
                  </a:tcPr>
                </a:tc>
                <a:extLst>
                  <a:ext uri="{0D108BD9-81ED-4DB2-BD59-A6C34878D82A}">
                    <a16:rowId xmlns:a16="http://schemas.microsoft.com/office/drawing/2014/main" val="10003"/>
                  </a:ext>
                </a:extLst>
              </a:tr>
              <a:tr h="324612">
                <a:tc>
                  <a:txBody>
                    <a:bodyPr/>
                    <a:lstStyle/>
                    <a:p>
                      <a:pPr algn="ctr"/>
                      <a:r>
                        <a:rPr sz="1050" b="1" i="0">
                          <a:solidFill>
                            <a:srgbClr val="202A3A"/>
                          </a:solidFill>
                          <a:latin typeface="Segoe UI"/>
                        </a:rPr>
                        <a:t>R4</a:t>
                      </a:r>
                    </a:p>
                  </a:txBody>
                  <a:tcPr marL="73152" marR="73152" marT="36576" marB="36576" anchor="ctr">
                    <a:solidFill>
                      <a:srgbClr val="F6F8FB"/>
                    </a:solidFill>
                  </a:tcPr>
                </a:tc>
                <a:tc>
                  <a:txBody>
                    <a:bodyPr/>
                    <a:lstStyle/>
                    <a:p>
                      <a:pPr algn="l"/>
                      <a:r>
                        <a:rPr sz="1050" b="0" i="0" dirty="0">
                          <a:solidFill>
                            <a:srgbClr val="202A3A"/>
                          </a:solidFill>
                          <a:latin typeface="Segoe UI"/>
                        </a:rPr>
                        <a:t>Team Coordination </a:t>
                      </a:r>
                      <a:r>
                        <a:rPr lang="en-GB" sz="1050" b="0" i="0" dirty="0">
                          <a:solidFill>
                            <a:srgbClr val="202A3A"/>
                          </a:solidFill>
                          <a:latin typeface="Segoe UI"/>
                        </a:rPr>
                        <a:t>-</a:t>
                      </a:r>
                      <a:r>
                        <a:rPr sz="1050" b="0" i="0" dirty="0">
                          <a:solidFill>
                            <a:srgbClr val="202A3A"/>
                          </a:solidFill>
                          <a:latin typeface="Segoe UI"/>
                        </a:rPr>
                        <a:t> gaps in ownership/handoff cause delays</a:t>
                      </a:r>
                    </a:p>
                  </a:txBody>
                  <a:tcPr marL="73152" marR="73152" marT="36576" marB="36576" anchor="ctr">
                    <a:solidFill>
                      <a:srgbClr val="F6F8FB"/>
                    </a:solidFill>
                  </a:tcPr>
                </a:tc>
                <a:tc>
                  <a:txBody>
                    <a:bodyPr/>
                    <a:lstStyle/>
                    <a:p>
                      <a:pPr algn="ctr"/>
                      <a:r>
                        <a:rPr sz="1050" b="0" i="0">
                          <a:solidFill>
                            <a:srgbClr val="202A3A"/>
                          </a:solidFill>
                          <a:latin typeface="Segoe UI"/>
                        </a:rPr>
                        <a:t>2</a:t>
                      </a:r>
                    </a:p>
                  </a:txBody>
                  <a:tcPr marL="73152" marR="73152" marT="36576" marB="36576" anchor="ctr">
                    <a:solidFill>
                      <a:srgbClr val="F6F8FB"/>
                    </a:solidFill>
                  </a:tcPr>
                </a:tc>
                <a:tc>
                  <a:txBody>
                    <a:bodyPr/>
                    <a:lstStyle/>
                    <a:p>
                      <a:pPr algn="ctr"/>
                      <a:r>
                        <a:rPr sz="1050" b="0" i="0">
                          <a:solidFill>
                            <a:srgbClr val="202A3A"/>
                          </a:solidFill>
                          <a:latin typeface="Segoe UI"/>
                        </a:rPr>
                        <a:t>2</a:t>
                      </a:r>
                    </a:p>
                  </a:txBody>
                  <a:tcPr marL="73152" marR="73152" marT="36576" marB="36576" anchor="ctr">
                    <a:solidFill>
                      <a:srgbClr val="F6F8FB"/>
                    </a:solidFill>
                  </a:tcPr>
                </a:tc>
                <a:tc>
                  <a:txBody>
                    <a:bodyPr/>
                    <a:lstStyle/>
                    <a:p>
                      <a:pPr algn="ctr"/>
                      <a:r>
                        <a:rPr sz="1050" b="1" i="0">
                          <a:solidFill>
                            <a:srgbClr val="202A3A"/>
                          </a:solidFill>
                          <a:latin typeface="Segoe UI"/>
                        </a:rPr>
                        <a:t>4</a:t>
                      </a:r>
                    </a:p>
                  </a:txBody>
                  <a:tcPr marL="73152" marR="73152" marT="36576" marB="36576" anchor="ctr">
                    <a:solidFill>
                      <a:srgbClr val="F6F8FB"/>
                    </a:solidFill>
                  </a:tcPr>
                </a:tc>
                <a:tc>
                  <a:txBody>
                    <a:bodyPr/>
                    <a:lstStyle/>
                    <a:p>
                      <a:pPr algn="ctr"/>
                      <a:r>
                        <a:rPr sz="1000" b="1" i="0">
                          <a:solidFill>
                            <a:srgbClr val="C28A12"/>
                          </a:solidFill>
                          <a:latin typeface="Segoe UI"/>
                        </a:rPr>
                        <a:t>MEDIUM</a:t>
                      </a:r>
                    </a:p>
                  </a:txBody>
                  <a:tcPr marL="73152" marR="73152" marT="36576" marB="36576" anchor="ctr">
                    <a:solidFill>
                      <a:srgbClr val="F6F8FB"/>
                    </a:solidFill>
                  </a:tcPr>
                </a:tc>
                <a:extLst>
                  <a:ext uri="{0D108BD9-81ED-4DB2-BD59-A6C34878D82A}">
                    <a16:rowId xmlns:a16="http://schemas.microsoft.com/office/drawing/2014/main" val="10004"/>
                  </a:ext>
                </a:extLst>
              </a:tr>
              <a:tr h="324612">
                <a:tc>
                  <a:txBody>
                    <a:bodyPr/>
                    <a:lstStyle/>
                    <a:p>
                      <a:pPr algn="ctr"/>
                      <a:r>
                        <a:rPr sz="1050" b="1" i="0">
                          <a:solidFill>
                            <a:srgbClr val="202A3A"/>
                          </a:solidFill>
                          <a:latin typeface="Segoe UI"/>
                        </a:rPr>
                        <a:t>R5</a:t>
                      </a:r>
                    </a:p>
                  </a:txBody>
                  <a:tcPr marL="73152" marR="73152" marT="36576" marB="36576" anchor="ctr">
                    <a:solidFill>
                      <a:srgbClr val="FFFFFF"/>
                    </a:solidFill>
                  </a:tcPr>
                </a:tc>
                <a:tc>
                  <a:txBody>
                    <a:bodyPr/>
                    <a:lstStyle/>
                    <a:p>
                      <a:pPr algn="l"/>
                      <a:r>
                        <a:rPr sz="1050" b="0" i="0" dirty="0">
                          <a:solidFill>
                            <a:srgbClr val="202A3A"/>
                          </a:solidFill>
                          <a:latin typeface="Segoe UI"/>
                        </a:rPr>
                        <a:t>Limited Testing Time </a:t>
                      </a:r>
                      <a:r>
                        <a:rPr lang="en-GB" sz="1050" b="0" i="0" dirty="0">
                          <a:solidFill>
                            <a:srgbClr val="202A3A"/>
                          </a:solidFill>
                          <a:latin typeface="Segoe UI"/>
                        </a:rPr>
                        <a:t>-</a:t>
                      </a:r>
                      <a:r>
                        <a:rPr sz="1050" b="0" i="0" dirty="0">
                          <a:solidFill>
                            <a:srgbClr val="202A3A"/>
                          </a:solidFill>
                          <a:latin typeface="Segoe UI"/>
                        </a:rPr>
                        <a:t> </a:t>
                      </a:r>
                      <a:r>
                        <a:rPr lang="en-GB" sz="1050" b="0" i="0" dirty="0">
                          <a:solidFill>
                            <a:srgbClr val="202A3A"/>
                          </a:solidFill>
                          <a:latin typeface="Segoe UI"/>
                        </a:rPr>
                        <a:t>short</a:t>
                      </a:r>
                      <a:r>
                        <a:rPr sz="1050" b="0" i="0" dirty="0">
                          <a:solidFill>
                            <a:srgbClr val="202A3A"/>
                          </a:solidFill>
                          <a:latin typeface="Segoe UI"/>
                        </a:rPr>
                        <a:t> windows let </a:t>
                      </a:r>
                      <a:r>
                        <a:rPr lang="en-GB" sz="1050" b="0" i="0" dirty="0">
                          <a:solidFill>
                            <a:srgbClr val="202A3A"/>
                          </a:solidFill>
                          <a:latin typeface="Segoe UI"/>
                        </a:rPr>
                        <a:t>problems</a:t>
                      </a:r>
                      <a:r>
                        <a:rPr sz="1050" b="0" i="0" dirty="0">
                          <a:solidFill>
                            <a:srgbClr val="202A3A"/>
                          </a:solidFill>
                          <a:latin typeface="Segoe UI"/>
                        </a:rPr>
                        <a:t> slip through</a:t>
                      </a: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1" i="0">
                          <a:solidFill>
                            <a:srgbClr val="202A3A"/>
                          </a:solidFill>
                          <a:latin typeface="Segoe UI"/>
                        </a:rPr>
                        <a:t>9</a:t>
                      </a:r>
                    </a:p>
                  </a:txBody>
                  <a:tcPr marL="73152" marR="73152" marT="36576" marB="36576" anchor="ctr">
                    <a:solidFill>
                      <a:srgbClr val="FFFFFF"/>
                    </a:solidFill>
                  </a:tcPr>
                </a:tc>
                <a:tc>
                  <a:txBody>
                    <a:bodyPr/>
                    <a:lstStyle/>
                    <a:p>
                      <a:pPr algn="ctr"/>
                      <a:r>
                        <a:rPr sz="1000" b="1" i="0">
                          <a:solidFill>
                            <a:srgbClr val="D94A3E"/>
                          </a:solidFill>
                          <a:latin typeface="Segoe UI"/>
                        </a:rPr>
                        <a:t>CRITICAL</a:t>
                      </a:r>
                    </a:p>
                  </a:txBody>
                  <a:tcPr marL="73152" marR="73152" marT="36576" marB="36576" anchor="ctr">
                    <a:solidFill>
                      <a:srgbClr val="FFFFFF"/>
                    </a:solidFill>
                  </a:tcPr>
                </a:tc>
                <a:extLst>
                  <a:ext uri="{0D108BD9-81ED-4DB2-BD59-A6C34878D82A}">
                    <a16:rowId xmlns:a16="http://schemas.microsoft.com/office/drawing/2014/main" val="10005"/>
                  </a:ext>
                </a:extLst>
              </a:tr>
              <a:tr h="324612">
                <a:tc>
                  <a:txBody>
                    <a:bodyPr/>
                    <a:lstStyle/>
                    <a:p>
                      <a:pPr algn="ctr"/>
                      <a:r>
                        <a:rPr sz="1050" b="1" i="0">
                          <a:solidFill>
                            <a:srgbClr val="202A3A"/>
                          </a:solidFill>
                          <a:latin typeface="Segoe UI"/>
                        </a:rPr>
                        <a:t>R6</a:t>
                      </a:r>
                    </a:p>
                  </a:txBody>
                  <a:tcPr marL="73152" marR="73152" marT="36576" marB="36576" anchor="ctr">
                    <a:solidFill>
                      <a:srgbClr val="F6F8FB"/>
                    </a:solidFill>
                  </a:tcPr>
                </a:tc>
                <a:tc>
                  <a:txBody>
                    <a:bodyPr/>
                    <a:lstStyle/>
                    <a:p>
                      <a:pPr algn="l"/>
                      <a:r>
                        <a:rPr sz="1050" b="0" i="0" dirty="0">
                          <a:solidFill>
                            <a:srgbClr val="202A3A"/>
                          </a:solidFill>
                          <a:latin typeface="Segoe UI"/>
                        </a:rPr>
                        <a:t>Task Difficulty Mismatch </a:t>
                      </a:r>
                      <a:r>
                        <a:rPr lang="en-GB" sz="1050" b="0" i="0" dirty="0">
                          <a:solidFill>
                            <a:srgbClr val="202A3A"/>
                          </a:solidFill>
                          <a:latin typeface="Segoe UI"/>
                        </a:rPr>
                        <a:t>-</a:t>
                      </a:r>
                      <a:r>
                        <a:rPr sz="1050" b="0" i="0" dirty="0">
                          <a:solidFill>
                            <a:srgbClr val="202A3A"/>
                          </a:solidFill>
                          <a:latin typeface="Segoe UI"/>
                        </a:rPr>
                        <a:t> a task exceeds one member's ability alone</a:t>
                      </a:r>
                    </a:p>
                  </a:txBody>
                  <a:tcPr marL="73152" marR="73152" marT="36576" marB="36576" anchor="ctr">
                    <a:solidFill>
                      <a:srgbClr val="F6F8FB"/>
                    </a:solidFill>
                  </a:tcPr>
                </a:tc>
                <a:tc>
                  <a:txBody>
                    <a:bodyPr/>
                    <a:lstStyle/>
                    <a:p>
                      <a:pPr algn="ctr"/>
                      <a:r>
                        <a:rPr sz="1050" b="0" i="0">
                          <a:solidFill>
                            <a:srgbClr val="202A3A"/>
                          </a:solidFill>
                          <a:latin typeface="Segoe UI"/>
                        </a:rPr>
                        <a:t>1</a:t>
                      </a:r>
                    </a:p>
                  </a:txBody>
                  <a:tcPr marL="73152" marR="73152" marT="36576" marB="36576" anchor="ctr">
                    <a:solidFill>
                      <a:srgbClr val="F6F8FB"/>
                    </a:solidFill>
                  </a:tcPr>
                </a:tc>
                <a:tc>
                  <a:txBody>
                    <a:bodyPr/>
                    <a:lstStyle/>
                    <a:p>
                      <a:pPr algn="ctr"/>
                      <a:r>
                        <a:rPr sz="1050" b="0" i="0">
                          <a:solidFill>
                            <a:srgbClr val="202A3A"/>
                          </a:solidFill>
                          <a:latin typeface="Segoe UI"/>
                        </a:rPr>
                        <a:t>3</a:t>
                      </a:r>
                    </a:p>
                  </a:txBody>
                  <a:tcPr marL="73152" marR="73152" marT="36576" marB="36576" anchor="ctr">
                    <a:solidFill>
                      <a:srgbClr val="F6F8FB"/>
                    </a:solidFill>
                  </a:tcPr>
                </a:tc>
                <a:tc>
                  <a:txBody>
                    <a:bodyPr/>
                    <a:lstStyle/>
                    <a:p>
                      <a:pPr algn="ctr"/>
                      <a:r>
                        <a:rPr sz="1050" b="1" i="0">
                          <a:solidFill>
                            <a:srgbClr val="202A3A"/>
                          </a:solidFill>
                          <a:latin typeface="Segoe UI"/>
                        </a:rPr>
                        <a:t>3</a:t>
                      </a:r>
                    </a:p>
                  </a:txBody>
                  <a:tcPr marL="73152" marR="73152" marT="36576" marB="36576" anchor="ctr">
                    <a:solidFill>
                      <a:srgbClr val="F6F8FB"/>
                    </a:solidFill>
                  </a:tcPr>
                </a:tc>
                <a:tc>
                  <a:txBody>
                    <a:bodyPr/>
                    <a:lstStyle/>
                    <a:p>
                      <a:pPr algn="ctr"/>
                      <a:r>
                        <a:rPr sz="1000" b="1" i="0">
                          <a:solidFill>
                            <a:srgbClr val="C28A12"/>
                          </a:solidFill>
                          <a:latin typeface="Segoe UI"/>
                        </a:rPr>
                        <a:t>MEDIUM</a:t>
                      </a:r>
                    </a:p>
                  </a:txBody>
                  <a:tcPr marL="73152" marR="73152" marT="36576" marB="36576" anchor="ctr">
                    <a:solidFill>
                      <a:srgbClr val="F6F8FB"/>
                    </a:solidFill>
                  </a:tcPr>
                </a:tc>
                <a:extLst>
                  <a:ext uri="{0D108BD9-81ED-4DB2-BD59-A6C34878D82A}">
                    <a16:rowId xmlns:a16="http://schemas.microsoft.com/office/drawing/2014/main" val="10006"/>
                  </a:ext>
                </a:extLst>
              </a:tr>
              <a:tr h="324612">
                <a:tc>
                  <a:txBody>
                    <a:bodyPr/>
                    <a:lstStyle/>
                    <a:p>
                      <a:pPr algn="ctr"/>
                      <a:r>
                        <a:rPr sz="1050" b="1" i="0">
                          <a:solidFill>
                            <a:srgbClr val="202A3A"/>
                          </a:solidFill>
                          <a:latin typeface="Segoe UI"/>
                        </a:rPr>
                        <a:t>R7</a:t>
                      </a:r>
                    </a:p>
                  </a:txBody>
                  <a:tcPr marL="73152" marR="73152" marT="36576" marB="36576" anchor="ctr">
                    <a:solidFill>
                      <a:srgbClr val="FFFFFF"/>
                    </a:solidFill>
                  </a:tcPr>
                </a:tc>
                <a:tc>
                  <a:txBody>
                    <a:bodyPr/>
                    <a:lstStyle/>
                    <a:p>
                      <a:pPr algn="l"/>
                      <a:r>
                        <a:rPr sz="1050" b="0" i="0" dirty="0">
                          <a:solidFill>
                            <a:srgbClr val="202A3A"/>
                          </a:solidFill>
                          <a:latin typeface="Segoe UI"/>
                        </a:rPr>
                        <a:t>Top-Level Functions Delay </a:t>
                      </a:r>
                      <a:r>
                        <a:rPr lang="en-GB" sz="1050" b="0" i="0" dirty="0">
                          <a:solidFill>
                            <a:srgbClr val="202A3A"/>
                          </a:solidFill>
                          <a:latin typeface="Segoe UI"/>
                        </a:rPr>
                        <a:t>- </a:t>
                      </a:r>
                      <a:r>
                        <a:rPr sz="1050" b="0" i="0" dirty="0">
                          <a:solidFill>
                            <a:srgbClr val="202A3A"/>
                          </a:solidFill>
                          <a:latin typeface="Segoe UI"/>
                        </a:rPr>
                        <a:t>core functions miss the deadline</a:t>
                      </a: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1" i="0">
                          <a:solidFill>
                            <a:srgbClr val="202A3A"/>
                          </a:solidFill>
                          <a:latin typeface="Segoe UI"/>
                        </a:rPr>
                        <a:t>9</a:t>
                      </a:r>
                    </a:p>
                  </a:txBody>
                  <a:tcPr marL="73152" marR="73152" marT="36576" marB="36576" anchor="ctr">
                    <a:solidFill>
                      <a:srgbClr val="FFFFFF"/>
                    </a:solidFill>
                  </a:tcPr>
                </a:tc>
                <a:tc>
                  <a:txBody>
                    <a:bodyPr/>
                    <a:lstStyle/>
                    <a:p>
                      <a:pPr algn="ctr"/>
                      <a:r>
                        <a:rPr sz="1000" b="1" i="0">
                          <a:solidFill>
                            <a:srgbClr val="D94A3E"/>
                          </a:solidFill>
                          <a:latin typeface="Segoe UI"/>
                        </a:rPr>
                        <a:t>CRITICAL</a:t>
                      </a:r>
                    </a:p>
                  </a:txBody>
                  <a:tcPr marL="73152" marR="73152" marT="36576" marB="36576" anchor="ctr">
                    <a:solidFill>
                      <a:srgbClr val="FFFFFF"/>
                    </a:solidFill>
                  </a:tcPr>
                </a:tc>
                <a:extLst>
                  <a:ext uri="{0D108BD9-81ED-4DB2-BD59-A6C34878D82A}">
                    <a16:rowId xmlns:a16="http://schemas.microsoft.com/office/drawing/2014/main" val="10007"/>
                  </a:ext>
                </a:extLst>
              </a:tr>
              <a:tr h="324612">
                <a:tc>
                  <a:txBody>
                    <a:bodyPr/>
                    <a:lstStyle/>
                    <a:p>
                      <a:pPr algn="ctr"/>
                      <a:r>
                        <a:rPr sz="1050" b="1" i="0">
                          <a:solidFill>
                            <a:srgbClr val="202A3A"/>
                          </a:solidFill>
                          <a:latin typeface="Segoe UI"/>
                        </a:rPr>
                        <a:t>R8</a:t>
                      </a:r>
                    </a:p>
                  </a:txBody>
                  <a:tcPr marL="73152" marR="73152" marT="36576" marB="36576" anchor="ctr">
                    <a:solidFill>
                      <a:srgbClr val="F6F8FB"/>
                    </a:solidFill>
                  </a:tcPr>
                </a:tc>
                <a:tc>
                  <a:txBody>
                    <a:bodyPr/>
                    <a:lstStyle/>
                    <a:p>
                      <a:pPr algn="l"/>
                      <a:r>
                        <a:rPr sz="1050" b="0" i="0" dirty="0">
                          <a:solidFill>
                            <a:srgbClr val="202A3A"/>
                          </a:solidFill>
                          <a:latin typeface="Segoe UI"/>
                        </a:rPr>
                        <a:t>GitHub Collaboration Issues </a:t>
                      </a:r>
                      <a:r>
                        <a:rPr lang="en-GB" sz="1050" b="0" i="0" dirty="0">
                          <a:solidFill>
                            <a:srgbClr val="202A3A"/>
                          </a:solidFill>
                          <a:latin typeface="Segoe UI"/>
                        </a:rPr>
                        <a:t>-</a:t>
                      </a:r>
                      <a:r>
                        <a:rPr sz="1050" b="0" i="0" dirty="0">
                          <a:solidFill>
                            <a:srgbClr val="202A3A"/>
                          </a:solidFill>
                          <a:latin typeface="Segoe UI"/>
                        </a:rPr>
                        <a:t> merge conflicts, version control problems</a:t>
                      </a:r>
                    </a:p>
                  </a:txBody>
                  <a:tcPr marL="73152" marR="73152" marT="36576" marB="36576" anchor="ctr">
                    <a:solidFill>
                      <a:srgbClr val="F6F8FB"/>
                    </a:solidFill>
                  </a:tcPr>
                </a:tc>
                <a:tc>
                  <a:txBody>
                    <a:bodyPr/>
                    <a:lstStyle/>
                    <a:p>
                      <a:pPr algn="ctr"/>
                      <a:r>
                        <a:rPr sz="1050" b="0" i="0">
                          <a:solidFill>
                            <a:srgbClr val="202A3A"/>
                          </a:solidFill>
                          <a:latin typeface="Segoe UI"/>
                        </a:rPr>
                        <a:t>2</a:t>
                      </a:r>
                    </a:p>
                  </a:txBody>
                  <a:tcPr marL="73152" marR="73152" marT="36576" marB="36576" anchor="ctr">
                    <a:solidFill>
                      <a:srgbClr val="F6F8FB"/>
                    </a:solidFill>
                  </a:tcPr>
                </a:tc>
                <a:tc>
                  <a:txBody>
                    <a:bodyPr/>
                    <a:lstStyle/>
                    <a:p>
                      <a:pPr algn="ctr"/>
                      <a:r>
                        <a:rPr sz="1050" b="0" i="0">
                          <a:solidFill>
                            <a:srgbClr val="202A3A"/>
                          </a:solidFill>
                          <a:latin typeface="Segoe UI"/>
                        </a:rPr>
                        <a:t>2</a:t>
                      </a:r>
                    </a:p>
                  </a:txBody>
                  <a:tcPr marL="73152" marR="73152" marT="36576" marB="36576" anchor="ctr">
                    <a:solidFill>
                      <a:srgbClr val="F6F8FB"/>
                    </a:solidFill>
                  </a:tcPr>
                </a:tc>
                <a:tc>
                  <a:txBody>
                    <a:bodyPr/>
                    <a:lstStyle/>
                    <a:p>
                      <a:pPr algn="ctr"/>
                      <a:r>
                        <a:rPr sz="1050" b="1" i="0">
                          <a:solidFill>
                            <a:srgbClr val="202A3A"/>
                          </a:solidFill>
                          <a:latin typeface="Segoe UI"/>
                        </a:rPr>
                        <a:t>4</a:t>
                      </a:r>
                    </a:p>
                  </a:txBody>
                  <a:tcPr marL="73152" marR="73152" marT="36576" marB="36576" anchor="ctr">
                    <a:solidFill>
                      <a:srgbClr val="F6F8FB"/>
                    </a:solidFill>
                  </a:tcPr>
                </a:tc>
                <a:tc>
                  <a:txBody>
                    <a:bodyPr/>
                    <a:lstStyle/>
                    <a:p>
                      <a:pPr algn="ctr"/>
                      <a:r>
                        <a:rPr sz="1000" b="1" i="0">
                          <a:solidFill>
                            <a:srgbClr val="C28A12"/>
                          </a:solidFill>
                          <a:latin typeface="Segoe UI"/>
                        </a:rPr>
                        <a:t>MEDIUM</a:t>
                      </a:r>
                    </a:p>
                  </a:txBody>
                  <a:tcPr marL="73152" marR="73152" marT="36576" marB="36576" anchor="ctr">
                    <a:solidFill>
                      <a:srgbClr val="F6F8FB"/>
                    </a:solidFill>
                  </a:tcPr>
                </a:tc>
                <a:extLst>
                  <a:ext uri="{0D108BD9-81ED-4DB2-BD59-A6C34878D82A}">
                    <a16:rowId xmlns:a16="http://schemas.microsoft.com/office/drawing/2014/main" val="10008"/>
                  </a:ext>
                </a:extLst>
              </a:tr>
              <a:tr h="324612">
                <a:tc>
                  <a:txBody>
                    <a:bodyPr/>
                    <a:lstStyle/>
                    <a:p>
                      <a:pPr algn="ctr"/>
                      <a:r>
                        <a:rPr sz="1050" b="1" i="0">
                          <a:solidFill>
                            <a:srgbClr val="202A3A"/>
                          </a:solidFill>
                          <a:latin typeface="Segoe UI"/>
                        </a:rPr>
                        <a:t>R9</a:t>
                      </a:r>
                    </a:p>
                  </a:txBody>
                  <a:tcPr marL="73152" marR="73152" marT="36576" marB="36576" anchor="ctr">
                    <a:solidFill>
                      <a:srgbClr val="FFFFFF"/>
                    </a:solidFill>
                  </a:tcPr>
                </a:tc>
                <a:tc>
                  <a:txBody>
                    <a:bodyPr/>
                    <a:lstStyle/>
                    <a:p>
                      <a:pPr algn="l"/>
                      <a:r>
                        <a:rPr sz="1050" b="0" i="0" dirty="0">
                          <a:solidFill>
                            <a:srgbClr val="202A3A"/>
                          </a:solidFill>
                          <a:latin typeface="Segoe UI"/>
                        </a:rPr>
                        <a:t>Cross-Platform Integration </a:t>
                      </a:r>
                      <a:r>
                        <a:rPr lang="en-GB" sz="1050" b="0" i="0" dirty="0">
                          <a:solidFill>
                            <a:srgbClr val="202A3A"/>
                          </a:solidFill>
                          <a:latin typeface="Segoe UI"/>
                        </a:rPr>
                        <a:t>-</a:t>
                      </a:r>
                      <a:r>
                        <a:rPr sz="1050" b="0" i="0" dirty="0">
                          <a:solidFill>
                            <a:srgbClr val="202A3A"/>
                          </a:solidFill>
                          <a:latin typeface="Segoe UI"/>
                        </a:rPr>
                        <a:t> OS/browser/device inconsistencies</a:t>
                      </a: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0" i="0">
                          <a:solidFill>
                            <a:srgbClr val="202A3A"/>
                          </a:solidFill>
                          <a:latin typeface="Segoe UI"/>
                        </a:rPr>
                        <a:t>2</a:t>
                      </a:r>
                    </a:p>
                  </a:txBody>
                  <a:tcPr marL="73152" marR="73152" marT="36576" marB="36576" anchor="ctr">
                    <a:solidFill>
                      <a:srgbClr val="FFFFFF"/>
                    </a:solidFill>
                  </a:tcPr>
                </a:tc>
                <a:tc>
                  <a:txBody>
                    <a:bodyPr/>
                    <a:lstStyle/>
                    <a:p>
                      <a:pPr algn="ctr"/>
                      <a:r>
                        <a:rPr sz="1050" b="1" i="0">
                          <a:solidFill>
                            <a:srgbClr val="202A3A"/>
                          </a:solidFill>
                          <a:latin typeface="Segoe UI"/>
                        </a:rPr>
                        <a:t>6</a:t>
                      </a:r>
                    </a:p>
                  </a:txBody>
                  <a:tcPr marL="73152" marR="73152" marT="36576" marB="36576" anchor="ctr">
                    <a:solidFill>
                      <a:srgbClr val="FFFFFF"/>
                    </a:solidFill>
                  </a:tcPr>
                </a:tc>
                <a:tc>
                  <a:txBody>
                    <a:bodyPr/>
                    <a:lstStyle/>
                    <a:p>
                      <a:pPr algn="ctr"/>
                      <a:r>
                        <a:rPr sz="1000" b="1" i="0">
                          <a:solidFill>
                            <a:srgbClr val="E88A2E"/>
                          </a:solidFill>
                          <a:latin typeface="Segoe UI"/>
                        </a:rPr>
                        <a:t>HIGH</a:t>
                      </a:r>
                    </a:p>
                  </a:txBody>
                  <a:tcPr marL="73152" marR="73152" marT="36576" marB="36576" anchor="ctr">
                    <a:solidFill>
                      <a:srgbClr val="FFFFFF"/>
                    </a:solidFill>
                  </a:tcPr>
                </a:tc>
                <a:extLst>
                  <a:ext uri="{0D108BD9-81ED-4DB2-BD59-A6C34878D82A}">
                    <a16:rowId xmlns:a16="http://schemas.microsoft.com/office/drawing/2014/main" val="10009"/>
                  </a:ext>
                </a:extLst>
              </a:tr>
              <a:tr h="324612">
                <a:tc>
                  <a:txBody>
                    <a:bodyPr/>
                    <a:lstStyle/>
                    <a:p>
                      <a:pPr algn="ctr"/>
                      <a:r>
                        <a:rPr sz="1050" b="1" i="0">
                          <a:solidFill>
                            <a:srgbClr val="202A3A"/>
                          </a:solidFill>
                          <a:latin typeface="Segoe UI"/>
                        </a:rPr>
                        <a:t>R10</a:t>
                      </a:r>
                    </a:p>
                  </a:txBody>
                  <a:tcPr marL="73152" marR="73152" marT="36576" marB="36576" anchor="ctr">
                    <a:solidFill>
                      <a:srgbClr val="F6F8FB"/>
                    </a:solidFill>
                  </a:tcPr>
                </a:tc>
                <a:tc>
                  <a:txBody>
                    <a:bodyPr/>
                    <a:lstStyle/>
                    <a:p>
                      <a:pPr algn="l"/>
                      <a:r>
                        <a:rPr sz="1050" b="0" i="0" dirty="0">
                          <a:solidFill>
                            <a:srgbClr val="202A3A"/>
                          </a:solidFill>
                          <a:latin typeface="Segoe UI"/>
                        </a:rPr>
                        <a:t>Project Date Projections </a:t>
                      </a:r>
                      <a:r>
                        <a:rPr lang="en-GB" sz="1050" b="0" i="0" dirty="0">
                          <a:solidFill>
                            <a:srgbClr val="202A3A"/>
                          </a:solidFill>
                          <a:latin typeface="Segoe UI"/>
                        </a:rPr>
                        <a:t>-</a:t>
                      </a:r>
                      <a:r>
                        <a:rPr sz="1050" b="0" i="0" dirty="0">
                          <a:solidFill>
                            <a:srgbClr val="202A3A"/>
                          </a:solidFill>
                          <a:latin typeface="Segoe UI"/>
                        </a:rPr>
                        <a:t> inaccurate estimates </a:t>
                      </a:r>
                      <a:r>
                        <a:rPr lang="en-GB" sz="1050" b="0" i="0" dirty="0">
                          <a:solidFill>
                            <a:srgbClr val="202A3A"/>
                          </a:solidFill>
                          <a:latin typeface="Segoe UI"/>
                        </a:rPr>
                        <a:t>cause</a:t>
                      </a:r>
                      <a:r>
                        <a:rPr sz="1050" b="0" i="0" dirty="0">
                          <a:solidFill>
                            <a:srgbClr val="202A3A"/>
                          </a:solidFill>
                          <a:latin typeface="Segoe UI"/>
                        </a:rPr>
                        <a:t> delivery</a:t>
                      </a:r>
                      <a:r>
                        <a:rPr lang="en-GB" sz="1050" b="0" i="0" dirty="0">
                          <a:solidFill>
                            <a:srgbClr val="202A3A"/>
                          </a:solidFill>
                          <a:latin typeface="Segoe UI"/>
                        </a:rPr>
                        <a:t> problems</a:t>
                      </a:r>
                      <a:endParaRPr sz="1050" b="0" i="0" dirty="0">
                        <a:solidFill>
                          <a:srgbClr val="202A3A"/>
                        </a:solidFill>
                        <a:latin typeface="Segoe UI"/>
                      </a:endParaRPr>
                    </a:p>
                  </a:txBody>
                  <a:tcPr marL="73152" marR="73152" marT="36576" marB="36576" anchor="ctr">
                    <a:solidFill>
                      <a:srgbClr val="F6F8FB"/>
                    </a:solidFill>
                  </a:tcPr>
                </a:tc>
                <a:tc>
                  <a:txBody>
                    <a:bodyPr/>
                    <a:lstStyle/>
                    <a:p>
                      <a:pPr algn="ctr"/>
                      <a:r>
                        <a:rPr sz="1050" b="0" i="0">
                          <a:solidFill>
                            <a:srgbClr val="202A3A"/>
                          </a:solidFill>
                          <a:latin typeface="Segoe UI"/>
                        </a:rPr>
                        <a:t>3</a:t>
                      </a:r>
                    </a:p>
                  </a:txBody>
                  <a:tcPr marL="73152" marR="73152" marT="36576" marB="36576" anchor="ctr">
                    <a:solidFill>
                      <a:srgbClr val="F6F8FB"/>
                    </a:solidFill>
                  </a:tcPr>
                </a:tc>
                <a:tc>
                  <a:txBody>
                    <a:bodyPr/>
                    <a:lstStyle/>
                    <a:p>
                      <a:pPr algn="ctr"/>
                      <a:r>
                        <a:rPr sz="1050" b="0" i="0">
                          <a:solidFill>
                            <a:srgbClr val="202A3A"/>
                          </a:solidFill>
                          <a:latin typeface="Segoe UI"/>
                        </a:rPr>
                        <a:t>3</a:t>
                      </a:r>
                    </a:p>
                  </a:txBody>
                  <a:tcPr marL="73152" marR="73152" marT="36576" marB="36576" anchor="ctr">
                    <a:solidFill>
                      <a:srgbClr val="F6F8FB"/>
                    </a:solidFill>
                  </a:tcPr>
                </a:tc>
                <a:tc>
                  <a:txBody>
                    <a:bodyPr/>
                    <a:lstStyle/>
                    <a:p>
                      <a:pPr algn="ctr"/>
                      <a:r>
                        <a:rPr sz="1050" b="1" i="0">
                          <a:solidFill>
                            <a:srgbClr val="202A3A"/>
                          </a:solidFill>
                          <a:latin typeface="Segoe UI"/>
                        </a:rPr>
                        <a:t>9</a:t>
                      </a:r>
                    </a:p>
                  </a:txBody>
                  <a:tcPr marL="73152" marR="73152" marT="36576" marB="36576" anchor="ctr">
                    <a:solidFill>
                      <a:srgbClr val="F6F8FB"/>
                    </a:solidFill>
                  </a:tcPr>
                </a:tc>
                <a:tc>
                  <a:txBody>
                    <a:bodyPr/>
                    <a:lstStyle/>
                    <a:p>
                      <a:pPr algn="ctr"/>
                      <a:r>
                        <a:rPr sz="1000" b="1" i="0">
                          <a:solidFill>
                            <a:srgbClr val="D94A3E"/>
                          </a:solidFill>
                          <a:latin typeface="Segoe UI"/>
                        </a:rPr>
                        <a:t>CRITICAL</a:t>
                      </a:r>
                    </a:p>
                  </a:txBody>
                  <a:tcPr marL="73152" marR="73152" marT="36576" marB="36576" anchor="ctr">
                    <a:solidFill>
                      <a:srgbClr val="F6F8FB"/>
                    </a:solidFill>
                  </a:tcPr>
                </a:tc>
                <a:extLst>
                  <a:ext uri="{0D108BD9-81ED-4DB2-BD59-A6C34878D82A}">
                    <a16:rowId xmlns:a16="http://schemas.microsoft.com/office/drawing/2014/main" val="10010"/>
                  </a:ext>
                </a:extLst>
              </a:tr>
              <a:tr h="324612">
                <a:tc>
                  <a:txBody>
                    <a:bodyPr/>
                    <a:lstStyle/>
                    <a:p>
                      <a:pPr algn="ctr"/>
                      <a:r>
                        <a:rPr sz="1050" b="1" i="0">
                          <a:solidFill>
                            <a:srgbClr val="202A3A"/>
                          </a:solidFill>
                          <a:latin typeface="Segoe UI"/>
                        </a:rPr>
                        <a:t>R11</a:t>
                      </a:r>
                    </a:p>
                  </a:txBody>
                  <a:tcPr marL="73152" marR="73152" marT="36576" marB="36576" anchor="ctr">
                    <a:solidFill>
                      <a:srgbClr val="FFFFFF"/>
                    </a:solidFill>
                  </a:tcPr>
                </a:tc>
                <a:tc>
                  <a:txBody>
                    <a:bodyPr/>
                    <a:lstStyle/>
                    <a:p>
                      <a:pPr algn="l"/>
                      <a:r>
                        <a:rPr sz="1050" b="0" i="0" dirty="0">
                          <a:solidFill>
                            <a:srgbClr val="202A3A"/>
                          </a:solidFill>
                          <a:latin typeface="Segoe UI"/>
                        </a:rPr>
                        <a:t>Scope Refinement </a:t>
                      </a:r>
                      <a:r>
                        <a:rPr lang="en-GB" sz="1050" b="0" i="0" dirty="0">
                          <a:solidFill>
                            <a:srgbClr val="202A3A"/>
                          </a:solidFill>
                          <a:latin typeface="Segoe UI"/>
                        </a:rPr>
                        <a:t>-</a:t>
                      </a:r>
                      <a:r>
                        <a:rPr sz="1050" b="0" i="0" dirty="0">
                          <a:solidFill>
                            <a:srgbClr val="202A3A"/>
                          </a:solidFill>
                          <a:latin typeface="Segoe UI"/>
                        </a:rPr>
                        <a:t> uncontrolled scope </a:t>
                      </a:r>
                      <a:r>
                        <a:rPr lang="en-GB" sz="1050" b="0" i="0" dirty="0">
                          <a:solidFill>
                            <a:srgbClr val="202A3A"/>
                          </a:solidFill>
                          <a:latin typeface="Segoe UI"/>
                        </a:rPr>
                        <a:t>leads to scope creep</a:t>
                      </a:r>
                      <a:endParaRPr sz="1050" b="0" i="0" dirty="0">
                        <a:solidFill>
                          <a:srgbClr val="202A3A"/>
                        </a:solidFill>
                        <a:latin typeface="Segoe UI"/>
                      </a:endParaRP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0" i="0">
                          <a:solidFill>
                            <a:srgbClr val="202A3A"/>
                          </a:solidFill>
                          <a:latin typeface="Segoe UI"/>
                        </a:rPr>
                        <a:t>2</a:t>
                      </a:r>
                    </a:p>
                  </a:txBody>
                  <a:tcPr marL="73152" marR="73152" marT="36576" marB="36576" anchor="ctr">
                    <a:solidFill>
                      <a:srgbClr val="FFFFFF"/>
                    </a:solidFill>
                  </a:tcPr>
                </a:tc>
                <a:tc>
                  <a:txBody>
                    <a:bodyPr/>
                    <a:lstStyle/>
                    <a:p>
                      <a:pPr algn="ctr"/>
                      <a:r>
                        <a:rPr sz="1050" b="1" i="0">
                          <a:solidFill>
                            <a:srgbClr val="202A3A"/>
                          </a:solidFill>
                          <a:latin typeface="Segoe UI"/>
                        </a:rPr>
                        <a:t>6</a:t>
                      </a:r>
                    </a:p>
                  </a:txBody>
                  <a:tcPr marL="73152" marR="73152" marT="36576" marB="36576" anchor="ctr">
                    <a:solidFill>
                      <a:srgbClr val="FFFFFF"/>
                    </a:solidFill>
                  </a:tcPr>
                </a:tc>
                <a:tc>
                  <a:txBody>
                    <a:bodyPr/>
                    <a:lstStyle/>
                    <a:p>
                      <a:pPr algn="ctr"/>
                      <a:r>
                        <a:rPr sz="1000" b="1" i="0">
                          <a:solidFill>
                            <a:srgbClr val="E88A2E"/>
                          </a:solidFill>
                          <a:latin typeface="Segoe UI"/>
                        </a:rPr>
                        <a:t>HIGH</a:t>
                      </a:r>
                    </a:p>
                  </a:txBody>
                  <a:tcPr marL="73152" marR="73152" marT="36576" marB="36576" anchor="ctr">
                    <a:solidFill>
                      <a:srgbClr val="FFFFFF"/>
                    </a:solidFill>
                  </a:tcPr>
                </a:tc>
                <a:extLst>
                  <a:ext uri="{0D108BD9-81ED-4DB2-BD59-A6C34878D82A}">
                    <a16:rowId xmlns:a16="http://schemas.microsoft.com/office/drawing/2014/main" val="10011"/>
                  </a:ext>
                </a:extLst>
              </a:tr>
              <a:tr h="324612">
                <a:tc>
                  <a:txBody>
                    <a:bodyPr/>
                    <a:lstStyle/>
                    <a:p>
                      <a:pPr algn="ctr"/>
                      <a:r>
                        <a:rPr sz="1050" b="1" i="0">
                          <a:solidFill>
                            <a:srgbClr val="202A3A"/>
                          </a:solidFill>
                          <a:latin typeface="Segoe UI"/>
                        </a:rPr>
                        <a:t>R12</a:t>
                      </a:r>
                    </a:p>
                  </a:txBody>
                  <a:tcPr marL="73152" marR="73152" marT="36576" marB="36576" anchor="ctr">
                    <a:solidFill>
                      <a:srgbClr val="F6F8FB"/>
                    </a:solidFill>
                  </a:tcPr>
                </a:tc>
                <a:tc>
                  <a:txBody>
                    <a:bodyPr/>
                    <a:lstStyle/>
                    <a:p>
                      <a:pPr algn="l"/>
                      <a:r>
                        <a:rPr sz="1050" b="0" i="0" dirty="0">
                          <a:solidFill>
                            <a:srgbClr val="202A3A"/>
                          </a:solidFill>
                          <a:latin typeface="Segoe UI"/>
                        </a:rPr>
                        <a:t>Internet Access </a:t>
                      </a:r>
                      <a:r>
                        <a:rPr lang="en-GB" sz="1050" b="0" i="0" dirty="0">
                          <a:solidFill>
                            <a:srgbClr val="202A3A"/>
                          </a:solidFill>
                          <a:latin typeface="Segoe UI"/>
                        </a:rPr>
                        <a:t>-</a:t>
                      </a:r>
                      <a:r>
                        <a:rPr sz="1050" b="0" i="0" dirty="0">
                          <a:solidFill>
                            <a:srgbClr val="202A3A"/>
                          </a:solidFill>
                          <a:latin typeface="Segoe UI"/>
                        </a:rPr>
                        <a:t> connectivity loss </a:t>
                      </a:r>
                      <a:r>
                        <a:rPr lang="en-GB" sz="1050" b="0" i="0" dirty="0">
                          <a:solidFill>
                            <a:srgbClr val="202A3A"/>
                          </a:solidFill>
                          <a:latin typeface="Segoe UI"/>
                        </a:rPr>
                        <a:t>stops</a:t>
                      </a:r>
                      <a:r>
                        <a:rPr sz="1050" b="0" i="0" dirty="0">
                          <a:solidFill>
                            <a:srgbClr val="202A3A"/>
                          </a:solidFill>
                          <a:latin typeface="Segoe UI"/>
                        </a:rPr>
                        <a:t> dev</a:t>
                      </a:r>
                      <a:r>
                        <a:rPr lang="en-GB" sz="1050" b="0" i="0" dirty="0">
                          <a:solidFill>
                            <a:srgbClr val="202A3A"/>
                          </a:solidFill>
                          <a:latin typeface="Segoe UI"/>
                        </a:rPr>
                        <a:t>elopment and testing</a:t>
                      </a:r>
                      <a:endParaRPr sz="1050" b="0" i="0" dirty="0">
                        <a:solidFill>
                          <a:srgbClr val="202A3A"/>
                        </a:solidFill>
                        <a:latin typeface="Segoe UI"/>
                      </a:endParaRPr>
                    </a:p>
                  </a:txBody>
                  <a:tcPr marL="73152" marR="73152" marT="36576" marB="36576" anchor="ctr">
                    <a:solidFill>
                      <a:srgbClr val="F6F8FB"/>
                    </a:solidFill>
                  </a:tcPr>
                </a:tc>
                <a:tc>
                  <a:txBody>
                    <a:bodyPr/>
                    <a:lstStyle/>
                    <a:p>
                      <a:pPr algn="ctr"/>
                      <a:r>
                        <a:rPr sz="1050" b="0" i="0">
                          <a:solidFill>
                            <a:srgbClr val="202A3A"/>
                          </a:solidFill>
                          <a:latin typeface="Segoe UI"/>
                        </a:rPr>
                        <a:t>1</a:t>
                      </a:r>
                    </a:p>
                  </a:txBody>
                  <a:tcPr marL="73152" marR="73152" marT="36576" marB="36576" anchor="ctr">
                    <a:solidFill>
                      <a:srgbClr val="F6F8FB"/>
                    </a:solidFill>
                  </a:tcPr>
                </a:tc>
                <a:tc>
                  <a:txBody>
                    <a:bodyPr/>
                    <a:lstStyle/>
                    <a:p>
                      <a:pPr algn="ctr"/>
                      <a:r>
                        <a:rPr sz="1050" b="0" i="0">
                          <a:solidFill>
                            <a:srgbClr val="202A3A"/>
                          </a:solidFill>
                          <a:latin typeface="Segoe UI"/>
                        </a:rPr>
                        <a:t>2</a:t>
                      </a:r>
                    </a:p>
                  </a:txBody>
                  <a:tcPr marL="73152" marR="73152" marT="36576" marB="36576" anchor="ctr">
                    <a:solidFill>
                      <a:srgbClr val="F6F8FB"/>
                    </a:solidFill>
                  </a:tcPr>
                </a:tc>
                <a:tc>
                  <a:txBody>
                    <a:bodyPr/>
                    <a:lstStyle/>
                    <a:p>
                      <a:pPr algn="ctr"/>
                      <a:r>
                        <a:rPr sz="1050" b="1" i="0">
                          <a:solidFill>
                            <a:srgbClr val="202A3A"/>
                          </a:solidFill>
                          <a:latin typeface="Segoe UI"/>
                        </a:rPr>
                        <a:t>2</a:t>
                      </a:r>
                    </a:p>
                  </a:txBody>
                  <a:tcPr marL="73152" marR="73152" marT="36576" marB="36576" anchor="ctr">
                    <a:solidFill>
                      <a:srgbClr val="F6F8FB"/>
                    </a:solidFill>
                  </a:tcPr>
                </a:tc>
                <a:tc>
                  <a:txBody>
                    <a:bodyPr/>
                    <a:lstStyle/>
                    <a:p>
                      <a:pPr algn="ctr"/>
                      <a:r>
                        <a:rPr sz="1000" b="1" i="0">
                          <a:solidFill>
                            <a:srgbClr val="249B5E"/>
                          </a:solidFill>
                          <a:latin typeface="Segoe UI"/>
                        </a:rPr>
                        <a:t>LOW</a:t>
                      </a:r>
                    </a:p>
                  </a:txBody>
                  <a:tcPr marL="73152" marR="73152" marT="36576" marB="36576" anchor="ctr">
                    <a:solidFill>
                      <a:srgbClr val="F6F8FB"/>
                    </a:solidFill>
                  </a:tcPr>
                </a:tc>
                <a:extLst>
                  <a:ext uri="{0D108BD9-81ED-4DB2-BD59-A6C34878D82A}">
                    <a16:rowId xmlns:a16="http://schemas.microsoft.com/office/drawing/2014/main" val="10012"/>
                  </a:ext>
                </a:extLst>
              </a:tr>
              <a:tr h="324612">
                <a:tc>
                  <a:txBody>
                    <a:bodyPr/>
                    <a:lstStyle/>
                    <a:p>
                      <a:pPr algn="ctr"/>
                      <a:r>
                        <a:rPr sz="1050" b="1" i="0">
                          <a:solidFill>
                            <a:srgbClr val="202A3A"/>
                          </a:solidFill>
                          <a:latin typeface="Segoe UI"/>
                        </a:rPr>
                        <a:t>R13</a:t>
                      </a:r>
                    </a:p>
                  </a:txBody>
                  <a:tcPr marL="73152" marR="73152" marT="36576" marB="36576" anchor="ctr">
                    <a:solidFill>
                      <a:srgbClr val="FFFFFF"/>
                    </a:solidFill>
                  </a:tcPr>
                </a:tc>
                <a:tc>
                  <a:txBody>
                    <a:bodyPr/>
                    <a:lstStyle/>
                    <a:p>
                      <a:pPr algn="l"/>
                      <a:r>
                        <a:rPr sz="1050" b="0" i="0" dirty="0">
                          <a:solidFill>
                            <a:srgbClr val="202A3A"/>
                          </a:solidFill>
                          <a:latin typeface="Segoe UI"/>
                        </a:rPr>
                        <a:t>Privacy &amp; Security </a:t>
                      </a:r>
                      <a:r>
                        <a:rPr lang="en-GB" sz="1050" b="0" i="0" dirty="0">
                          <a:solidFill>
                            <a:srgbClr val="202A3A"/>
                          </a:solidFill>
                          <a:latin typeface="Segoe UI"/>
                        </a:rPr>
                        <a:t>-</a:t>
                      </a:r>
                      <a:r>
                        <a:rPr sz="1050" b="0" i="0" dirty="0">
                          <a:solidFill>
                            <a:srgbClr val="202A3A"/>
                          </a:solidFill>
                          <a:latin typeface="Segoe UI"/>
                        </a:rPr>
                        <a:t> </a:t>
                      </a:r>
                      <a:r>
                        <a:rPr lang="en-GB" sz="1050" b="0" i="0" dirty="0">
                          <a:solidFill>
                            <a:srgbClr val="202A3A"/>
                          </a:solidFill>
                          <a:latin typeface="Segoe UI"/>
                        </a:rPr>
                        <a:t>No strict information privacy and security</a:t>
                      </a:r>
                      <a:endParaRPr sz="1050" b="0" i="0" dirty="0">
                        <a:solidFill>
                          <a:srgbClr val="202A3A"/>
                        </a:solidFill>
                        <a:latin typeface="Segoe UI"/>
                      </a:endParaRPr>
                    </a:p>
                  </a:txBody>
                  <a:tcPr marL="73152" marR="73152" marT="36576" marB="36576" anchor="ctr">
                    <a:solidFill>
                      <a:srgbClr val="FFFFFF"/>
                    </a:solidFill>
                  </a:tcPr>
                </a:tc>
                <a:tc>
                  <a:txBody>
                    <a:bodyPr/>
                    <a:lstStyle/>
                    <a:p>
                      <a:pPr algn="ctr"/>
                      <a:r>
                        <a:rPr sz="1050" b="0" i="0">
                          <a:solidFill>
                            <a:srgbClr val="202A3A"/>
                          </a:solidFill>
                          <a:latin typeface="Segoe UI"/>
                        </a:rPr>
                        <a:t>1</a:t>
                      </a:r>
                    </a:p>
                  </a:txBody>
                  <a:tcPr marL="73152" marR="73152" marT="36576" marB="36576" anchor="ctr">
                    <a:solidFill>
                      <a:srgbClr val="FFFFFF"/>
                    </a:solidFill>
                  </a:tcPr>
                </a:tc>
                <a:tc>
                  <a:txBody>
                    <a:bodyPr/>
                    <a:lstStyle/>
                    <a:p>
                      <a:pPr algn="ctr"/>
                      <a:r>
                        <a:rPr sz="1050" b="0" i="0">
                          <a:solidFill>
                            <a:srgbClr val="202A3A"/>
                          </a:solidFill>
                          <a:latin typeface="Segoe UI"/>
                        </a:rPr>
                        <a:t>3</a:t>
                      </a:r>
                    </a:p>
                  </a:txBody>
                  <a:tcPr marL="73152" marR="73152" marT="36576" marB="36576" anchor="ctr">
                    <a:solidFill>
                      <a:srgbClr val="FFFFFF"/>
                    </a:solidFill>
                  </a:tcPr>
                </a:tc>
                <a:tc>
                  <a:txBody>
                    <a:bodyPr/>
                    <a:lstStyle/>
                    <a:p>
                      <a:pPr algn="ctr"/>
                      <a:r>
                        <a:rPr sz="1050" b="1" i="0">
                          <a:solidFill>
                            <a:srgbClr val="202A3A"/>
                          </a:solidFill>
                          <a:latin typeface="Segoe UI"/>
                        </a:rPr>
                        <a:t>3</a:t>
                      </a:r>
                    </a:p>
                  </a:txBody>
                  <a:tcPr marL="73152" marR="73152" marT="36576" marB="36576" anchor="ctr">
                    <a:solidFill>
                      <a:srgbClr val="FFFFFF"/>
                    </a:solidFill>
                  </a:tcPr>
                </a:tc>
                <a:tc>
                  <a:txBody>
                    <a:bodyPr/>
                    <a:lstStyle/>
                    <a:p>
                      <a:pPr algn="ctr"/>
                      <a:r>
                        <a:rPr sz="1000" b="1" i="0" dirty="0">
                          <a:solidFill>
                            <a:srgbClr val="C28A12"/>
                          </a:solidFill>
                          <a:latin typeface="Segoe UI"/>
                        </a:rPr>
                        <a:t>MEDIUM</a:t>
                      </a:r>
                    </a:p>
                  </a:txBody>
                  <a:tcPr marL="73152" marR="73152" marT="36576" marB="36576" anchor="ctr">
                    <a:solidFill>
                      <a:srgbClr val="FFFFFF"/>
                    </a:solidFill>
                  </a:tcPr>
                </a:tc>
                <a:extLst>
                  <a:ext uri="{0D108BD9-81ED-4DB2-BD59-A6C34878D82A}">
                    <a16:rowId xmlns:a16="http://schemas.microsoft.com/office/drawing/2014/main" val="10013"/>
                  </a:ext>
                </a:extLst>
              </a:tr>
            </a:tbl>
          </a:graphicData>
        </a:graphic>
      </p:graphicFrame>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Highest-Priority Risks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CRITICAL (SCORE 9)</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08760"/>
            <a:ext cx="3444240" cy="4846320"/>
          </a:xfrm>
          <a:prstGeom prst="roundRect">
            <a:avLst>
              <a:gd name="adj" fmla="val 6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08760"/>
            <a:ext cx="3444240" cy="54864"/>
          </a:xfrm>
          <a:prstGeom prst="rect">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1691640"/>
            <a:ext cx="3041904" cy="365760"/>
          </a:xfrm>
          <a:prstGeom prst="rect">
            <a:avLst/>
          </a:prstGeom>
          <a:noFill/>
        </p:spPr>
        <p:txBody>
          <a:bodyPr wrap="square" lIns="0" tIns="0" rIns="0" bIns="0">
            <a:spAutoFit/>
          </a:bodyPr>
          <a:lstStyle/>
          <a:p>
            <a:pPr algn="l">
              <a:spcBef>
                <a:spcPts val="0"/>
              </a:spcBef>
              <a:spcAft>
                <a:spcPts val="400"/>
              </a:spcAft>
            </a:pPr>
            <a:r>
              <a:rPr sz="1300" b="1" i="0">
                <a:solidFill>
                  <a:srgbClr val="637182"/>
                </a:solidFill>
                <a:latin typeface="Segoe UI Semibold"/>
              </a:rPr>
              <a:t>R5</a:t>
            </a:r>
          </a:p>
        </p:txBody>
      </p:sp>
      <p:sp>
        <p:nvSpPr>
          <p:cNvPr id="9" name="Rounded Rectangle 8"/>
          <p:cNvSpPr/>
          <p:nvPr/>
        </p:nvSpPr>
        <p:spPr>
          <a:xfrm>
            <a:off x="2831592" y="1673352"/>
            <a:ext cx="1051560" cy="274320"/>
          </a:xfrm>
          <a:prstGeom prst="roundRect">
            <a:avLst>
              <a:gd name="adj" fmla="val 50000"/>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SCORE 9</a:t>
            </a:r>
          </a:p>
        </p:txBody>
      </p:sp>
      <p:sp>
        <p:nvSpPr>
          <p:cNvPr id="10" name="TextBox 9"/>
          <p:cNvSpPr txBox="1"/>
          <p:nvPr/>
        </p:nvSpPr>
        <p:spPr>
          <a:xfrm>
            <a:off x="841248" y="2075688"/>
            <a:ext cx="3041904" cy="777240"/>
          </a:xfrm>
          <a:prstGeom prst="rect">
            <a:avLst/>
          </a:prstGeom>
          <a:noFill/>
        </p:spPr>
        <p:txBody>
          <a:bodyPr wrap="square" lIns="0" tIns="0" rIns="0" bIns="0">
            <a:spAutoFit/>
          </a:bodyPr>
          <a:lstStyle/>
          <a:p>
            <a:pPr algn="l">
              <a:lnSpc>
                <a:spcPct val="105000"/>
              </a:lnSpc>
              <a:spcBef>
                <a:spcPts val="0"/>
              </a:spcBef>
              <a:spcAft>
                <a:spcPts val="400"/>
              </a:spcAft>
            </a:pPr>
            <a:r>
              <a:rPr sz="1500" b="1" i="0">
                <a:solidFill>
                  <a:srgbClr val="202A3A"/>
                </a:solidFill>
                <a:latin typeface="Segoe UI Semibold"/>
              </a:rPr>
              <a:t>Limited Testing Time</a:t>
            </a:r>
          </a:p>
        </p:txBody>
      </p:sp>
      <p:sp>
        <p:nvSpPr>
          <p:cNvPr id="11" name="TextBox 10"/>
          <p:cNvSpPr txBox="1"/>
          <p:nvPr/>
        </p:nvSpPr>
        <p:spPr>
          <a:xfrm>
            <a:off x="841248" y="2926080"/>
            <a:ext cx="3041904" cy="1188720"/>
          </a:xfrm>
          <a:prstGeom prst="rect">
            <a:avLst/>
          </a:prstGeom>
          <a:noFill/>
        </p:spPr>
        <p:txBody>
          <a:bodyPr wrap="square" lIns="0" tIns="0" rIns="0" bIns="0">
            <a:spAutoFit/>
          </a:bodyPr>
          <a:lstStyle/>
          <a:p>
            <a:pPr algn="l">
              <a:lnSpc>
                <a:spcPct val="118000"/>
              </a:lnSpc>
              <a:spcBef>
                <a:spcPts val="0"/>
              </a:spcBef>
              <a:spcAft>
                <a:spcPts val="400"/>
              </a:spcAft>
            </a:pPr>
            <a:r>
              <a:rPr sz="1080" b="0" i="0">
                <a:solidFill>
                  <a:srgbClr val="637182"/>
                </a:solidFill>
                <a:latin typeface="Segoe UI"/>
              </a:rPr>
              <a:t>Compressed testing time increases the risk that defects go undetected before release, directly affecting product quality.</a:t>
            </a:r>
          </a:p>
        </p:txBody>
      </p:sp>
      <p:sp>
        <p:nvSpPr>
          <p:cNvPr id="12" name="TextBox 11"/>
          <p:cNvSpPr txBox="1"/>
          <p:nvPr/>
        </p:nvSpPr>
        <p:spPr>
          <a:xfrm>
            <a:off x="841248" y="4251960"/>
            <a:ext cx="3041904" cy="383695"/>
          </a:xfrm>
          <a:prstGeom prst="rect">
            <a:avLst/>
          </a:prstGeom>
          <a:noFill/>
        </p:spPr>
        <p:txBody>
          <a:bodyPr wrap="square" lIns="0" tIns="0" rIns="0" bIns="0">
            <a:spAutoFit/>
          </a:bodyPr>
          <a:lstStyle/>
          <a:p>
            <a:pPr algn="l">
              <a:spcBef>
                <a:spcPts val="0"/>
              </a:spcBef>
              <a:spcAft>
                <a:spcPts val="400"/>
              </a:spcAft>
            </a:pPr>
            <a:r>
              <a:rPr sz="1000" b="1" i="0" spc="140" dirty="0">
                <a:solidFill>
                  <a:srgbClr val="1E7A7E"/>
                </a:solidFill>
                <a:latin typeface="Segoe UI"/>
              </a:rPr>
              <a:t>NOW</a:t>
            </a:r>
          </a:p>
          <a:p>
            <a:pPr algn="l">
              <a:lnSpc>
                <a:spcPct val="118000"/>
              </a:lnSpc>
              <a:spcBef>
                <a:spcPts val="0"/>
              </a:spcBef>
              <a:spcAft>
                <a:spcPts val="400"/>
              </a:spcAft>
            </a:pPr>
            <a:r>
              <a:rPr sz="1080" b="0" i="0" dirty="0">
                <a:solidFill>
                  <a:srgbClr val="202A3A"/>
                </a:solidFill>
                <a:latin typeface="Segoe UI"/>
              </a:rPr>
              <a:t>Start testing </a:t>
            </a:r>
            <a:r>
              <a:rPr lang="en-GB" sz="1080" b="0" i="0" dirty="0">
                <a:solidFill>
                  <a:srgbClr val="202A3A"/>
                </a:solidFill>
                <a:latin typeface="Segoe UI"/>
              </a:rPr>
              <a:t>throughout the </a:t>
            </a:r>
            <a:r>
              <a:rPr lang="en-GB" sz="1080" b="0" i="0" dirty="0" err="1">
                <a:solidFill>
                  <a:srgbClr val="202A3A"/>
                </a:solidFill>
                <a:latin typeface="Segoe UI"/>
              </a:rPr>
              <a:t>developmen</a:t>
            </a:r>
            <a:r>
              <a:rPr sz="1080" b="0" i="0" dirty="0">
                <a:solidFill>
                  <a:srgbClr val="202A3A"/>
                </a:solidFill>
                <a:latin typeface="Segoe UI"/>
              </a:rPr>
              <a:t>t</a:t>
            </a:r>
          </a:p>
        </p:txBody>
      </p:sp>
      <p:sp>
        <p:nvSpPr>
          <p:cNvPr id="13" name="Rounded Rectangle 12"/>
          <p:cNvSpPr/>
          <p:nvPr/>
        </p:nvSpPr>
        <p:spPr>
          <a:xfrm>
            <a:off x="4358640" y="1508760"/>
            <a:ext cx="3444240" cy="4846320"/>
          </a:xfrm>
          <a:prstGeom prst="roundRect">
            <a:avLst>
              <a:gd name="adj" fmla="val 6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58640" y="1508760"/>
            <a:ext cx="3444240" cy="54864"/>
          </a:xfrm>
          <a:prstGeom prst="rect">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59808" y="1691640"/>
            <a:ext cx="3041904" cy="365760"/>
          </a:xfrm>
          <a:prstGeom prst="rect">
            <a:avLst/>
          </a:prstGeom>
          <a:noFill/>
        </p:spPr>
        <p:txBody>
          <a:bodyPr wrap="square" lIns="0" tIns="0" rIns="0" bIns="0">
            <a:spAutoFit/>
          </a:bodyPr>
          <a:lstStyle/>
          <a:p>
            <a:pPr algn="l">
              <a:spcBef>
                <a:spcPts val="0"/>
              </a:spcBef>
              <a:spcAft>
                <a:spcPts val="400"/>
              </a:spcAft>
            </a:pPr>
            <a:r>
              <a:rPr sz="1300" b="1" i="0">
                <a:solidFill>
                  <a:srgbClr val="637182"/>
                </a:solidFill>
                <a:latin typeface="Segoe UI Semibold"/>
              </a:rPr>
              <a:t>R7</a:t>
            </a:r>
          </a:p>
        </p:txBody>
      </p:sp>
      <p:sp>
        <p:nvSpPr>
          <p:cNvPr id="16" name="Rounded Rectangle 15"/>
          <p:cNvSpPr/>
          <p:nvPr/>
        </p:nvSpPr>
        <p:spPr>
          <a:xfrm>
            <a:off x="6550152" y="1673352"/>
            <a:ext cx="1051560" cy="274320"/>
          </a:xfrm>
          <a:prstGeom prst="roundRect">
            <a:avLst>
              <a:gd name="adj" fmla="val 50000"/>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SCORE 9</a:t>
            </a:r>
          </a:p>
        </p:txBody>
      </p:sp>
      <p:sp>
        <p:nvSpPr>
          <p:cNvPr id="17" name="TextBox 16"/>
          <p:cNvSpPr txBox="1"/>
          <p:nvPr/>
        </p:nvSpPr>
        <p:spPr>
          <a:xfrm>
            <a:off x="4559808" y="2075688"/>
            <a:ext cx="3041904" cy="777240"/>
          </a:xfrm>
          <a:prstGeom prst="rect">
            <a:avLst/>
          </a:prstGeom>
          <a:noFill/>
        </p:spPr>
        <p:txBody>
          <a:bodyPr wrap="square" lIns="0" tIns="0" rIns="0" bIns="0">
            <a:spAutoFit/>
          </a:bodyPr>
          <a:lstStyle/>
          <a:p>
            <a:pPr algn="l">
              <a:lnSpc>
                <a:spcPct val="105000"/>
              </a:lnSpc>
              <a:spcBef>
                <a:spcPts val="0"/>
              </a:spcBef>
              <a:spcAft>
                <a:spcPts val="400"/>
              </a:spcAft>
            </a:pPr>
            <a:r>
              <a:rPr sz="1500" b="1" i="0">
                <a:solidFill>
                  <a:srgbClr val="202A3A"/>
                </a:solidFill>
                <a:latin typeface="Segoe UI Semibold"/>
              </a:rPr>
              <a:t>Top-Level Functions Delay</a:t>
            </a:r>
          </a:p>
        </p:txBody>
      </p:sp>
      <p:sp>
        <p:nvSpPr>
          <p:cNvPr id="18" name="TextBox 17"/>
          <p:cNvSpPr txBox="1"/>
          <p:nvPr/>
        </p:nvSpPr>
        <p:spPr>
          <a:xfrm>
            <a:off x="4559808" y="2926080"/>
            <a:ext cx="3041904" cy="570797"/>
          </a:xfrm>
          <a:prstGeom prst="rect">
            <a:avLst/>
          </a:prstGeom>
          <a:noFill/>
        </p:spPr>
        <p:txBody>
          <a:bodyPr wrap="square" lIns="0" tIns="0" rIns="0" bIns="0">
            <a:spAutoFit/>
          </a:bodyPr>
          <a:lstStyle/>
          <a:p>
            <a:pPr algn="l">
              <a:lnSpc>
                <a:spcPct val="118000"/>
              </a:lnSpc>
              <a:spcBef>
                <a:spcPts val="0"/>
              </a:spcBef>
              <a:spcAft>
                <a:spcPts val="400"/>
              </a:spcAft>
            </a:pPr>
            <a:r>
              <a:rPr sz="1080" b="0" i="0" dirty="0">
                <a:solidFill>
                  <a:srgbClr val="637182"/>
                </a:solidFill>
                <a:latin typeface="Segoe UI"/>
              </a:rPr>
              <a:t>The project must deliver its top-level functions to satisfy stakeholder needs </a:t>
            </a:r>
            <a:r>
              <a:rPr lang="en-GB" sz="1080" dirty="0">
                <a:solidFill>
                  <a:srgbClr val="637182"/>
                </a:solidFill>
                <a:latin typeface="Segoe UI"/>
              </a:rPr>
              <a:t>because </a:t>
            </a:r>
            <a:r>
              <a:rPr sz="1080" b="0" i="0" dirty="0">
                <a:solidFill>
                  <a:srgbClr val="637182"/>
                </a:solidFill>
                <a:latin typeface="Segoe UI"/>
              </a:rPr>
              <a:t>missing them undermines the system's core value.</a:t>
            </a:r>
          </a:p>
        </p:txBody>
      </p:sp>
      <p:sp>
        <p:nvSpPr>
          <p:cNvPr id="19" name="TextBox 18"/>
          <p:cNvSpPr txBox="1"/>
          <p:nvPr/>
        </p:nvSpPr>
        <p:spPr>
          <a:xfrm>
            <a:off x="4559808" y="4251960"/>
            <a:ext cx="3041904" cy="1965960"/>
          </a:xfrm>
          <a:prstGeom prst="rect">
            <a:avLst/>
          </a:prstGeom>
          <a:noFill/>
        </p:spPr>
        <p:txBody>
          <a:bodyPr wrap="square" lIns="0" tIns="0" rIns="0" bIns="0">
            <a:spAutoFit/>
          </a:bodyPr>
          <a:lstStyle/>
          <a:p>
            <a:pPr algn="l">
              <a:spcBef>
                <a:spcPts val="0"/>
              </a:spcBef>
              <a:spcAft>
                <a:spcPts val="400"/>
              </a:spcAft>
            </a:pPr>
            <a:r>
              <a:rPr sz="1000" b="1" i="0" spc="140">
                <a:solidFill>
                  <a:srgbClr val="1E7A7E"/>
                </a:solidFill>
                <a:latin typeface="Segoe UI"/>
              </a:rPr>
              <a:t>NOW</a:t>
            </a:r>
          </a:p>
          <a:p>
            <a:pPr algn="l">
              <a:lnSpc>
                <a:spcPct val="118000"/>
              </a:lnSpc>
              <a:spcBef>
                <a:spcPts val="0"/>
              </a:spcBef>
              <a:spcAft>
                <a:spcPts val="400"/>
              </a:spcAft>
            </a:pPr>
            <a:r>
              <a:rPr sz="1080" b="0" i="0">
                <a:solidFill>
                  <a:srgbClr val="202A3A"/>
                </a:solidFill>
                <a:latin typeface="Segoe UI"/>
              </a:rPr>
              <a:t>Start with these functions first and track progress against them weekly.</a:t>
            </a:r>
          </a:p>
        </p:txBody>
      </p:sp>
      <p:sp>
        <p:nvSpPr>
          <p:cNvPr id="20" name="Rounded Rectangle 19"/>
          <p:cNvSpPr/>
          <p:nvPr/>
        </p:nvSpPr>
        <p:spPr>
          <a:xfrm>
            <a:off x="8077200" y="1508760"/>
            <a:ext cx="3444240" cy="4846320"/>
          </a:xfrm>
          <a:prstGeom prst="roundRect">
            <a:avLst>
              <a:gd name="adj" fmla="val 6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77200" y="1508760"/>
            <a:ext cx="3444240" cy="54864"/>
          </a:xfrm>
          <a:prstGeom prst="rect">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8368" y="1691640"/>
            <a:ext cx="3041904" cy="365760"/>
          </a:xfrm>
          <a:prstGeom prst="rect">
            <a:avLst/>
          </a:prstGeom>
          <a:noFill/>
        </p:spPr>
        <p:txBody>
          <a:bodyPr wrap="square" lIns="0" tIns="0" rIns="0" bIns="0">
            <a:spAutoFit/>
          </a:bodyPr>
          <a:lstStyle/>
          <a:p>
            <a:pPr algn="l">
              <a:spcBef>
                <a:spcPts val="0"/>
              </a:spcBef>
              <a:spcAft>
                <a:spcPts val="400"/>
              </a:spcAft>
            </a:pPr>
            <a:r>
              <a:rPr sz="1300" b="1" i="0">
                <a:solidFill>
                  <a:srgbClr val="637182"/>
                </a:solidFill>
                <a:latin typeface="Segoe UI Semibold"/>
              </a:rPr>
              <a:t>R10</a:t>
            </a:r>
          </a:p>
        </p:txBody>
      </p:sp>
      <p:sp>
        <p:nvSpPr>
          <p:cNvPr id="23" name="Rounded Rectangle 22"/>
          <p:cNvSpPr/>
          <p:nvPr/>
        </p:nvSpPr>
        <p:spPr>
          <a:xfrm>
            <a:off x="10268712" y="1673352"/>
            <a:ext cx="1051560" cy="274320"/>
          </a:xfrm>
          <a:prstGeom prst="roundRect">
            <a:avLst>
              <a:gd name="adj" fmla="val 50000"/>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i="0">
                <a:solidFill>
                  <a:srgbClr val="FFFFFF"/>
                </a:solidFill>
                <a:latin typeface="Segoe UI"/>
              </a:rPr>
              <a:t>SCORE 9</a:t>
            </a:r>
          </a:p>
        </p:txBody>
      </p:sp>
      <p:sp>
        <p:nvSpPr>
          <p:cNvPr id="24" name="TextBox 23"/>
          <p:cNvSpPr txBox="1"/>
          <p:nvPr/>
        </p:nvSpPr>
        <p:spPr>
          <a:xfrm>
            <a:off x="8278368" y="2075688"/>
            <a:ext cx="3041904" cy="777240"/>
          </a:xfrm>
          <a:prstGeom prst="rect">
            <a:avLst/>
          </a:prstGeom>
          <a:noFill/>
        </p:spPr>
        <p:txBody>
          <a:bodyPr wrap="square" lIns="0" tIns="0" rIns="0" bIns="0">
            <a:spAutoFit/>
          </a:bodyPr>
          <a:lstStyle/>
          <a:p>
            <a:pPr algn="l">
              <a:lnSpc>
                <a:spcPct val="105000"/>
              </a:lnSpc>
              <a:spcBef>
                <a:spcPts val="0"/>
              </a:spcBef>
              <a:spcAft>
                <a:spcPts val="400"/>
              </a:spcAft>
            </a:pPr>
            <a:r>
              <a:rPr sz="1500" b="1" i="0">
                <a:solidFill>
                  <a:srgbClr val="202A3A"/>
                </a:solidFill>
                <a:latin typeface="Segoe UI Semibold"/>
              </a:rPr>
              <a:t>Project Date Projections</a:t>
            </a:r>
          </a:p>
        </p:txBody>
      </p:sp>
      <p:sp>
        <p:nvSpPr>
          <p:cNvPr id="25" name="TextBox 24"/>
          <p:cNvSpPr txBox="1"/>
          <p:nvPr/>
        </p:nvSpPr>
        <p:spPr>
          <a:xfrm>
            <a:off x="8278368" y="2926080"/>
            <a:ext cx="3041904" cy="1188720"/>
          </a:xfrm>
          <a:prstGeom prst="rect">
            <a:avLst/>
          </a:prstGeom>
          <a:noFill/>
        </p:spPr>
        <p:txBody>
          <a:bodyPr wrap="square" lIns="0" tIns="0" rIns="0" bIns="0">
            <a:spAutoFit/>
          </a:bodyPr>
          <a:lstStyle/>
          <a:p>
            <a:pPr algn="l">
              <a:lnSpc>
                <a:spcPct val="118000"/>
              </a:lnSpc>
              <a:spcBef>
                <a:spcPts val="0"/>
              </a:spcBef>
              <a:spcAft>
                <a:spcPts val="400"/>
              </a:spcAft>
            </a:pPr>
            <a:r>
              <a:rPr sz="1080" b="0" i="0">
                <a:solidFill>
                  <a:srgbClr val="637182"/>
                </a:solidFill>
                <a:latin typeface="Segoe UI"/>
              </a:rPr>
              <a:t>Inaccurate timeline estimates risk missed milestones and pressure to cut scope or quality near delivery.</a:t>
            </a:r>
          </a:p>
        </p:txBody>
      </p:sp>
      <p:sp>
        <p:nvSpPr>
          <p:cNvPr id="26" name="TextBox 25"/>
          <p:cNvSpPr txBox="1"/>
          <p:nvPr/>
        </p:nvSpPr>
        <p:spPr>
          <a:xfrm>
            <a:off x="8278368" y="4251960"/>
            <a:ext cx="3041904" cy="1965960"/>
          </a:xfrm>
          <a:prstGeom prst="rect">
            <a:avLst/>
          </a:prstGeom>
          <a:noFill/>
        </p:spPr>
        <p:txBody>
          <a:bodyPr wrap="square" lIns="0" tIns="0" rIns="0" bIns="0">
            <a:spAutoFit/>
          </a:bodyPr>
          <a:lstStyle/>
          <a:p>
            <a:pPr algn="l">
              <a:spcBef>
                <a:spcPts val="0"/>
              </a:spcBef>
              <a:spcAft>
                <a:spcPts val="400"/>
              </a:spcAft>
            </a:pPr>
            <a:r>
              <a:rPr sz="1000" b="1" i="0" spc="140">
                <a:solidFill>
                  <a:srgbClr val="1E7A7E"/>
                </a:solidFill>
                <a:latin typeface="Segoe UI"/>
              </a:rPr>
              <a:t>NOW</a:t>
            </a:r>
          </a:p>
          <a:p>
            <a:pPr algn="l">
              <a:lnSpc>
                <a:spcPct val="118000"/>
              </a:lnSpc>
              <a:spcBef>
                <a:spcPts val="0"/>
              </a:spcBef>
              <a:spcAft>
                <a:spcPts val="400"/>
              </a:spcAft>
            </a:pPr>
            <a:r>
              <a:rPr sz="1080" b="0" i="0">
                <a:solidFill>
                  <a:srgbClr val="202A3A"/>
                </a:solidFill>
                <a:latin typeface="Segoe UI"/>
              </a:rPr>
              <a:t>Build in schedule buffers, break work into smaller milestones, review the timeline weekly.</a:t>
            </a:r>
          </a:p>
        </p:txBody>
      </p:sp>
      <p:sp>
        <p:nvSpPr>
          <p:cNvPr id="27" name="Rectangle 2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29" name="TextBox 2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Refined Project Scope</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POST-FEASIBILITY ADJUSTMENTS</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994750932"/>
              </p:ext>
            </p:extLst>
          </p:nvPr>
        </p:nvGraphicFramePr>
        <p:xfrm>
          <a:off x="640080" y="1508760"/>
          <a:ext cx="10881360" cy="4608576"/>
        </p:xfrm>
        <a:graphic>
          <a:graphicData uri="http://schemas.openxmlformats.org/drawingml/2006/table">
            <a:tbl>
              <a:tblPr>
                <a:tableStyleId>{5C22544A-7EE6-4342-B048-85BDC9FD1C3A}</a:tableStyleId>
              </a:tblPr>
              <a:tblGrid>
                <a:gridCol w="39319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512064">
                <a:tc>
                  <a:txBody>
                    <a:bodyPr/>
                    <a:lstStyle/>
                    <a:p>
                      <a:pPr algn="l"/>
                      <a:r>
                        <a:rPr sz="1200" b="1" i="0">
                          <a:solidFill>
                            <a:srgbClr val="FFFFFF"/>
                          </a:solidFill>
                          <a:latin typeface="Segoe UI Semibold"/>
                        </a:rPr>
                        <a:t>Function / Requirement</a:t>
                      </a:r>
                    </a:p>
                  </a:txBody>
                  <a:tcPr marL="73152" marR="73152" marT="36576" marB="36576" anchor="ctr">
                    <a:solidFill>
                      <a:srgbClr val="12233F"/>
                    </a:solidFill>
                  </a:tcPr>
                </a:tc>
                <a:tc>
                  <a:txBody>
                    <a:bodyPr/>
                    <a:lstStyle/>
                    <a:p>
                      <a:pPr algn="ctr"/>
                      <a:r>
                        <a:rPr sz="1200" b="1" i="0">
                          <a:solidFill>
                            <a:srgbClr val="FFFFFF"/>
                          </a:solidFill>
                          <a:latin typeface="Segoe UI Semibold"/>
                        </a:rPr>
                        <a:t>Decision</a:t>
                      </a:r>
                    </a:p>
                  </a:txBody>
                  <a:tcPr marL="73152" marR="73152" marT="36576" marB="36576" anchor="ctr">
                    <a:solidFill>
                      <a:srgbClr val="12233F"/>
                    </a:solidFill>
                  </a:tcPr>
                </a:tc>
                <a:tc>
                  <a:txBody>
                    <a:bodyPr/>
                    <a:lstStyle/>
                    <a:p>
                      <a:pPr algn="l"/>
                      <a:r>
                        <a:rPr sz="1200" b="1" i="0">
                          <a:solidFill>
                            <a:srgbClr val="FFFFFF"/>
                          </a:solidFill>
                          <a:latin typeface="Segoe UI Semibold"/>
                        </a:rPr>
                        <a:t>Reason</a:t>
                      </a:r>
                    </a:p>
                  </a:txBody>
                  <a:tcPr marL="73152" marR="73152" marT="36576" marB="36576" anchor="ctr">
                    <a:solidFill>
                      <a:srgbClr val="12233F"/>
                    </a:solidFill>
                  </a:tcPr>
                </a:tc>
                <a:extLst>
                  <a:ext uri="{0D108BD9-81ED-4DB2-BD59-A6C34878D82A}">
                    <a16:rowId xmlns:a16="http://schemas.microsoft.com/office/drawing/2014/main" val="10000"/>
                  </a:ext>
                </a:extLst>
              </a:tr>
              <a:tr h="512064">
                <a:tc>
                  <a:txBody>
                    <a:bodyPr/>
                    <a:lstStyle/>
                    <a:p>
                      <a:pPr algn="l"/>
                      <a:r>
                        <a:rPr sz="1150" b="0" i="0">
                          <a:solidFill>
                            <a:srgbClr val="202A3A"/>
                          </a:solidFill>
                          <a:latin typeface="Segoe UI"/>
                        </a:rPr>
                        <a:t>Parent account creation</a:t>
                      </a:r>
                    </a:p>
                  </a:txBody>
                  <a:tcPr marL="73152" marR="73152" marT="36576" marB="36576" anchor="ctr">
                    <a:solidFill>
                      <a:srgbClr val="FFFFFF"/>
                    </a:solidFill>
                  </a:tcPr>
                </a:tc>
                <a:tc>
                  <a:txBody>
                    <a:bodyPr/>
                    <a:lstStyle/>
                    <a:p>
                      <a:pPr algn="ctr"/>
                      <a:r>
                        <a:rPr sz="1150" b="1" i="0">
                          <a:solidFill>
                            <a:srgbClr val="249B5E"/>
                          </a:solidFill>
                          <a:latin typeface="Segoe UI"/>
                        </a:rPr>
                        <a:t>Keep</a:t>
                      </a:r>
                    </a:p>
                  </a:txBody>
                  <a:tcPr marL="73152" marR="73152" marT="36576" marB="36576" anchor="ctr">
                    <a:solidFill>
                      <a:srgbClr val="FFFFFF"/>
                    </a:solidFill>
                  </a:tcPr>
                </a:tc>
                <a:tc>
                  <a:txBody>
                    <a:bodyPr/>
                    <a:lstStyle/>
                    <a:p>
                      <a:pPr algn="l"/>
                      <a:r>
                        <a:rPr sz="1150" b="0" i="0">
                          <a:solidFill>
                            <a:srgbClr val="202A3A"/>
                          </a:solidFill>
                          <a:latin typeface="Segoe UI"/>
                        </a:rPr>
                        <a:t>Core requirement</a:t>
                      </a:r>
                    </a:p>
                  </a:txBody>
                  <a:tcPr marL="73152" marR="73152" marT="36576" marB="36576" anchor="ctr">
                    <a:solidFill>
                      <a:srgbClr val="FFFFFF"/>
                    </a:solidFill>
                  </a:tcPr>
                </a:tc>
                <a:extLst>
                  <a:ext uri="{0D108BD9-81ED-4DB2-BD59-A6C34878D82A}">
                    <a16:rowId xmlns:a16="http://schemas.microsoft.com/office/drawing/2014/main" val="10001"/>
                  </a:ext>
                </a:extLst>
              </a:tr>
              <a:tr h="512064">
                <a:tc>
                  <a:txBody>
                    <a:bodyPr/>
                    <a:lstStyle/>
                    <a:p>
                      <a:pPr algn="l"/>
                      <a:r>
                        <a:rPr sz="1150" b="0" i="0">
                          <a:solidFill>
                            <a:srgbClr val="202A3A"/>
                          </a:solidFill>
                          <a:latin typeface="Segoe UI"/>
                        </a:rPr>
                        <a:t>Learner application submission</a:t>
                      </a:r>
                    </a:p>
                  </a:txBody>
                  <a:tcPr marL="73152" marR="73152" marT="36576" marB="36576" anchor="ctr">
                    <a:solidFill>
                      <a:srgbClr val="F6F8FB"/>
                    </a:solidFill>
                  </a:tcPr>
                </a:tc>
                <a:tc>
                  <a:txBody>
                    <a:bodyPr/>
                    <a:lstStyle/>
                    <a:p>
                      <a:pPr algn="ctr"/>
                      <a:r>
                        <a:rPr sz="1150" b="1" i="0">
                          <a:solidFill>
                            <a:srgbClr val="249B5E"/>
                          </a:solidFill>
                          <a:latin typeface="Segoe UI"/>
                        </a:rPr>
                        <a:t>Keep</a:t>
                      </a:r>
                    </a:p>
                  </a:txBody>
                  <a:tcPr marL="73152" marR="73152" marT="36576" marB="36576" anchor="ctr">
                    <a:solidFill>
                      <a:srgbClr val="F6F8FB"/>
                    </a:solidFill>
                  </a:tcPr>
                </a:tc>
                <a:tc>
                  <a:txBody>
                    <a:bodyPr/>
                    <a:lstStyle/>
                    <a:p>
                      <a:pPr algn="l"/>
                      <a:r>
                        <a:rPr sz="1150" b="0" i="0">
                          <a:solidFill>
                            <a:srgbClr val="202A3A"/>
                          </a:solidFill>
                          <a:latin typeface="Segoe UI"/>
                        </a:rPr>
                        <a:t>Core requirement</a:t>
                      </a:r>
                    </a:p>
                  </a:txBody>
                  <a:tcPr marL="73152" marR="73152" marT="36576" marB="36576" anchor="ctr">
                    <a:solidFill>
                      <a:srgbClr val="F6F8FB"/>
                    </a:solidFill>
                  </a:tcPr>
                </a:tc>
                <a:extLst>
                  <a:ext uri="{0D108BD9-81ED-4DB2-BD59-A6C34878D82A}">
                    <a16:rowId xmlns:a16="http://schemas.microsoft.com/office/drawing/2014/main" val="10002"/>
                  </a:ext>
                </a:extLst>
              </a:tr>
              <a:tr h="512064">
                <a:tc>
                  <a:txBody>
                    <a:bodyPr/>
                    <a:lstStyle/>
                    <a:p>
                      <a:pPr algn="l"/>
                      <a:r>
                        <a:rPr sz="1150" b="0" i="0">
                          <a:solidFill>
                            <a:srgbClr val="202A3A"/>
                          </a:solidFill>
                          <a:latin typeface="Segoe UI"/>
                        </a:rPr>
                        <a:t>View application status</a:t>
                      </a:r>
                    </a:p>
                  </a:txBody>
                  <a:tcPr marL="73152" marR="73152" marT="36576" marB="36576" anchor="ctr">
                    <a:solidFill>
                      <a:srgbClr val="FFFFFF"/>
                    </a:solidFill>
                  </a:tcPr>
                </a:tc>
                <a:tc>
                  <a:txBody>
                    <a:bodyPr/>
                    <a:lstStyle/>
                    <a:p>
                      <a:pPr algn="ctr"/>
                      <a:r>
                        <a:rPr sz="1150" b="1" i="0">
                          <a:solidFill>
                            <a:srgbClr val="249B5E"/>
                          </a:solidFill>
                          <a:latin typeface="Segoe UI"/>
                        </a:rPr>
                        <a:t>Keep</a:t>
                      </a:r>
                    </a:p>
                  </a:txBody>
                  <a:tcPr marL="73152" marR="73152" marT="36576" marB="36576" anchor="ctr">
                    <a:solidFill>
                      <a:srgbClr val="FFFFFF"/>
                    </a:solidFill>
                  </a:tcPr>
                </a:tc>
                <a:tc>
                  <a:txBody>
                    <a:bodyPr/>
                    <a:lstStyle/>
                    <a:p>
                      <a:pPr algn="l"/>
                      <a:r>
                        <a:rPr sz="1150" b="0" i="0">
                          <a:solidFill>
                            <a:srgbClr val="202A3A"/>
                          </a:solidFill>
                          <a:latin typeface="Segoe UI"/>
                        </a:rPr>
                        <a:t>Core requirement</a:t>
                      </a:r>
                    </a:p>
                  </a:txBody>
                  <a:tcPr marL="73152" marR="73152" marT="36576" marB="36576" anchor="ctr">
                    <a:solidFill>
                      <a:srgbClr val="FFFFFF"/>
                    </a:solidFill>
                  </a:tcPr>
                </a:tc>
                <a:extLst>
                  <a:ext uri="{0D108BD9-81ED-4DB2-BD59-A6C34878D82A}">
                    <a16:rowId xmlns:a16="http://schemas.microsoft.com/office/drawing/2014/main" val="10003"/>
                  </a:ext>
                </a:extLst>
              </a:tr>
              <a:tr h="512064">
                <a:tc>
                  <a:txBody>
                    <a:bodyPr/>
                    <a:lstStyle/>
                    <a:p>
                      <a:pPr algn="l"/>
                      <a:r>
                        <a:rPr sz="1150" b="0" i="0">
                          <a:solidFill>
                            <a:srgbClr val="202A3A"/>
                          </a:solidFill>
                          <a:latin typeface="Segoe UI"/>
                        </a:rPr>
                        <a:t>Admin accept / reject applications</a:t>
                      </a:r>
                    </a:p>
                  </a:txBody>
                  <a:tcPr marL="73152" marR="73152" marT="36576" marB="36576" anchor="ctr">
                    <a:solidFill>
                      <a:srgbClr val="F6F8FB"/>
                    </a:solidFill>
                  </a:tcPr>
                </a:tc>
                <a:tc>
                  <a:txBody>
                    <a:bodyPr/>
                    <a:lstStyle/>
                    <a:p>
                      <a:pPr algn="ctr"/>
                      <a:r>
                        <a:rPr sz="1150" b="1" i="0">
                          <a:solidFill>
                            <a:srgbClr val="249B5E"/>
                          </a:solidFill>
                          <a:latin typeface="Segoe UI"/>
                        </a:rPr>
                        <a:t>Keep</a:t>
                      </a:r>
                    </a:p>
                  </a:txBody>
                  <a:tcPr marL="73152" marR="73152" marT="36576" marB="36576" anchor="ctr">
                    <a:solidFill>
                      <a:srgbClr val="F6F8FB"/>
                    </a:solidFill>
                  </a:tcPr>
                </a:tc>
                <a:tc>
                  <a:txBody>
                    <a:bodyPr/>
                    <a:lstStyle/>
                    <a:p>
                      <a:pPr algn="l"/>
                      <a:r>
                        <a:rPr sz="1150" b="0" i="0">
                          <a:solidFill>
                            <a:srgbClr val="202A3A"/>
                          </a:solidFill>
                          <a:latin typeface="Segoe UI"/>
                        </a:rPr>
                        <a:t>Core requirement</a:t>
                      </a:r>
                    </a:p>
                  </a:txBody>
                  <a:tcPr marL="73152" marR="73152" marT="36576" marB="36576" anchor="ctr">
                    <a:solidFill>
                      <a:srgbClr val="F6F8FB"/>
                    </a:solidFill>
                  </a:tcPr>
                </a:tc>
                <a:extLst>
                  <a:ext uri="{0D108BD9-81ED-4DB2-BD59-A6C34878D82A}">
                    <a16:rowId xmlns:a16="http://schemas.microsoft.com/office/drawing/2014/main" val="10004"/>
                  </a:ext>
                </a:extLst>
              </a:tr>
              <a:tr h="512064">
                <a:tc>
                  <a:txBody>
                    <a:bodyPr/>
                    <a:lstStyle/>
                    <a:p>
                      <a:pPr algn="l"/>
                      <a:r>
                        <a:rPr sz="1150" b="0" i="0">
                          <a:solidFill>
                            <a:srgbClr val="202A3A"/>
                          </a:solidFill>
                          <a:latin typeface="Segoe UI"/>
                        </a:rPr>
                        <a:t>View &amp; publish school updates</a:t>
                      </a:r>
                    </a:p>
                  </a:txBody>
                  <a:tcPr marL="73152" marR="73152" marT="36576" marB="36576" anchor="ctr">
                    <a:solidFill>
                      <a:srgbClr val="FFFFFF"/>
                    </a:solidFill>
                  </a:tcPr>
                </a:tc>
                <a:tc>
                  <a:txBody>
                    <a:bodyPr/>
                    <a:lstStyle/>
                    <a:p>
                      <a:pPr algn="ctr"/>
                      <a:r>
                        <a:rPr sz="1150" b="1" i="0">
                          <a:solidFill>
                            <a:srgbClr val="249B5E"/>
                          </a:solidFill>
                          <a:latin typeface="Segoe UI"/>
                        </a:rPr>
                        <a:t>Keep</a:t>
                      </a:r>
                    </a:p>
                  </a:txBody>
                  <a:tcPr marL="73152" marR="73152" marT="36576" marB="36576" anchor="ctr">
                    <a:solidFill>
                      <a:srgbClr val="FFFFFF"/>
                    </a:solidFill>
                  </a:tcPr>
                </a:tc>
                <a:tc>
                  <a:txBody>
                    <a:bodyPr/>
                    <a:lstStyle/>
                    <a:p>
                      <a:pPr algn="l"/>
                      <a:r>
                        <a:rPr sz="1150" b="0" i="0">
                          <a:solidFill>
                            <a:srgbClr val="202A3A"/>
                          </a:solidFill>
                          <a:latin typeface="Segoe UI"/>
                        </a:rPr>
                        <a:t>Core requirement</a:t>
                      </a:r>
                    </a:p>
                  </a:txBody>
                  <a:tcPr marL="73152" marR="73152" marT="36576" marB="36576" anchor="ctr">
                    <a:solidFill>
                      <a:srgbClr val="FFFFFF"/>
                    </a:solidFill>
                  </a:tcPr>
                </a:tc>
                <a:extLst>
                  <a:ext uri="{0D108BD9-81ED-4DB2-BD59-A6C34878D82A}">
                    <a16:rowId xmlns:a16="http://schemas.microsoft.com/office/drawing/2014/main" val="10005"/>
                  </a:ext>
                </a:extLst>
              </a:tr>
              <a:tr h="512064">
                <a:tc>
                  <a:txBody>
                    <a:bodyPr/>
                    <a:lstStyle/>
                    <a:p>
                      <a:pPr algn="l"/>
                      <a:r>
                        <a:rPr sz="1150" b="0" i="0">
                          <a:solidFill>
                            <a:srgbClr val="202A3A"/>
                          </a:solidFill>
                          <a:latin typeface="Segoe UI"/>
                        </a:rPr>
                        <a:t>View &amp; publish school achievements</a:t>
                      </a:r>
                    </a:p>
                  </a:txBody>
                  <a:tcPr marL="73152" marR="73152" marT="36576" marB="36576" anchor="ctr">
                    <a:solidFill>
                      <a:srgbClr val="F6F8FB"/>
                    </a:solidFill>
                  </a:tcPr>
                </a:tc>
                <a:tc>
                  <a:txBody>
                    <a:bodyPr/>
                    <a:lstStyle/>
                    <a:p>
                      <a:pPr algn="ctr"/>
                      <a:r>
                        <a:rPr sz="1150" b="1" i="0">
                          <a:solidFill>
                            <a:srgbClr val="249B5E"/>
                          </a:solidFill>
                          <a:latin typeface="Segoe UI"/>
                        </a:rPr>
                        <a:t>Keep</a:t>
                      </a:r>
                    </a:p>
                  </a:txBody>
                  <a:tcPr marL="73152" marR="73152" marT="36576" marB="36576" anchor="ctr">
                    <a:solidFill>
                      <a:srgbClr val="F6F8FB"/>
                    </a:solidFill>
                  </a:tcPr>
                </a:tc>
                <a:tc>
                  <a:txBody>
                    <a:bodyPr/>
                    <a:lstStyle/>
                    <a:p>
                      <a:pPr algn="l"/>
                      <a:r>
                        <a:rPr sz="1150" b="0" i="0">
                          <a:solidFill>
                            <a:srgbClr val="202A3A"/>
                          </a:solidFill>
                          <a:latin typeface="Segoe UI"/>
                        </a:rPr>
                        <a:t>Core requirement</a:t>
                      </a:r>
                    </a:p>
                  </a:txBody>
                  <a:tcPr marL="73152" marR="73152" marT="36576" marB="36576" anchor="ctr">
                    <a:solidFill>
                      <a:srgbClr val="F6F8FB"/>
                    </a:solidFill>
                  </a:tcPr>
                </a:tc>
                <a:extLst>
                  <a:ext uri="{0D108BD9-81ED-4DB2-BD59-A6C34878D82A}">
                    <a16:rowId xmlns:a16="http://schemas.microsoft.com/office/drawing/2014/main" val="10006"/>
                  </a:ext>
                </a:extLst>
              </a:tr>
              <a:tr h="512064">
                <a:tc>
                  <a:txBody>
                    <a:bodyPr/>
                    <a:lstStyle/>
                    <a:p>
                      <a:pPr algn="l"/>
                      <a:r>
                        <a:rPr sz="1150" b="0" i="0">
                          <a:solidFill>
                            <a:srgbClr val="202A3A"/>
                          </a:solidFill>
                          <a:latin typeface="Segoe UI"/>
                        </a:rPr>
                        <a:t>User / admin role differentiation</a:t>
                      </a:r>
                    </a:p>
                  </a:txBody>
                  <a:tcPr marL="73152" marR="73152" marT="36576" marB="36576" anchor="ctr">
                    <a:solidFill>
                      <a:srgbClr val="FFFFFF"/>
                    </a:solidFill>
                  </a:tcPr>
                </a:tc>
                <a:tc>
                  <a:txBody>
                    <a:bodyPr/>
                    <a:lstStyle/>
                    <a:p>
                      <a:pPr algn="ctr"/>
                      <a:r>
                        <a:rPr sz="1150" b="1" i="0">
                          <a:solidFill>
                            <a:srgbClr val="249B5E"/>
                          </a:solidFill>
                          <a:latin typeface="Segoe UI"/>
                        </a:rPr>
                        <a:t>Keep</a:t>
                      </a:r>
                    </a:p>
                  </a:txBody>
                  <a:tcPr marL="73152" marR="73152" marT="36576" marB="36576" anchor="ctr">
                    <a:solidFill>
                      <a:srgbClr val="FFFFFF"/>
                    </a:solidFill>
                  </a:tcPr>
                </a:tc>
                <a:tc>
                  <a:txBody>
                    <a:bodyPr/>
                    <a:lstStyle/>
                    <a:p>
                      <a:pPr algn="l"/>
                      <a:r>
                        <a:rPr sz="1150" b="0" i="0">
                          <a:solidFill>
                            <a:srgbClr val="202A3A"/>
                          </a:solidFill>
                          <a:latin typeface="Segoe UI"/>
                        </a:rPr>
                        <a:t>Core requirement</a:t>
                      </a:r>
                    </a:p>
                  </a:txBody>
                  <a:tcPr marL="73152" marR="73152" marT="36576" marB="36576" anchor="ctr">
                    <a:solidFill>
                      <a:srgbClr val="FFFFFF"/>
                    </a:solidFill>
                  </a:tcPr>
                </a:tc>
                <a:extLst>
                  <a:ext uri="{0D108BD9-81ED-4DB2-BD59-A6C34878D82A}">
                    <a16:rowId xmlns:a16="http://schemas.microsoft.com/office/drawing/2014/main" val="10007"/>
                  </a:ext>
                </a:extLst>
              </a:tr>
              <a:tr h="512064">
                <a:tc>
                  <a:txBody>
                    <a:bodyPr/>
                    <a:lstStyle/>
                    <a:p>
                      <a:pPr algn="l"/>
                      <a:r>
                        <a:rPr sz="1150" b="0" i="0">
                          <a:solidFill>
                            <a:srgbClr val="202A3A"/>
                          </a:solidFill>
                          <a:latin typeface="Segoe UI"/>
                        </a:rPr>
                        <a:t>Bulk SMS notifications (NR5)</a:t>
                      </a:r>
                    </a:p>
                  </a:txBody>
                  <a:tcPr marL="73152" marR="73152" marT="36576" marB="36576" anchor="ctr">
                    <a:solidFill>
                      <a:srgbClr val="F6F8FB"/>
                    </a:solidFill>
                  </a:tcPr>
                </a:tc>
                <a:tc>
                  <a:txBody>
                    <a:bodyPr/>
                    <a:lstStyle/>
                    <a:p>
                      <a:pPr algn="ctr"/>
                      <a:r>
                        <a:rPr sz="1150" b="1" i="0">
                          <a:solidFill>
                            <a:srgbClr val="D94A3E"/>
                          </a:solidFill>
                          <a:latin typeface="Segoe UI"/>
                        </a:rPr>
                        <a:t>Remove</a:t>
                      </a:r>
                    </a:p>
                  </a:txBody>
                  <a:tcPr marL="73152" marR="73152" marT="36576" marB="36576" anchor="ctr">
                    <a:solidFill>
                      <a:srgbClr val="F6F8FB"/>
                    </a:solidFill>
                  </a:tcPr>
                </a:tc>
                <a:tc>
                  <a:txBody>
                    <a:bodyPr/>
                    <a:lstStyle/>
                    <a:p>
                      <a:pPr algn="l"/>
                      <a:r>
                        <a:rPr sz="1150" b="0" i="0" dirty="0">
                          <a:solidFill>
                            <a:srgbClr val="202A3A"/>
                          </a:solidFill>
                          <a:latin typeface="Segoe UI"/>
                        </a:rPr>
                        <a:t>Scope &amp; time constraints </a:t>
                      </a:r>
                      <a:r>
                        <a:rPr lang="en-GB" sz="1150" b="0" i="0" dirty="0">
                          <a:solidFill>
                            <a:srgbClr val="202A3A"/>
                          </a:solidFill>
                          <a:latin typeface="Segoe UI"/>
                        </a:rPr>
                        <a:t>-</a:t>
                      </a:r>
                      <a:r>
                        <a:rPr sz="1150" b="0" i="0" dirty="0">
                          <a:solidFill>
                            <a:srgbClr val="202A3A"/>
                          </a:solidFill>
                          <a:latin typeface="Segoe UI"/>
                        </a:rPr>
                        <a:t> not feasible this semester</a:t>
                      </a:r>
                    </a:p>
                  </a:txBody>
                  <a:tcPr marL="73152" marR="73152" marT="36576" marB="36576" anchor="ctr">
                    <a:solidFill>
                      <a:srgbClr val="F6F8FB"/>
                    </a:solidFill>
                  </a:tcPr>
                </a:tc>
                <a:extLst>
                  <a:ext uri="{0D108BD9-81ED-4DB2-BD59-A6C34878D82A}">
                    <a16:rowId xmlns:a16="http://schemas.microsoft.com/office/drawing/2014/main" val="10008"/>
                  </a:ext>
                </a:extLst>
              </a:tr>
            </a:tbl>
          </a:graphicData>
        </a:graphic>
      </p:graphicFrame>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SWOT Analysis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STRATEGIC VIEW</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08760"/>
            <a:ext cx="5303520" cy="23317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08760"/>
            <a:ext cx="54864" cy="2331720"/>
          </a:xfrm>
          <a:prstGeom prst="rect">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655064"/>
            <a:ext cx="486460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Strengths</a:t>
            </a:r>
          </a:p>
        </p:txBody>
      </p:sp>
      <p:sp>
        <p:nvSpPr>
          <p:cNvPr id="9" name="TextBox 8"/>
          <p:cNvSpPr txBox="1"/>
          <p:nvPr/>
        </p:nvSpPr>
        <p:spPr>
          <a:xfrm>
            <a:off x="859536" y="2020824"/>
            <a:ext cx="4864608" cy="1673352"/>
          </a:xfrm>
          <a:prstGeom prst="rect">
            <a:avLst/>
          </a:prstGeom>
          <a:noFill/>
        </p:spPr>
        <p:txBody>
          <a:bodyPr wrap="square" lIns="0" tIns="0" rIns="0" bIns="0">
            <a:spAutoFit/>
          </a:bodyPr>
          <a:lstStyle/>
          <a:p>
            <a:pPr>
              <a:lnSpc>
                <a:spcPct val="108000"/>
              </a:lnSpc>
              <a:spcAft>
                <a:spcPts val="400"/>
              </a:spcAft>
            </a:pPr>
            <a:r>
              <a:rPr sz="1100" b="1" i="0">
                <a:solidFill>
                  <a:srgbClr val="1E7A7E"/>
                </a:solidFill>
                <a:latin typeface="Segoe UI"/>
              </a:rPr>
              <a:t>–  </a:t>
            </a:r>
            <a:r>
              <a:rPr sz="1100" b="0" i="0">
                <a:solidFill>
                  <a:srgbClr val="202A3A"/>
                </a:solidFill>
                <a:latin typeface="Segoe UI"/>
              </a:rPr>
              <a:t>Strong Flutter skills and full tool access</a:t>
            </a:r>
          </a:p>
          <a:p>
            <a:pPr>
              <a:lnSpc>
                <a:spcPct val="108000"/>
              </a:lnSpc>
              <a:spcAft>
                <a:spcPts val="400"/>
              </a:spcAft>
            </a:pPr>
            <a:r>
              <a:rPr sz="1100" b="1" i="0">
                <a:solidFill>
                  <a:srgbClr val="1E7A7E"/>
                </a:solidFill>
                <a:latin typeface="Segoe UI"/>
              </a:rPr>
              <a:t>–  </a:t>
            </a:r>
            <a:r>
              <a:rPr sz="1100" b="0" i="0">
                <a:solidFill>
                  <a:srgbClr val="202A3A"/>
                </a:solidFill>
                <a:latin typeface="Segoe UI"/>
              </a:rPr>
              <a:t>Flutter + ASP.NET + Supabase is a strong stack fit</a:t>
            </a:r>
          </a:p>
          <a:p>
            <a:pPr>
              <a:lnSpc>
                <a:spcPct val="108000"/>
              </a:lnSpc>
              <a:spcAft>
                <a:spcPts val="400"/>
              </a:spcAft>
            </a:pPr>
            <a:r>
              <a:rPr sz="1100" b="1" i="0">
                <a:solidFill>
                  <a:srgbClr val="1E7A7E"/>
                </a:solidFill>
                <a:latin typeface="Segoe UI"/>
              </a:rPr>
              <a:t>–  </a:t>
            </a:r>
            <a:r>
              <a:rPr sz="1100" b="0" i="0">
                <a:solidFill>
                  <a:srgbClr val="202A3A"/>
                </a:solidFill>
                <a:latin typeface="Segoe UI"/>
              </a:rPr>
              <a:t>Stakeholder is engaged and well aligned</a:t>
            </a:r>
          </a:p>
          <a:p>
            <a:pPr>
              <a:lnSpc>
                <a:spcPct val="108000"/>
              </a:lnSpc>
              <a:spcAft>
                <a:spcPts val="400"/>
              </a:spcAft>
            </a:pPr>
            <a:r>
              <a:rPr sz="1100" b="1" i="0">
                <a:solidFill>
                  <a:srgbClr val="1E7A7E"/>
                </a:solidFill>
                <a:latin typeface="Segoe UI"/>
              </a:rPr>
              <a:t>–  </a:t>
            </a:r>
            <a:r>
              <a:rPr sz="1100" b="0" i="0">
                <a:solidFill>
                  <a:srgbClr val="202A3A"/>
                </a:solidFill>
                <a:latin typeface="Segoe UI"/>
              </a:rPr>
              <a:t>Core features map directly to real pain points</a:t>
            </a:r>
          </a:p>
          <a:p>
            <a:pPr>
              <a:lnSpc>
                <a:spcPct val="108000"/>
              </a:lnSpc>
              <a:spcAft>
                <a:spcPts val="400"/>
              </a:spcAft>
            </a:pPr>
            <a:r>
              <a:rPr sz="1100" b="1" i="0">
                <a:solidFill>
                  <a:srgbClr val="1E7A7E"/>
                </a:solidFill>
                <a:latin typeface="Segoe UI"/>
              </a:rPr>
              <a:t>–  </a:t>
            </a:r>
            <a:r>
              <a:rPr sz="1100" b="0" i="0">
                <a:solidFill>
                  <a:srgbClr val="202A3A"/>
                </a:solidFill>
                <a:latin typeface="Segoe UI"/>
              </a:rPr>
              <a:t>Free tooling keeps project cost at zero</a:t>
            </a:r>
          </a:p>
        </p:txBody>
      </p:sp>
      <p:sp>
        <p:nvSpPr>
          <p:cNvPr id="10" name="Rounded Rectangle 9"/>
          <p:cNvSpPr/>
          <p:nvPr/>
        </p:nvSpPr>
        <p:spPr>
          <a:xfrm>
            <a:off x="6217920" y="1508760"/>
            <a:ext cx="5303520" cy="23317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508760"/>
            <a:ext cx="54864" cy="2331720"/>
          </a:xfrm>
          <a:prstGeom prst="rect">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37376" y="1655064"/>
            <a:ext cx="486460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Weaknesses</a:t>
            </a:r>
          </a:p>
        </p:txBody>
      </p:sp>
      <p:sp>
        <p:nvSpPr>
          <p:cNvPr id="13" name="TextBox 12"/>
          <p:cNvSpPr txBox="1"/>
          <p:nvPr/>
        </p:nvSpPr>
        <p:spPr>
          <a:xfrm>
            <a:off x="6437376" y="2020824"/>
            <a:ext cx="4864608" cy="1673352"/>
          </a:xfrm>
          <a:prstGeom prst="rect">
            <a:avLst/>
          </a:prstGeom>
          <a:noFill/>
        </p:spPr>
        <p:txBody>
          <a:bodyPr wrap="square" lIns="0" tIns="0" rIns="0" bIns="0">
            <a:spAutoFit/>
          </a:bodyPr>
          <a:lstStyle/>
          <a:p>
            <a:pPr>
              <a:lnSpc>
                <a:spcPct val="108000"/>
              </a:lnSpc>
              <a:spcAft>
                <a:spcPts val="400"/>
              </a:spcAft>
            </a:pPr>
            <a:r>
              <a:rPr sz="1100" b="1" i="0">
                <a:solidFill>
                  <a:srgbClr val="1E7A7E"/>
                </a:solidFill>
                <a:latin typeface="Segoe UI"/>
              </a:rPr>
              <a:t>–  </a:t>
            </a:r>
            <a:r>
              <a:rPr sz="1100" b="0" i="0">
                <a:solidFill>
                  <a:srgbClr val="202A3A"/>
                </a:solidFill>
                <a:latin typeface="Segoe UI"/>
              </a:rPr>
              <a:t>Supabase &amp; ASP.NET are new skills for most (R1, R6)</a:t>
            </a:r>
          </a:p>
          <a:p>
            <a:pPr>
              <a:lnSpc>
                <a:spcPct val="108000"/>
              </a:lnSpc>
              <a:spcAft>
                <a:spcPts val="400"/>
              </a:spcAft>
            </a:pPr>
            <a:r>
              <a:rPr sz="1100" b="1" i="0">
                <a:solidFill>
                  <a:srgbClr val="1E7A7E"/>
                </a:solidFill>
                <a:latin typeface="Segoe UI"/>
              </a:rPr>
              <a:t>–  </a:t>
            </a:r>
            <a:r>
              <a:rPr sz="1100" b="0" i="0">
                <a:solidFill>
                  <a:srgbClr val="202A3A"/>
                </a:solidFill>
                <a:latin typeface="Segoe UI"/>
              </a:rPr>
              <a:t>Testing window is tight (R5)</a:t>
            </a:r>
          </a:p>
          <a:p>
            <a:pPr>
              <a:lnSpc>
                <a:spcPct val="108000"/>
              </a:lnSpc>
              <a:spcAft>
                <a:spcPts val="400"/>
              </a:spcAft>
            </a:pPr>
            <a:r>
              <a:rPr sz="1100" b="1" i="0">
                <a:solidFill>
                  <a:srgbClr val="1E7A7E"/>
                </a:solidFill>
                <a:latin typeface="Segoe UI"/>
              </a:rPr>
              <a:t>–  </a:t>
            </a:r>
            <a:r>
              <a:rPr sz="1100" b="0" i="0">
                <a:solidFill>
                  <a:srgbClr val="202A3A"/>
                </a:solidFill>
                <a:latin typeface="Segoe UI"/>
              </a:rPr>
              <a:t>Scope already trimmed once (bulk SMS)</a:t>
            </a:r>
          </a:p>
          <a:p>
            <a:pPr>
              <a:lnSpc>
                <a:spcPct val="108000"/>
              </a:lnSpc>
              <a:spcAft>
                <a:spcPts val="400"/>
              </a:spcAft>
            </a:pPr>
            <a:r>
              <a:rPr sz="1100" b="1" i="0">
                <a:solidFill>
                  <a:srgbClr val="1E7A7E"/>
                </a:solidFill>
                <a:latin typeface="Segoe UI"/>
              </a:rPr>
              <a:t>–  </a:t>
            </a:r>
            <a:r>
              <a:rPr sz="1100" b="0" i="0">
                <a:solidFill>
                  <a:srgbClr val="202A3A"/>
                </a:solidFill>
                <a:latin typeface="Segoe UI"/>
              </a:rPr>
              <a:t>Coordination &amp; GitHub gaps remain (R4, R8)</a:t>
            </a:r>
          </a:p>
        </p:txBody>
      </p:sp>
      <p:sp>
        <p:nvSpPr>
          <p:cNvPr id="14" name="Rounded Rectangle 13"/>
          <p:cNvSpPr/>
          <p:nvPr/>
        </p:nvSpPr>
        <p:spPr>
          <a:xfrm>
            <a:off x="640080" y="4041648"/>
            <a:ext cx="5303520" cy="23317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4041648"/>
            <a:ext cx="54864" cy="2331720"/>
          </a:xfrm>
          <a:prstGeom prst="rect">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4187952"/>
            <a:ext cx="486460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Opportunities</a:t>
            </a:r>
          </a:p>
        </p:txBody>
      </p:sp>
      <p:sp>
        <p:nvSpPr>
          <p:cNvPr id="17" name="TextBox 16"/>
          <p:cNvSpPr txBox="1"/>
          <p:nvPr/>
        </p:nvSpPr>
        <p:spPr>
          <a:xfrm>
            <a:off x="859536" y="4553712"/>
            <a:ext cx="4864608" cy="1673352"/>
          </a:xfrm>
          <a:prstGeom prst="rect">
            <a:avLst/>
          </a:prstGeom>
          <a:noFill/>
        </p:spPr>
        <p:txBody>
          <a:bodyPr wrap="square" lIns="0" tIns="0" rIns="0" bIns="0">
            <a:spAutoFit/>
          </a:bodyPr>
          <a:lstStyle/>
          <a:p>
            <a:pPr>
              <a:lnSpc>
                <a:spcPct val="108000"/>
              </a:lnSpc>
              <a:spcAft>
                <a:spcPts val="400"/>
              </a:spcAft>
            </a:pPr>
            <a:r>
              <a:rPr sz="1100" b="1" i="0">
                <a:solidFill>
                  <a:srgbClr val="1E7A7E"/>
                </a:solidFill>
                <a:latin typeface="Segoe UI"/>
              </a:rPr>
              <a:t>–  </a:t>
            </a:r>
            <a:r>
              <a:rPr sz="1100" b="0" i="0">
                <a:solidFill>
                  <a:srgbClr val="202A3A"/>
                </a:solidFill>
                <a:latin typeface="Segoe UI"/>
              </a:rPr>
              <a:t>Add back excluded features in a future phase</a:t>
            </a:r>
          </a:p>
          <a:p>
            <a:pPr>
              <a:lnSpc>
                <a:spcPct val="108000"/>
              </a:lnSpc>
              <a:spcAft>
                <a:spcPts val="400"/>
              </a:spcAft>
            </a:pPr>
            <a:r>
              <a:rPr sz="1100" b="1" i="0">
                <a:solidFill>
                  <a:srgbClr val="1E7A7E"/>
                </a:solidFill>
                <a:latin typeface="Segoe UI"/>
              </a:rPr>
              <a:t>–  </a:t>
            </a:r>
            <a:r>
              <a:rPr sz="1100" b="0" i="0">
                <a:solidFill>
                  <a:srgbClr val="202A3A"/>
                </a:solidFill>
                <a:latin typeface="Segoe UI"/>
              </a:rPr>
              <a:t>Achievements page doubles as marketing</a:t>
            </a:r>
          </a:p>
          <a:p>
            <a:pPr>
              <a:lnSpc>
                <a:spcPct val="108000"/>
              </a:lnSpc>
              <a:spcAft>
                <a:spcPts val="400"/>
              </a:spcAft>
            </a:pPr>
            <a:r>
              <a:rPr sz="1100" b="1" i="0">
                <a:solidFill>
                  <a:srgbClr val="1E7A7E"/>
                </a:solidFill>
                <a:latin typeface="Segoe UI"/>
              </a:rPr>
              <a:t>–  </a:t>
            </a:r>
            <a:r>
              <a:rPr sz="1100" b="0" i="0">
                <a:solidFill>
                  <a:srgbClr val="202A3A"/>
                </a:solidFill>
                <a:latin typeface="Segoe UI"/>
              </a:rPr>
              <a:t>Architecture is reusable for other schools</a:t>
            </a:r>
          </a:p>
          <a:p>
            <a:pPr>
              <a:lnSpc>
                <a:spcPct val="108000"/>
              </a:lnSpc>
              <a:spcAft>
                <a:spcPts val="400"/>
              </a:spcAft>
            </a:pPr>
            <a:r>
              <a:rPr sz="1100" b="1" i="0">
                <a:solidFill>
                  <a:srgbClr val="1E7A7E"/>
                </a:solidFill>
                <a:latin typeface="Segoe UI"/>
              </a:rPr>
              <a:t>–  </a:t>
            </a:r>
            <a:r>
              <a:rPr sz="1100" b="0" i="0">
                <a:solidFill>
                  <a:srgbClr val="202A3A"/>
                </a:solidFill>
                <a:latin typeface="Segoe UI"/>
              </a:rPr>
              <a:t>First-mover on digital registration locally</a:t>
            </a:r>
          </a:p>
        </p:txBody>
      </p:sp>
      <p:sp>
        <p:nvSpPr>
          <p:cNvPr id="18" name="Rounded Rectangle 17"/>
          <p:cNvSpPr/>
          <p:nvPr/>
        </p:nvSpPr>
        <p:spPr>
          <a:xfrm>
            <a:off x="6217920" y="4041648"/>
            <a:ext cx="5303520" cy="23317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4041648"/>
            <a:ext cx="54864" cy="2331720"/>
          </a:xfrm>
          <a:prstGeom prst="rect">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4187952"/>
            <a:ext cx="4864608" cy="365760"/>
          </a:xfrm>
          <a:prstGeom prst="rect">
            <a:avLst/>
          </a:prstGeom>
          <a:noFill/>
        </p:spPr>
        <p:txBody>
          <a:bodyPr wrap="square" lIns="0" tIns="0" rIns="0" bIns="0">
            <a:spAutoFit/>
          </a:bodyPr>
          <a:lstStyle/>
          <a:p>
            <a:pPr algn="l">
              <a:spcBef>
                <a:spcPts val="0"/>
              </a:spcBef>
              <a:spcAft>
                <a:spcPts val="400"/>
              </a:spcAft>
            </a:pPr>
            <a:r>
              <a:rPr sz="1350" b="1" i="0">
                <a:solidFill>
                  <a:srgbClr val="202A3A"/>
                </a:solidFill>
                <a:latin typeface="Segoe UI Semibold"/>
              </a:rPr>
              <a:t>Threats</a:t>
            </a:r>
          </a:p>
        </p:txBody>
      </p:sp>
      <p:sp>
        <p:nvSpPr>
          <p:cNvPr id="21" name="TextBox 20"/>
          <p:cNvSpPr txBox="1"/>
          <p:nvPr/>
        </p:nvSpPr>
        <p:spPr>
          <a:xfrm>
            <a:off x="6437376" y="4553712"/>
            <a:ext cx="4864608" cy="1673352"/>
          </a:xfrm>
          <a:prstGeom prst="rect">
            <a:avLst/>
          </a:prstGeom>
          <a:noFill/>
        </p:spPr>
        <p:txBody>
          <a:bodyPr wrap="square" lIns="0" tIns="0" rIns="0" bIns="0">
            <a:spAutoFit/>
          </a:bodyPr>
          <a:lstStyle/>
          <a:p>
            <a:pPr>
              <a:lnSpc>
                <a:spcPct val="108000"/>
              </a:lnSpc>
              <a:spcAft>
                <a:spcPts val="400"/>
              </a:spcAft>
            </a:pPr>
            <a:r>
              <a:rPr sz="1100" b="1" i="0">
                <a:solidFill>
                  <a:srgbClr val="1E7A7E"/>
                </a:solidFill>
                <a:latin typeface="Segoe UI"/>
              </a:rPr>
              <a:t>–  </a:t>
            </a:r>
            <a:r>
              <a:rPr sz="1100" b="0" i="0">
                <a:solidFill>
                  <a:srgbClr val="202A3A"/>
                </a:solidFill>
                <a:latin typeface="Segoe UI"/>
              </a:rPr>
              <a:t>Vendor lock-in / downtime risk on Supabase (R1)</a:t>
            </a:r>
          </a:p>
          <a:p>
            <a:pPr>
              <a:lnSpc>
                <a:spcPct val="108000"/>
              </a:lnSpc>
              <a:spcAft>
                <a:spcPts val="400"/>
              </a:spcAft>
            </a:pPr>
            <a:r>
              <a:rPr sz="1100" b="1" i="0">
                <a:solidFill>
                  <a:srgbClr val="1E7A7E"/>
                </a:solidFill>
                <a:latin typeface="Segoe UI"/>
              </a:rPr>
              <a:t>–  </a:t>
            </a:r>
            <a:r>
              <a:rPr sz="1100" b="0" i="0">
                <a:solidFill>
                  <a:srgbClr val="202A3A"/>
                </a:solidFill>
                <a:latin typeface="Segoe UI"/>
              </a:rPr>
              <a:t>Some parents may lack digital access</a:t>
            </a:r>
          </a:p>
          <a:p>
            <a:pPr>
              <a:lnSpc>
                <a:spcPct val="108000"/>
              </a:lnSpc>
              <a:spcAft>
                <a:spcPts val="400"/>
              </a:spcAft>
            </a:pPr>
            <a:r>
              <a:rPr sz="1100" b="1" i="0">
                <a:solidFill>
                  <a:srgbClr val="1E7A7E"/>
                </a:solidFill>
                <a:latin typeface="Segoe UI"/>
              </a:rPr>
              <a:t>–  </a:t>
            </a:r>
            <a:r>
              <a:rPr sz="1100" b="0" i="0">
                <a:solidFill>
                  <a:srgbClr val="202A3A"/>
                </a:solidFill>
                <a:latin typeface="Segoe UI"/>
              </a:rPr>
              <a:t>Timeline slippage could force more cuts (R10)</a:t>
            </a:r>
          </a:p>
          <a:p>
            <a:pPr>
              <a:lnSpc>
                <a:spcPct val="108000"/>
              </a:lnSpc>
              <a:spcAft>
                <a:spcPts val="400"/>
              </a:spcAft>
            </a:pPr>
            <a:r>
              <a:rPr sz="1100" b="1" i="0">
                <a:solidFill>
                  <a:srgbClr val="1E7A7E"/>
                </a:solidFill>
                <a:latin typeface="Segoe UI"/>
              </a:rPr>
              <a:t>–  </a:t>
            </a:r>
            <a:r>
              <a:rPr sz="1100" b="0" i="0">
                <a:solidFill>
                  <a:srgbClr val="202A3A"/>
                </a:solidFill>
                <a:latin typeface="Segoe UI"/>
              </a:rPr>
              <a:t>Real data brings real compliance duties (R13)</a:t>
            </a:r>
          </a:p>
          <a:p>
            <a:pPr>
              <a:lnSpc>
                <a:spcPct val="108000"/>
              </a:lnSpc>
              <a:spcAft>
                <a:spcPts val="400"/>
              </a:spcAft>
            </a:pPr>
            <a:r>
              <a:rPr sz="1100" b="1" i="0">
                <a:solidFill>
                  <a:srgbClr val="1E7A7E"/>
                </a:solidFill>
                <a:latin typeface="Segoe UI"/>
              </a:rPr>
              <a:t>–  </a:t>
            </a:r>
            <a:r>
              <a:rPr sz="1100" b="0" i="0">
                <a:solidFill>
                  <a:srgbClr val="202A3A"/>
                </a:solidFill>
                <a:latin typeface="Segoe UI"/>
              </a:rPr>
              <a:t>Connectivity dependency for school &amp; parents (R12)</a:t>
            </a:r>
          </a:p>
        </p:txBody>
      </p:sp>
      <p:sp>
        <p:nvSpPr>
          <p:cNvPr id="22" name="Rectangle 21"/>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err="1">
                <a:solidFill>
                  <a:srgbClr val="637182"/>
                </a:solidFill>
                <a:latin typeface="Segoe UI"/>
              </a:rPr>
              <a:t>Setshabelo</a:t>
            </a:r>
            <a:r>
              <a:rPr lang="en-US" sz="950" dirty="0">
                <a:solidFill>
                  <a:srgbClr val="637182"/>
                </a:solidFill>
                <a:latin typeface="Segoe UI"/>
              </a:rPr>
              <a:t> Admission System  |  SRS Presentation</a:t>
            </a:r>
          </a:p>
        </p:txBody>
      </p:sp>
      <p:sp>
        <p:nvSpPr>
          <p:cNvPr id="24" name="TextBox 23"/>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640080" y="1920240"/>
            <a:ext cx="1005840" cy="635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148840"/>
            <a:ext cx="10515600" cy="914400"/>
          </a:xfrm>
          <a:prstGeom prst="rect">
            <a:avLst/>
          </a:prstGeom>
          <a:noFill/>
        </p:spPr>
        <p:txBody>
          <a:bodyPr wrap="square" lIns="0" tIns="0" rIns="0" bIns="0">
            <a:spAutoFit/>
          </a:bodyPr>
          <a:lstStyle/>
          <a:p>
            <a:pPr algn="l">
              <a:spcBef>
                <a:spcPts val="0"/>
              </a:spcBef>
              <a:spcAft>
                <a:spcPts val="400"/>
              </a:spcAft>
            </a:pPr>
            <a:r>
              <a:rPr sz="4000" b="1" i="0">
                <a:solidFill>
                  <a:srgbClr val="FFFFFF"/>
                </a:solidFill>
                <a:latin typeface="Segoe UI Semibold"/>
              </a:rPr>
              <a:t>Thank You</a:t>
            </a:r>
          </a:p>
        </p:txBody>
      </p:sp>
      <p:sp>
        <p:nvSpPr>
          <p:cNvPr id="4" name="TextBox 3"/>
          <p:cNvSpPr txBox="1"/>
          <p:nvPr/>
        </p:nvSpPr>
        <p:spPr>
          <a:xfrm>
            <a:off x="640080" y="2926080"/>
            <a:ext cx="10058400" cy="548640"/>
          </a:xfrm>
          <a:prstGeom prst="rect">
            <a:avLst/>
          </a:prstGeom>
          <a:noFill/>
        </p:spPr>
        <p:txBody>
          <a:bodyPr wrap="square" lIns="0" tIns="0" rIns="0" bIns="0">
            <a:spAutoFit/>
          </a:bodyPr>
          <a:lstStyle/>
          <a:p>
            <a:pPr algn="l">
              <a:spcBef>
                <a:spcPts val="0"/>
              </a:spcBef>
              <a:spcAft>
                <a:spcPts val="400"/>
              </a:spcAft>
            </a:pPr>
            <a:r>
              <a:rPr sz="1700" b="0" i="0">
                <a:solidFill>
                  <a:srgbClr val="C9D6E4"/>
                </a:solidFill>
                <a:latin typeface="Segoe UI"/>
              </a:rPr>
              <a:t>Questions &amp; Discussion</a:t>
            </a:r>
          </a:p>
        </p:txBody>
      </p:sp>
      <p:sp>
        <p:nvSpPr>
          <p:cNvPr id="5" name="TextBox 4"/>
          <p:cNvSpPr txBox="1"/>
          <p:nvPr/>
        </p:nvSpPr>
        <p:spPr>
          <a:xfrm>
            <a:off x="640080" y="3977639"/>
            <a:ext cx="5120640" cy="2011680"/>
          </a:xfrm>
          <a:prstGeom prst="rect">
            <a:avLst/>
          </a:prstGeom>
          <a:noFill/>
        </p:spPr>
        <p:txBody>
          <a:bodyPr wrap="square" lIns="0" tIns="0" rIns="0" bIns="0">
            <a:spAutoFit/>
          </a:bodyPr>
          <a:lstStyle/>
          <a:p>
            <a:pPr algn="l">
              <a:spcBef>
                <a:spcPts val="0"/>
              </a:spcBef>
              <a:spcAft>
                <a:spcPts val="800"/>
              </a:spcAft>
            </a:pPr>
            <a:r>
              <a:rPr sz="1150" b="1" i="0" spc="150">
                <a:solidFill>
                  <a:srgbClr val="2FA4A9"/>
                </a:solidFill>
                <a:latin typeface="Segoe UI"/>
              </a:rPr>
              <a:t>GROUP 0 · SECRET DESIGN</a:t>
            </a:r>
          </a:p>
          <a:p>
            <a:pPr algn="l">
              <a:spcBef>
                <a:spcPts val="0"/>
              </a:spcBef>
              <a:spcAft>
                <a:spcPts val="400"/>
              </a:spcAft>
            </a:pPr>
            <a:r>
              <a:rPr sz="1300" b="0" i="0">
                <a:solidFill>
                  <a:srgbClr val="DDE6F0"/>
                </a:solidFill>
                <a:latin typeface="Segoe UI"/>
              </a:rPr>
              <a:t>Relebohile Thito</a:t>
            </a:r>
          </a:p>
          <a:p>
            <a:pPr algn="l">
              <a:spcBef>
                <a:spcPts val="0"/>
              </a:spcBef>
              <a:spcAft>
                <a:spcPts val="400"/>
              </a:spcAft>
            </a:pPr>
            <a:r>
              <a:rPr sz="1300" b="0" i="0">
                <a:solidFill>
                  <a:srgbClr val="DDE6F0"/>
                </a:solidFill>
                <a:latin typeface="Segoe UI"/>
              </a:rPr>
              <a:t>Lebohang Molise</a:t>
            </a:r>
          </a:p>
          <a:p>
            <a:pPr algn="l">
              <a:spcBef>
                <a:spcPts val="0"/>
              </a:spcBef>
              <a:spcAft>
                <a:spcPts val="400"/>
              </a:spcAft>
            </a:pPr>
            <a:r>
              <a:rPr sz="1300" b="0" i="0">
                <a:solidFill>
                  <a:srgbClr val="DDE6F0"/>
                </a:solidFill>
                <a:latin typeface="Segoe UI"/>
              </a:rPr>
              <a:t>Tshepo M Masimong</a:t>
            </a:r>
          </a:p>
          <a:p>
            <a:pPr algn="l">
              <a:spcBef>
                <a:spcPts val="0"/>
              </a:spcBef>
              <a:spcAft>
                <a:spcPts val="400"/>
              </a:spcAft>
            </a:pPr>
            <a:r>
              <a:rPr sz="1300" b="0" i="0">
                <a:solidFill>
                  <a:srgbClr val="DDE6F0"/>
                </a:solidFill>
                <a:latin typeface="Segoe UI"/>
              </a:rPr>
              <a:t>Lonwabo Sifumba</a:t>
            </a:r>
          </a:p>
          <a:p>
            <a:pPr algn="l">
              <a:spcBef>
                <a:spcPts val="0"/>
              </a:spcBef>
              <a:spcAft>
                <a:spcPts val="400"/>
              </a:spcAft>
            </a:pPr>
            <a:r>
              <a:rPr sz="1300" b="0" i="0">
                <a:solidFill>
                  <a:srgbClr val="DDE6F0"/>
                </a:solidFill>
                <a:latin typeface="Segoe UI"/>
              </a:rPr>
              <a:t>Andries M Matona</a:t>
            </a:r>
          </a:p>
          <a:p>
            <a:pPr algn="l">
              <a:spcBef>
                <a:spcPts val="0"/>
              </a:spcBef>
              <a:spcAft>
                <a:spcPts val="400"/>
              </a:spcAft>
            </a:pPr>
            <a:r>
              <a:rPr sz="1300" b="0" i="0">
                <a:solidFill>
                  <a:srgbClr val="DDE6F0"/>
                </a:solidFill>
                <a:latin typeface="Segoe UI"/>
              </a:rPr>
              <a:t>Njabulo R.A Mthethwa</a:t>
            </a:r>
          </a:p>
        </p:txBody>
      </p:sp>
      <p:sp>
        <p:nvSpPr>
          <p:cNvPr id="6" name="TextBox 5"/>
          <p:cNvSpPr txBox="1"/>
          <p:nvPr/>
        </p:nvSpPr>
        <p:spPr>
          <a:xfrm>
            <a:off x="5543550" y="3977639"/>
            <a:ext cx="5977890" cy="1172116"/>
          </a:xfrm>
          <a:prstGeom prst="rect">
            <a:avLst/>
          </a:prstGeom>
          <a:noFill/>
        </p:spPr>
        <p:txBody>
          <a:bodyPr wrap="square" lIns="0" tIns="0" rIns="0" bIns="0">
            <a:spAutoFit/>
          </a:bodyPr>
          <a:lstStyle/>
          <a:p>
            <a:pPr algn="l">
              <a:spcBef>
                <a:spcPts val="0"/>
              </a:spcBef>
              <a:spcAft>
                <a:spcPts val="800"/>
              </a:spcAft>
            </a:pPr>
            <a:r>
              <a:rPr sz="1150" b="1" i="0" spc="150" dirty="0">
                <a:solidFill>
                  <a:srgbClr val="2FA4A9"/>
                </a:solidFill>
                <a:latin typeface="Segoe UI"/>
              </a:rPr>
              <a:t>PROJECT EVIDENCE</a:t>
            </a:r>
          </a:p>
          <a:p>
            <a:pPr>
              <a:spcAft>
                <a:spcPts val="400"/>
              </a:spcAft>
            </a:pPr>
            <a:r>
              <a:rPr sz="1200" b="0" i="0" dirty="0">
                <a:solidFill>
                  <a:srgbClr val="DDE6F0"/>
                </a:solidFill>
                <a:latin typeface="Segoe UI"/>
              </a:rPr>
              <a:t>GitHub: </a:t>
            </a:r>
            <a:r>
              <a:rPr lang="en-ZA" sz="1200" u="sng" dirty="0">
                <a:solidFill>
                  <a:schemeClr val="accent1">
                    <a:lumMod val="40000"/>
                    <a:lumOff val="60000"/>
                  </a:schemeClr>
                </a:solidFill>
                <a:hlinkClick r:id="rId2">
                  <a:extLst>
                    <a:ext uri="{A12FA001-AC4F-418D-AE19-62706E023703}">
                      <ahyp:hlinkClr xmlns:ahyp="http://schemas.microsoft.com/office/drawing/2018/hyperlinkcolor" val="tx"/>
                    </a:ext>
                  </a:extLst>
                </a:hlinkClick>
              </a:rPr>
              <a:t>https://github.com/WIL-Project-Hub</a:t>
            </a:r>
            <a:endParaRPr sz="1200" b="0" i="0" dirty="0">
              <a:solidFill>
                <a:schemeClr val="accent1">
                  <a:lumMod val="40000"/>
                  <a:lumOff val="60000"/>
                </a:schemeClr>
              </a:solidFill>
              <a:latin typeface="Segoe UI"/>
            </a:endParaRPr>
          </a:p>
          <a:p>
            <a:pPr>
              <a:spcAft>
                <a:spcPts val="400"/>
              </a:spcAft>
            </a:pPr>
            <a:r>
              <a:rPr sz="1200" b="0" i="0" dirty="0" err="1">
                <a:solidFill>
                  <a:srgbClr val="DDE6F0"/>
                </a:solidFill>
                <a:latin typeface="Segoe UI"/>
              </a:rPr>
              <a:t>Supabase</a:t>
            </a:r>
            <a:r>
              <a:rPr sz="1200" b="0" i="0" dirty="0">
                <a:solidFill>
                  <a:srgbClr val="DDE6F0"/>
                </a:solidFill>
                <a:latin typeface="Segoe UI"/>
              </a:rPr>
              <a:t> project (backend)</a:t>
            </a:r>
            <a:r>
              <a:rPr lang="en-GB" sz="1200" b="0" i="0" dirty="0">
                <a:solidFill>
                  <a:srgbClr val="DDE6F0"/>
                </a:solidFill>
                <a:latin typeface="Segoe UI"/>
              </a:rPr>
              <a:t>: </a:t>
            </a:r>
            <a:r>
              <a:rPr lang="en-GB" sz="1200" u="sng" dirty="0">
                <a:solidFill>
                  <a:schemeClr val="accent1">
                    <a:lumMod val="40000"/>
                    <a:lumOff val="60000"/>
                  </a:schemeClr>
                </a:solidFill>
                <a:hlinkClick r:id="rId3">
                  <a:extLst>
                    <a:ext uri="{A12FA001-AC4F-418D-AE19-62706E023703}">
                      <ahyp:hlinkClr xmlns:ahyp="http://schemas.microsoft.com/office/drawing/2018/hyperlinkcolor" val="tx"/>
                    </a:ext>
                  </a:extLst>
                </a:hlinkClick>
              </a:rPr>
              <a:t>https://supabase.com/dashboard/project/hrkzdekzmqjiejjuwybh</a:t>
            </a:r>
            <a:endParaRPr sz="1200" b="0" i="0" dirty="0">
              <a:solidFill>
                <a:srgbClr val="DDE6F0"/>
              </a:solidFill>
              <a:latin typeface="Segoe UI"/>
            </a:endParaRPr>
          </a:p>
          <a:p>
            <a:pPr algn="l">
              <a:spcBef>
                <a:spcPts val="0"/>
              </a:spcBef>
              <a:spcAft>
                <a:spcPts val="400"/>
              </a:spcAft>
            </a:pPr>
            <a:r>
              <a:rPr sz="1200" b="0" i="0" dirty="0">
                <a:solidFill>
                  <a:srgbClr val="DDE6F0"/>
                </a:solidFill>
                <a:latin typeface="Segoe UI"/>
              </a:rPr>
              <a:t>Signed project charter &amp; WIL sponsor letter</a:t>
            </a:r>
          </a:p>
          <a:p>
            <a:pPr algn="l">
              <a:spcBef>
                <a:spcPts val="0"/>
              </a:spcBef>
              <a:spcAft>
                <a:spcPts val="400"/>
              </a:spcAft>
            </a:pPr>
            <a:r>
              <a:rPr sz="1200" b="0" i="0" dirty="0">
                <a:solidFill>
                  <a:srgbClr val="DDE6F0"/>
                </a:solidFill>
                <a:latin typeface="Segoe UI"/>
              </a:rPr>
              <a:t>Meeting notes &amp; diagrams on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3379</Words>
  <Application>Microsoft Office PowerPoint</Application>
  <PresentationFormat>Widescreen</PresentationFormat>
  <Paragraphs>467</Paragraphs>
  <Slides>26</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Molise Lebohang</cp:lastModifiedBy>
  <cp:revision>3</cp:revision>
  <dcterms:created xsi:type="dcterms:W3CDTF">2013-01-27T09:14:16Z</dcterms:created>
  <dcterms:modified xsi:type="dcterms:W3CDTF">2026-08-31T18:40:43Z</dcterms:modified>
  <cp:category/>
</cp:coreProperties>
</file>